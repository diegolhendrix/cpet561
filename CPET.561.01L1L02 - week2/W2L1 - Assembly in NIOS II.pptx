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81" r:id="rId3"/>
    <p:sldId id="271" r:id="rId4"/>
    <p:sldId id="272" r:id="rId5"/>
    <p:sldId id="276" r:id="rId6"/>
    <p:sldId id="275" r:id="rId7"/>
    <p:sldId id="277" r:id="rId8"/>
    <p:sldId id="258" r:id="rId9"/>
    <p:sldId id="274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9" r:id="rId23"/>
    <p:sldId id="278" r:id="rId24"/>
    <p:sldId id="280" r:id="rId25"/>
  </p:sldIdLst>
  <p:sldSz cx="9144000" cy="6858000" type="screen4x3"/>
  <p:notesSz cx="6858000" cy="90678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99" autoAdjust="0"/>
    <p:restoredTop sz="99432" autoAdjust="0"/>
  </p:normalViewPr>
  <p:slideViewPr>
    <p:cSldViewPr snapToGrid="0">
      <p:cViewPr varScale="1">
        <p:scale>
          <a:sx n="69" d="100"/>
          <a:sy n="69" d="100"/>
        </p:scale>
        <p:origin x="94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258" y="15543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741488"/>
            <a:ext cx="8229600" cy="9366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678112"/>
            <a:ext cx="8534400" cy="22748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00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20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671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1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37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2192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858963"/>
            <a:ext cx="4040188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192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58963"/>
            <a:ext cx="4041775" cy="42672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51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98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91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2413" cy="685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5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457201"/>
            <a:ext cx="8229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30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19202"/>
            <a:ext cx="8229600" cy="4952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00279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513026"/>
          </a:solidFill>
          <a:latin typeface="Georgia"/>
          <a:ea typeface="ＭＳ Ｐゴシック" pitchFamily="-65" charset="-128"/>
          <a:cs typeface="Georgia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  <a:cs typeface="Georgia" pitchFamily="18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513026"/>
          </a:solidFill>
          <a:latin typeface="Georgia" pitchFamily="-65" charset="0"/>
          <a:ea typeface="ＭＳ Ｐゴシック" pitchFamily="-65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b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1800" b="1" i="1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Arial"/>
          <a:ea typeface="ＭＳ Ｐゴシック" pitchFamily="-65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5969" y="469229"/>
            <a:ext cx="7406640" cy="2814376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Assembly Language in NIOS II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2115" y="3283605"/>
            <a:ext cx="7406640" cy="1752600"/>
          </a:xfrm>
        </p:spPr>
        <p:txBody>
          <a:bodyPr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Reminders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Assembly demo due Friday </a:t>
            </a:r>
          </a:p>
          <a:p>
            <a:r>
              <a:rPr lang="en-US" dirty="0" smtClean="0"/>
              <a:t>No quiz this week 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No lab due this week </a:t>
            </a:r>
          </a:p>
          <a:p>
            <a:pPr lvl="1"/>
            <a:r>
              <a:rPr lang="en-US" dirty="0" smtClean="0"/>
              <a:t>Get your boards if you haven't already done so</a:t>
            </a:r>
          </a:p>
          <a:p>
            <a:endParaRPr lang="en-US" dirty="0" smtClean="0"/>
          </a:p>
          <a:p>
            <a:r>
              <a:rPr lang="en-US" dirty="0" smtClean="0"/>
              <a:t>Lab 1 due next week at the beginning of your lab session </a:t>
            </a:r>
          </a:p>
          <a:p>
            <a:pPr lvl="1"/>
            <a:r>
              <a:rPr lang="en-US" dirty="0" smtClean="0"/>
              <a:t>See lab for late penalties </a:t>
            </a:r>
          </a:p>
          <a:p>
            <a:pPr lvl="1"/>
            <a:r>
              <a:rPr lang="en-US" dirty="0" smtClean="0"/>
              <a:t>Signoffs can be received in first 15 minutes of lab session or during office hours </a:t>
            </a:r>
          </a:p>
        </p:txBody>
      </p:sp>
    </p:spTree>
    <p:extLst>
      <p:ext uri="{BB962C8B-B14F-4D97-AF65-F5344CB8AC3E}">
        <p14:creationId xmlns:p14="http://schemas.microsoft.com/office/powerpoint/2010/main" val="3518067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Assembly Language?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Low-level programming language for a computer</a:t>
            </a:r>
          </a:p>
          <a:p>
            <a:r>
              <a:rPr lang="en-US" dirty="0" smtClean="0"/>
              <a:t>One-to-one correspondence with the machine instructions</a:t>
            </a:r>
          </a:p>
          <a:p>
            <a:r>
              <a:rPr lang="en-US" dirty="0" smtClean="0"/>
              <a:t>Specific to a given processor</a:t>
            </a:r>
          </a:p>
          <a:p>
            <a:r>
              <a:rPr lang="en-US" dirty="0" smtClean="0"/>
              <a:t>Uses:</a:t>
            </a:r>
          </a:p>
          <a:p>
            <a:pPr lvl="1"/>
            <a:r>
              <a:rPr lang="en-US" dirty="0" smtClean="0"/>
              <a:t>Mnemonics to represent the names of low-level machine instructions</a:t>
            </a:r>
          </a:p>
          <a:p>
            <a:pPr lvl="1"/>
            <a:r>
              <a:rPr lang="en-US" dirty="0" smtClean="0"/>
              <a:t>Labels to represent the names of variables or memory addresses</a:t>
            </a:r>
          </a:p>
          <a:p>
            <a:pPr lvl="1"/>
            <a:r>
              <a:rPr lang="en-US" dirty="0" smtClean="0"/>
              <a:t>Directives to define data and constants</a:t>
            </a:r>
          </a:p>
          <a:p>
            <a:pPr lvl="1"/>
            <a:r>
              <a:rPr lang="en-US" dirty="0" smtClean="0"/>
              <a:t>Macros to facilitate the inline expansion of text into other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110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 information to the assembler</a:t>
            </a:r>
          </a:p>
          <a:p>
            <a:pPr lvl="1"/>
            <a:r>
              <a:rPr lang="en-US" dirty="0" smtClean="0"/>
              <a:t>Do not correspond with an assembly language instruction or data</a:t>
            </a:r>
          </a:p>
          <a:p>
            <a:pPr lvl="1"/>
            <a:r>
              <a:rPr lang="en-US" dirty="0" smtClean="0"/>
              <a:t>Always begin with .</a:t>
            </a:r>
          </a:p>
          <a:p>
            <a:r>
              <a:rPr lang="en-US" dirty="0" smtClean="0"/>
              <a:t>Commonly used directives</a:t>
            </a:r>
          </a:p>
          <a:p>
            <a:pPr lvl="1"/>
            <a:r>
              <a:rPr lang="en-US" dirty="0" smtClean="0"/>
              <a:t>.</a:t>
            </a:r>
            <a:r>
              <a:rPr lang="en-US" dirty="0" err="1" smtClean="0"/>
              <a:t>ascii</a:t>
            </a:r>
            <a:r>
              <a:rPr lang="en-US" dirty="0" smtClean="0"/>
              <a:t> “</a:t>
            </a:r>
            <a:r>
              <a:rPr lang="en-US" i="1" dirty="0" smtClean="0"/>
              <a:t>string</a:t>
            </a:r>
            <a:r>
              <a:rPr lang="en-US" dirty="0" smtClean="0"/>
              <a:t>” </a:t>
            </a:r>
          </a:p>
          <a:p>
            <a:pPr lvl="2"/>
            <a:r>
              <a:rPr lang="en-US" dirty="0" smtClean="0"/>
              <a:t>A string of ASCII characters is loaded into consecutive byte addresses in the memory. Multiple strings, separated by commas can be specified</a:t>
            </a:r>
          </a:p>
          <a:p>
            <a:pPr lvl="1"/>
            <a:r>
              <a:rPr lang="en-US" dirty="0" smtClean="0"/>
              <a:t>.</a:t>
            </a:r>
            <a:r>
              <a:rPr lang="en-US" dirty="0" err="1" smtClean="0"/>
              <a:t>asciz</a:t>
            </a:r>
            <a:r>
              <a:rPr lang="en-US" dirty="0" smtClean="0"/>
              <a:t> </a:t>
            </a:r>
            <a:r>
              <a:rPr lang="en-US" i="1" dirty="0" smtClean="0"/>
              <a:t>“string”</a:t>
            </a:r>
          </a:p>
          <a:p>
            <a:pPr lvl="2"/>
            <a:r>
              <a:rPr lang="en-US" dirty="0" smtClean="0"/>
              <a:t>Same as .</a:t>
            </a:r>
            <a:r>
              <a:rPr lang="en-US" dirty="0" err="1" smtClean="0"/>
              <a:t>ascii</a:t>
            </a:r>
            <a:r>
              <a:rPr lang="en-US" dirty="0" smtClean="0"/>
              <a:t>, except that each string is terminated by a zero byte</a:t>
            </a:r>
          </a:p>
          <a:p>
            <a:pPr lvl="1"/>
            <a:r>
              <a:rPr lang="en-US" dirty="0" smtClean="0"/>
              <a:t>.data</a:t>
            </a:r>
          </a:p>
          <a:p>
            <a:pPr lvl="2"/>
            <a:r>
              <a:rPr lang="en-US" dirty="0" smtClean="0"/>
              <a:t>Identifies the data that should be placed in the data section of the memory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545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Commonly used directives</a:t>
            </a:r>
          </a:p>
          <a:p>
            <a:pPr lvl="1"/>
            <a:r>
              <a:rPr lang="en-US" dirty="0" smtClean="0"/>
              <a:t>.end</a:t>
            </a:r>
          </a:p>
          <a:p>
            <a:pPr lvl="2"/>
            <a:r>
              <a:rPr lang="en-US" dirty="0" smtClean="0"/>
              <a:t>Marks the end of the source code file</a:t>
            </a:r>
            <a:endParaRPr lang="en-US" dirty="0"/>
          </a:p>
          <a:p>
            <a:pPr lvl="1"/>
            <a:r>
              <a:rPr lang="en-US" dirty="0" smtClean="0"/>
              <a:t>.</a:t>
            </a:r>
            <a:r>
              <a:rPr lang="en-US" dirty="0" err="1" smtClean="0"/>
              <a:t>equ</a:t>
            </a:r>
            <a:r>
              <a:rPr lang="en-US" dirty="0" smtClean="0"/>
              <a:t> </a:t>
            </a:r>
            <a:r>
              <a:rPr lang="en-US" i="1" dirty="0" smtClean="0"/>
              <a:t>symbol, expression</a:t>
            </a:r>
          </a:p>
          <a:p>
            <a:pPr lvl="2"/>
            <a:r>
              <a:rPr lang="en-US" dirty="0" smtClean="0"/>
              <a:t>Sets the value of symbol to expression</a:t>
            </a:r>
          </a:p>
          <a:p>
            <a:pPr lvl="1"/>
            <a:r>
              <a:rPr lang="en-US" dirty="0" smtClean="0"/>
              <a:t>.global </a:t>
            </a:r>
            <a:r>
              <a:rPr lang="en-US" i="1" dirty="0" smtClean="0"/>
              <a:t>symbol</a:t>
            </a:r>
          </a:p>
          <a:p>
            <a:pPr lvl="2"/>
            <a:r>
              <a:rPr lang="en-US" dirty="0" smtClean="0"/>
              <a:t>Makes </a:t>
            </a:r>
            <a:r>
              <a:rPr lang="en-US" i="1" dirty="0" smtClean="0"/>
              <a:t>symbol</a:t>
            </a:r>
            <a:r>
              <a:rPr lang="en-US" dirty="0" smtClean="0"/>
              <a:t> visible outside the assembled object file</a:t>
            </a:r>
          </a:p>
          <a:p>
            <a:pPr lvl="1"/>
            <a:r>
              <a:rPr lang="en-US" dirty="0" smtClean="0"/>
              <a:t>.include </a:t>
            </a:r>
            <a:r>
              <a:rPr lang="en-US" i="1" dirty="0" smtClean="0"/>
              <a:t>“filename”</a:t>
            </a:r>
          </a:p>
          <a:p>
            <a:pPr lvl="2"/>
            <a:r>
              <a:rPr lang="en-US" dirty="0" smtClean="0"/>
              <a:t>Provides a mechanism for including supporting files in a source program</a:t>
            </a:r>
          </a:p>
          <a:p>
            <a:pPr lvl="1"/>
            <a:r>
              <a:rPr lang="en-US" dirty="0" smtClean="0"/>
              <a:t>.space </a:t>
            </a:r>
            <a:r>
              <a:rPr lang="en-US" i="1" dirty="0" smtClean="0"/>
              <a:t>size</a:t>
            </a:r>
          </a:p>
          <a:p>
            <a:pPr lvl="2"/>
            <a:r>
              <a:rPr lang="en-US" dirty="0" smtClean="0"/>
              <a:t>Allocates </a:t>
            </a:r>
            <a:r>
              <a:rPr lang="en-US" i="1" dirty="0" smtClean="0"/>
              <a:t>size </a:t>
            </a:r>
            <a:r>
              <a:rPr lang="en-US" dirty="0" smtClean="0"/>
              <a:t>bytes to be used for storage</a:t>
            </a:r>
          </a:p>
          <a:p>
            <a:pPr lvl="2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043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Commonly used directives</a:t>
            </a:r>
          </a:p>
          <a:p>
            <a:pPr lvl="1"/>
            <a:r>
              <a:rPr lang="en-US" dirty="0" smtClean="0"/>
              <a:t>.text</a:t>
            </a:r>
          </a:p>
          <a:p>
            <a:pPr lvl="2"/>
            <a:r>
              <a:rPr lang="en-US" dirty="0" smtClean="0"/>
              <a:t>Identifies the code that should be placed in the text section of memory</a:t>
            </a:r>
          </a:p>
          <a:p>
            <a:pPr lvl="1"/>
            <a:r>
              <a:rPr lang="en-US" dirty="0" smtClean="0"/>
              <a:t>.word </a:t>
            </a:r>
            <a:r>
              <a:rPr lang="en-US" i="1" dirty="0" smtClean="0"/>
              <a:t>expression</a:t>
            </a:r>
          </a:p>
          <a:p>
            <a:pPr lvl="2"/>
            <a:r>
              <a:rPr lang="en-US" dirty="0" smtClean="0"/>
              <a:t>Expressions separated by commas are specified. Each expression is assembled into a 32-bit number</a:t>
            </a:r>
          </a:p>
          <a:p>
            <a:pPr lvl="2"/>
            <a:r>
              <a:rPr lang="en-US" dirty="0" smtClean="0"/>
              <a:t>Similar </a:t>
            </a:r>
            <a:r>
              <a:rPr lang="en-US" b="1" dirty="0" smtClean="0"/>
              <a:t>.byte expression </a:t>
            </a:r>
            <a:r>
              <a:rPr lang="en-US" dirty="0" smtClean="0"/>
              <a:t>available </a:t>
            </a:r>
          </a:p>
        </p:txBody>
      </p:sp>
    </p:spTree>
    <p:extLst>
      <p:ext uri="{BB962C8B-B14F-4D97-AF65-F5344CB8AC3E}">
        <p14:creationId xmlns:p14="http://schemas.microsoft.com/office/powerpoint/2010/main" val="240139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Represents the memory address of the data or instruction marked with that label</a:t>
            </a:r>
          </a:p>
          <a:p>
            <a:pPr lvl="1"/>
            <a:r>
              <a:rPr lang="en-US" dirty="0" smtClean="0"/>
              <a:t>The assembler replaces each label with its memory address when generating the executable</a:t>
            </a:r>
          </a:p>
          <a:p>
            <a:pPr lvl="1"/>
            <a:r>
              <a:rPr lang="en-US" dirty="0" smtClean="0"/>
              <a:t>Must start at the beginning of the line with no leading spaces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Ex: </a:t>
            </a:r>
            <a:r>
              <a:rPr lang="en-US" dirty="0" smtClean="0"/>
              <a:t>	</a:t>
            </a:r>
            <a:r>
              <a:rPr lang="en-US" sz="1400" dirty="0" smtClean="0"/>
              <a:t>loop</a:t>
            </a:r>
            <a:r>
              <a:rPr lang="en-US" sz="1400" dirty="0"/>
              <a:t>: 	#read from r2 and store to r3</a:t>
            </a:r>
          </a:p>
          <a:p>
            <a:pPr marL="457200" lvl="1" indent="0">
              <a:buNone/>
            </a:pPr>
            <a:r>
              <a:rPr lang="en-US" sz="1400" dirty="0"/>
              <a:t>  </a:t>
            </a:r>
            <a:r>
              <a:rPr lang="en-US" sz="1400" dirty="0" smtClean="0"/>
              <a:t>				</a:t>
            </a:r>
            <a:r>
              <a:rPr lang="en-US" sz="1400" dirty="0" err="1" smtClean="0"/>
              <a:t>ldbio</a:t>
            </a:r>
            <a:r>
              <a:rPr lang="en-US" sz="1400" dirty="0" smtClean="0"/>
              <a:t> </a:t>
            </a:r>
            <a:r>
              <a:rPr lang="en-US" sz="1400" dirty="0"/>
              <a:t>r4, 0(r2)</a:t>
            </a:r>
          </a:p>
          <a:p>
            <a:pPr marL="457200" lvl="1" indent="0">
              <a:buNone/>
            </a:pPr>
            <a:r>
              <a:rPr lang="en-US" sz="1400" dirty="0"/>
              <a:t>  </a:t>
            </a:r>
            <a:r>
              <a:rPr lang="en-US" sz="1400" dirty="0" smtClean="0"/>
              <a:t>				</a:t>
            </a:r>
            <a:r>
              <a:rPr lang="en-US" sz="1400" dirty="0" err="1" smtClean="0"/>
              <a:t>stbio</a:t>
            </a:r>
            <a:r>
              <a:rPr lang="en-US" sz="1400" dirty="0" smtClean="0"/>
              <a:t> </a:t>
            </a:r>
            <a:r>
              <a:rPr lang="en-US" sz="1400" dirty="0"/>
              <a:t>r4, 0(r3)</a:t>
            </a:r>
          </a:p>
          <a:p>
            <a:pPr marL="457200" lvl="1" indent="0">
              <a:buNone/>
            </a:pPr>
            <a:r>
              <a:rPr lang="en-US" sz="1400" dirty="0"/>
              <a:t>  </a:t>
            </a:r>
            <a:r>
              <a:rPr lang="en-US" sz="1400" dirty="0" smtClean="0"/>
              <a:t>				</a:t>
            </a:r>
            <a:r>
              <a:rPr lang="en-US" sz="1400" dirty="0" err="1" smtClean="0"/>
              <a:t>br</a:t>
            </a:r>
            <a:r>
              <a:rPr lang="en-US" sz="1400" dirty="0" smtClean="0"/>
              <a:t>    loop</a:t>
            </a:r>
          </a:p>
          <a:p>
            <a:pPr lvl="1"/>
            <a:r>
              <a:rPr lang="en-US" dirty="0" smtClean="0"/>
              <a:t>When this code is assembled, the memory address of the </a:t>
            </a:r>
            <a:r>
              <a:rPr lang="en-US" dirty="0" err="1" smtClean="0"/>
              <a:t>ldbio</a:t>
            </a:r>
            <a:r>
              <a:rPr lang="en-US" dirty="0" smtClean="0"/>
              <a:t> instruction will be inserted in the </a:t>
            </a:r>
            <a:r>
              <a:rPr lang="en-US" dirty="0" err="1" smtClean="0"/>
              <a:t>br</a:t>
            </a:r>
            <a:r>
              <a:rPr lang="en-US" dirty="0" smtClean="0"/>
              <a:t> instruction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40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208" y="433426"/>
            <a:ext cx="7498080" cy="1143000"/>
          </a:xfrm>
        </p:spPr>
        <p:txBody>
          <a:bodyPr/>
          <a:lstStyle/>
          <a:p>
            <a:r>
              <a:rPr lang="en-US" dirty="0" smtClean="0"/>
              <a:t>Registers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566" y="1760264"/>
            <a:ext cx="7498080" cy="5253446"/>
          </a:xfrm>
        </p:spPr>
        <p:txBody>
          <a:bodyPr/>
          <a:lstStyle/>
          <a:p>
            <a:r>
              <a:rPr lang="en-US" dirty="0" smtClean="0"/>
              <a:t>NIOS II has 32 internal registers</a:t>
            </a:r>
          </a:p>
          <a:p>
            <a:pPr lvl="1"/>
            <a:r>
              <a:rPr lang="en-US" dirty="0" smtClean="0"/>
              <a:t>Registers hold a 32 bit value</a:t>
            </a:r>
          </a:p>
          <a:p>
            <a:pPr lvl="1"/>
            <a:r>
              <a:rPr lang="en-US" dirty="0" smtClean="0"/>
              <a:t>R0 always holds 0.  Writing to R0 has no effect.</a:t>
            </a:r>
          </a:p>
          <a:p>
            <a:pPr lvl="1"/>
            <a:r>
              <a:rPr lang="en-US" dirty="0" smtClean="0"/>
              <a:t>R1 is for the assembler – don’t use in programs</a:t>
            </a:r>
          </a:p>
          <a:p>
            <a:pPr lvl="1"/>
            <a:r>
              <a:rPr lang="en-US" dirty="0" smtClean="0"/>
              <a:t>Registers r24, r25, r27, r28, r29 and r30 all have special uses by the processor</a:t>
            </a:r>
          </a:p>
          <a:p>
            <a:pPr lvl="1"/>
            <a:r>
              <a:rPr lang="en-US" dirty="0" smtClean="0"/>
              <a:t>R31 holds the return address for subroutine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Registers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1100" y="1542925"/>
            <a:ext cx="6781800" cy="4305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0594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798" y="317951"/>
            <a:ext cx="7498080" cy="1143000"/>
          </a:xfrm>
        </p:spPr>
        <p:txBody>
          <a:bodyPr/>
          <a:lstStyle/>
          <a:p>
            <a:r>
              <a:rPr lang="en-US" dirty="0" smtClean="0"/>
              <a:t>Instruction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816" y="1410789"/>
            <a:ext cx="7498080" cy="5447211"/>
          </a:xfrm>
        </p:spPr>
        <p:txBody>
          <a:bodyPr/>
          <a:lstStyle/>
          <a:p>
            <a:r>
              <a:rPr lang="en-US" dirty="0" smtClean="0"/>
              <a:t>Approximately 100 instructions</a:t>
            </a:r>
          </a:p>
          <a:p>
            <a:r>
              <a:rPr lang="en-US" dirty="0" smtClean="0"/>
              <a:t>3 types</a:t>
            </a:r>
          </a:p>
          <a:p>
            <a:pPr lvl="1"/>
            <a:r>
              <a:rPr lang="en-US" dirty="0" smtClean="0"/>
              <a:t>R-type : uses 3 registers</a:t>
            </a:r>
          </a:p>
          <a:p>
            <a:pPr lvl="2"/>
            <a:r>
              <a:rPr lang="en-US" dirty="0"/>
              <a:t>a</a:t>
            </a:r>
            <a:r>
              <a:rPr lang="en-US" dirty="0" smtClean="0"/>
              <a:t>dd </a:t>
            </a:r>
            <a:r>
              <a:rPr lang="en-US" dirty="0" err="1" smtClean="0"/>
              <a:t>rC</a:t>
            </a:r>
            <a:r>
              <a:rPr lang="en-US" dirty="0" smtClean="0"/>
              <a:t>, </a:t>
            </a:r>
            <a:r>
              <a:rPr lang="en-US" dirty="0" err="1" smtClean="0"/>
              <a:t>rA</a:t>
            </a:r>
            <a:r>
              <a:rPr lang="en-US" dirty="0" smtClean="0"/>
              <a:t>, </a:t>
            </a:r>
            <a:r>
              <a:rPr lang="en-US" dirty="0" err="1" smtClean="0"/>
              <a:t>rB</a:t>
            </a:r>
            <a:r>
              <a:rPr lang="en-US" dirty="0" smtClean="0"/>
              <a:t>		</a:t>
            </a:r>
            <a:r>
              <a:rPr lang="en-US" dirty="0" err="1" smtClean="0"/>
              <a:t>rC</a:t>
            </a:r>
            <a:r>
              <a:rPr lang="en-US" dirty="0" smtClean="0"/>
              <a:t> &lt;= </a:t>
            </a:r>
            <a:r>
              <a:rPr lang="en-US" dirty="0" err="1" smtClean="0"/>
              <a:t>rA</a:t>
            </a:r>
            <a:r>
              <a:rPr lang="en-US" dirty="0" smtClean="0"/>
              <a:t> + </a:t>
            </a:r>
            <a:r>
              <a:rPr lang="en-US" dirty="0" err="1" smtClean="0"/>
              <a:t>rB</a:t>
            </a:r>
            <a:endParaRPr lang="en-US" dirty="0" smtClean="0"/>
          </a:p>
          <a:p>
            <a:pPr lvl="2"/>
            <a:r>
              <a:rPr lang="en-US" dirty="0"/>
              <a:t>s</a:t>
            </a:r>
            <a:r>
              <a:rPr lang="en-US" dirty="0" smtClean="0"/>
              <a:t>ub r2, r16, r15	r2 &lt;= r16 - r15</a:t>
            </a:r>
          </a:p>
          <a:p>
            <a:pPr lvl="2"/>
            <a:r>
              <a:rPr lang="en-US" dirty="0" err="1"/>
              <a:t>m</a:t>
            </a:r>
            <a:r>
              <a:rPr lang="en-US" dirty="0" err="1" smtClean="0"/>
              <a:t>ul</a:t>
            </a:r>
            <a:r>
              <a:rPr lang="en-US" dirty="0" smtClean="0"/>
              <a:t> r3, r5, r6		r3 &lt;= r5 * r6</a:t>
            </a:r>
          </a:p>
          <a:p>
            <a:pPr lvl="2"/>
            <a:r>
              <a:rPr lang="en-US" dirty="0"/>
              <a:t>d</a:t>
            </a:r>
            <a:r>
              <a:rPr lang="en-US" dirty="0" smtClean="0"/>
              <a:t>iv, and, or, nor, </a:t>
            </a:r>
            <a:r>
              <a:rPr lang="en-US" dirty="0" err="1" smtClean="0"/>
              <a:t>xor</a:t>
            </a:r>
            <a:r>
              <a:rPr lang="en-US" dirty="0" smtClean="0"/>
              <a:t>, etc….</a:t>
            </a:r>
          </a:p>
          <a:p>
            <a:pPr lvl="2">
              <a:buNone/>
            </a:pPr>
            <a:endParaRPr lang="en-US" sz="800" dirty="0" smtClean="0"/>
          </a:p>
          <a:p>
            <a:pPr lvl="2">
              <a:buNone/>
            </a:pPr>
            <a:endParaRPr lang="en-US" sz="800" dirty="0" smtClean="0"/>
          </a:p>
          <a:p>
            <a:pPr lvl="2">
              <a:buNone/>
            </a:pPr>
            <a:endParaRPr lang="en-US" sz="800" dirty="0" smtClean="0"/>
          </a:p>
          <a:p>
            <a:pPr lvl="2">
              <a:buNone/>
            </a:pPr>
            <a:endParaRPr lang="en-US" sz="800" dirty="0" smtClean="0"/>
          </a:p>
          <a:p>
            <a:pPr lvl="2">
              <a:buNone/>
            </a:pPr>
            <a:endParaRPr lang="en-US" sz="800" dirty="0" smtClean="0"/>
          </a:p>
          <a:p>
            <a:pPr>
              <a:buNone/>
            </a:pPr>
            <a:r>
              <a:rPr lang="en-US" sz="800" dirty="0" smtClean="0"/>
              <a:t>31                               27  26                                    22  21                                       17  16                                                        6   5                                       0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89770"/>
              </p:ext>
            </p:extLst>
          </p:nvPr>
        </p:nvGraphicFramePr>
        <p:xfrm>
          <a:off x="880438" y="5148804"/>
          <a:ext cx="694944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8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3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602" y="407119"/>
            <a:ext cx="7498080" cy="1143000"/>
          </a:xfrm>
        </p:spPr>
        <p:txBody>
          <a:bodyPr/>
          <a:lstStyle/>
          <a:p>
            <a:r>
              <a:rPr lang="en-US" dirty="0" smtClean="0"/>
              <a:t>Instruction Types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265" y="1655064"/>
            <a:ext cx="7498080" cy="5255623"/>
          </a:xfrm>
        </p:spPr>
        <p:txBody>
          <a:bodyPr/>
          <a:lstStyle/>
          <a:p>
            <a:pPr lvl="1"/>
            <a:r>
              <a:rPr lang="en-US" dirty="0" smtClean="0"/>
              <a:t>I-type : uses 2 registers and an </a:t>
            </a:r>
            <a:r>
              <a:rPr lang="en-US" b="1" dirty="0" smtClean="0"/>
              <a:t>immediate operand </a:t>
            </a:r>
            <a:endParaRPr lang="en-US" dirty="0" smtClean="0"/>
          </a:p>
          <a:p>
            <a:pPr lvl="2"/>
            <a:r>
              <a:rPr lang="en-US" dirty="0" smtClean="0"/>
              <a:t>Immediate operand is a 16 bit number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ddi</a:t>
            </a:r>
            <a:r>
              <a:rPr lang="en-US" dirty="0" smtClean="0"/>
              <a:t> </a:t>
            </a:r>
            <a:r>
              <a:rPr lang="en-US" dirty="0" err="1" smtClean="0"/>
              <a:t>rB</a:t>
            </a:r>
            <a:r>
              <a:rPr lang="en-US" dirty="0" smtClean="0"/>
              <a:t>, </a:t>
            </a:r>
            <a:r>
              <a:rPr lang="en-US" dirty="0" err="1" smtClean="0"/>
              <a:t>rA</a:t>
            </a:r>
            <a:r>
              <a:rPr lang="en-US" dirty="0" smtClean="0"/>
              <a:t>, IMMED16	  </a:t>
            </a:r>
            <a:r>
              <a:rPr lang="en-US" dirty="0" err="1" smtClean="0"/>
              <a:t>rB</a:t>
            </a:r>
            <a:r>
              <a:rPr lang="en-US" dirty="0" smtClean="0"/>
              <a:t> &lt;= </a:t>
            </a:r>
            <a:r>
              <a:rPr lang="en-US" dirty="0" err="1" smtClean="0"/>
              <a:t>rA</a:t>
            </a:r>
            <a:r>
              <a:rPr lang="en-US" dirty="0" smtClean="0"/>
              <a:t> + IMMED16</a:t>
            </a:r>
          </a:p>
          <a:p>
            <a:pPr lvl="2"/>
            <a:r>
              <a:rPr lang="en-US" dirty="0" err="1"/>
              <a:t>s</a:t>
            </a:r>
            <a:r>
              <a:rPr lang="en-US" dirty="0" err="1" smtClean="0"/>
              <a:t>ubi</a:t>
            </a:r>
            <a:r>
              <a:rPr lang="en-US" dirty="0" smtClean="0"/>
              <a:t> r2, r16, -4              r2 &lt;= r16 – (-4)</a:t>
            </a:r>
          </a:p>
          <a:p>
            <a:pPr lvl="2"/>
            <a:r>
              <a:rPr lang="en-US" dirty="0" err="1"/>
              <a:t>m</a:t>
            </a:r>
            <a:r>
              <a:rPr lang="en-US" dirty="0" err="1" smtClean="0"/>
              <a:t>uli</a:t>
            </a:r>
            <a:r>
              <a:rPr lang="en-US" dirty="0" smtClean="0"/>
              <a:t> r3, r4, 100		   r3 &lt;= r4 * 100</a:t>
            </a:r>
          </a:p>
          <a:p>
            <a:pPr lvl="2"/>
            <a:r>
              <a:rPr lang="en-US" dirty="0" err="1"/>
              <a:t>a</a:t>
            </a:r>
            <a:r>
              <a:rPr lang="en-US" dirty="0" err="1" smtClean="0"/>
              <a:t>ndi</a:t>
            </a:r>
            <a:r>
              <a:rPr lang="en-US" dirty="0" smtClean="0"/>
              <a:t>, </a:t>
            </a:r>
            <a:r>
              <a:rPr lang="en-US" dirty="0" err="1" smtClean="0"/>
              <a:t>ori</a:t>
            </a:r>
            <a:r>
              <a:rPr lang="en-US" dirty="0" smtClean="0"/>
              <a:t>, </a:t>
            </a:r>
            <a:r>
              <a:rPr lang="en-US" dirty="0" err="1" smtClean="0"/>
              <a:t>xori</a:t>
            </a:r>
            <a:r>
              <a:rPr lang="en-US" dirty="0" smtClean="0"/>
              <a:t>, etc…</a:t>
            </a:r>
          </a:p>
          <a:p>
            <a:pPr lvl="2"/>
            <a:r>
              <a:rPr lang="en-US" dirty="0" smtClean="0"/>
              <a:t>No </a:t>
            </a:r>
            <a:r>
              <a:rPr lang="en-US" dirty="0" err="1" smtClean="0"/>
              <a:t>divi</a:t>
            </a:r>
            <a:endParaRPr lang="en-US" dirty="0" smtClean="0"/>
          </a:p>
          <a:p>
            <a:pPr lvl="2"/>
            <a:endParaRPr lang="en-US" dirty="0" smtClean="0"/>
          </a:p>
          <a:p>
            <a:endParaRPr lang="en-US" sz="800" dirty="0" smtClean="0"/>
          </a:p>
          <a:p>
            <a:pPr>
              <a:buNone/>
            </a:pPr>
            <a:r>
              <a:rPr lang="en-US" sz="800" dirty="0" smtClean="0"/>
              <a:t>31                                27      26                                      22    21                                                                                         6      5                                        0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730873"/>
              </p:ext>
            </p:extLst>
          </p:nvPr>
        </p:nvGraphicFramePr>
        <p:xfrm>
          <a:off x="761144" y="4885867"/>
          <a:ext cx="692331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54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IMMED16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824" y="406978"/>
            <a:ext cx="7498080" cy="1143000"/>
          </a:xfrm>
        </p:spPr>
        <p:txBody>
          <a:bodyPr/>
          <a:lstStyle/>
          <a:p>
            <a:r>
              <a:rPr lang="en-US" dirty="0" smtClean="0"/>
              <a:t>Instruction Types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707" y="1475580"/>
            <a:ext cx="7498080" cy="5255623"/>
          </a:xfrm>
        </p:spPr>
        <p:txBody>
          <a:bodyPr>
            <a:normAutofit/>
          </a:bodyPr>
          <a:lstStyle/>
          <a:p>
            <a:r>
              <a:rPr lang="en-US" dirty="0" smtClean="0"/>
              <a:t>J-Type</a:t>
            </a:r>
          </a:p>
          <a:p>
            <a:pPr lvl="1"/>
            <a:r>
              <a:rPr lang="en-US" dirty="0" smtClean="0"/>
              <a:t>Does not use registers</a:t>
            </a:r>
          </a:p>
          <a:p>
            <a:pPr lvl="1"/>
            <a:r>
              <a:rPr lang="en-US" dirty="0" smtClean="0"/>
              <a:t>Has a 26 bit </a:t>
            </a:r>
            <a:r>
              <a:rPr lang="en-US" b="1" dirty="0" smtClean="0"/>
              <a:t>immediate operand</a:t>
            </a:r>
          </a:p>
          <a:p>
            <a:pPr lvl="1"/>
            <a:r>
              <a:rPr lang="en-US" dirty="0" smtClean="0"/>
              <a:t>Immediate operand is the address of a subroutine</a:t>
            </a:r>
          </a:p>
          <a:p>
            <a:pPr lvl="1"/>
            <a:r>
              <a:rPr lang="en-US" dirty="0" smtClean="0"/>
              <a:t>Only call instruction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all IMMED26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all $0231F0C4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all Subroutin2</a:t>
            </a:r>
            <a:endParaRPr lang="en-US" sz="800" dirty="0" smtClean="0"/>
          </a:p>
          <a:p>
            <a:pPr lvl="1"/>
            <a:endParaRPr lang="en-US" sz="800" dirty="0" smtClean="0"/>
          </a:p>
          <a:p>
            <a:pPr lvl="1">
              <a:buNone/>
            </a:pPr>
            <a:r>
              <a:rPr lang="en-US" sz="800" dirty="0" smtClean="0"/>
              <a:t>    31                                                                                                                                                           6       5                                     0</a:t>
            </a:r>
            <a:endParaRPr lang="en-US" sz="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02851"/>
              </p:ext>
            </p:extLst>
          </p:nvPr>
        </p:nvGraphicFramePr>
        <p:xfrm>
          <a:off x="1460575" y="4836782"/>
          <a:ext cx="6096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33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IMMED26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409652"/>
            <a:ext cx="7498080" cy="1143000"/>
          </a:xfrm>
        </p:spPr>
        <p:txBody>
          <a:bodyPr/>
          <a:lstStyle/>
          <a:p>
            <a:r>
              <a:rPr lang="en-US" dirty="0" smtClean="0"/>
              <a:t>Common Instructions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871" y="1628503"/>
            <a:ext cx="7498080" cy="5229497"/>
          </a:xfrm>
        </p:spPr>
        <p:txBody>
          <a:bodyPr>
            <a:normAutofit/>
          </a:bodyPr>
          <a:lstStyle/>
          <a:p>
            <a:r>
              <a:rPr lang="en-US" dirty="0" smtClean="0"/>
              <a:t>Arithmetic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dd, </a:t>
            </a:r>
            <a:r>
              <a:rPr lang="en-US" dirty="0" err="1" smtClean="0"/>
              <a:t>addi</a:t>
            </a:r>
            <a:endParaRPr lang="en-US" dirty="0" smtClean="0"/>
          </a:p>
          <a:p>
            <a:pPr lvl="1"/>
            <a:r>
              <a:rPr lang="en-US" dirty="0"/>
              <a:t>s</a:t>
            </a:r>
            <a:r>
              <a:rPr lang="en-US" dirty="0" smtClean="0"/>
              <a:t>ub, </a:t>
            </a:r>
            <a:r>
              <a:rPr lang="en-US" dirty="0" err="1" smtClean="0"/>
              <a:t>subi</a:t>
            </a:r>
            <a:endParaRPr lang="en-US" dirty="0" smtClean="0"/>
          </a:p>
          <a:p>
            <a:pPr lvl="1"/>
            <a:r>
              <a:rPr lang="en-US" dirty="0" err="1"/>
              <a:t>m</a:t>
            </a:r>
            <a:r>
              <a:rPr lang="en-US" dirty="0" err="1" smtClean="0"/>
              <a:t>ul</a:t>
            </a:r>
            <a:r>
              <a:rPr lang="en-US" dirty="0" smtClean="0"/>
              <a:t>, </a:t>
            </a:r>
            <a:r>
              <a:rPr lang="en-US" dirty="0" err="1" smtClean="0"/>
              <a:t>muli</a:t>
            </a:r>
            <a:endParaRPr lang="en-US" dirty="0" smtClean="0"/>
          </a:p>
          <a:p>
            <a:pPr lvl="1"/>
            <a:r>
              <a:rPr lang="en-US" dirty="0"/>
              <a:t>d</a:t>
            </a:r>
            <a:r>
              <a:rPr lang="en-US" dirty="0" smtClean="0"/>
              <a:t>iv, </a:t>
            </a:r>
            <a:r>
              <a:rPr lang="en-US" dirty="0" err="1" smtClean="0"/>
              <a:t>divu</a:t>
            </a:r>
            <a:r>
              <a:rPr lang="en-US" dirty="0" smtClean="0"/>
              <a:t> (divide unsigned)</a:t>
            </a:r>
          </a:p>
          <a:p>
            <a:r>
              <a:rPr lang="en-US" dirty="0" smtClean="0"/>
              <a:t>Logic</a:t>
            </a:r>
          </a:p>
          <a:p>
            <a:pPr lvl="1"/>
            <a:r>
              <a:rPr lang="en-US" dirty="0" smtClean="0"/>
              <a:t>Bitwise operations</a:t>
            </a:r>
          </a:p>
          <a:p>
            <a:pPr lvl="1"/>
            <a:r>
              <a:rPr lang="en-US" dirty="0"/>
              <a:t>a</a:t>
            </a:r>
            <a:r>
              <a:rPr lang="en-US" dirty="0" smtClean="0"/>
              <a:t>nd, </a:t>
            </a:r>
            <a:r>
              <a:rPr lang="en-US" dirty="0" err="1" smtClean="0"/>
              <a:t>andi</a:t>
            </a:r>
            <a:endParaRPr lang="en-US" dirty="0" smtClean="0"/>
          </a:p>
          <a:p>
            <a:pPr lvl="1"/>
            <a:r>
              <a:rPr lang="en-US" dirty="0"/>
              <a:t>o</a:t>
            </a:r>
            <a:r>
              <a:rPr lang="en-US" dirty="0" smtClean="0"/>
              <a:t>r, </a:t>
            </a:r>
            <a:r>
              <a:rPr lang="en-US" dirty="0" err="1" smtClean="0"/>
              <a:t>ori</a:t>
            </a:r>
            <a:endParaRPr lang="en-US" dirty="0" smtClean="0"/>
          </a:p>
          <a:p>
            <a:pPr lvl="1"/>
            <a:r>
              <a:rPr lang="en-US" dirty="0"/>
              <a:t>n</a:t>
            </a:r>
            <a:r>
              <a:rPr lang="en-US" dirty="0" smtClean="0"/>
              <a:t>or, </a:t>
            </a:r>
            <a:r>
              <a:rPr lang="en-US" dirty="0" err="1" smtClean="0"/>
              <a:t>nori</a:t>
            </a:r>
            <a:endParaRPr lang="en-US" dirty="0" smtClean="0"/>
          </a:p>
          <a:p>
            <a:pPr lvl="1"/>
            <a:r>
              <a:rPr lang="en-US" dirty="0" err="1"/>
              <a:t>x</a:t>
            </a:r>
            <a:r>
              <a:rPr lang="en-US" dirty="0" err="1" smtClean="0"/>
              <a:t>or</a:t>
            </a:r>
            <a:r>
              <a:rPr lang="en-US" dirty="0" smtClean="0"/>
              <a:t>, </a:t>
            </a:r>
            <a:r>
              <a:rPr lang="en-US" dirty="0" err="1" smtClean="0"/>
              <a:t>xori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4" y="456778"/>
            <a:ext cx="7498080" cy="1143000"/>
          </a:xfrm>
        </p:spPr>
        <p:txBody>
          <a:bodyPr/>
          <a:lstStyle/>
          <a:p>
            <a:r>
              <a:rPr lang="en-US" dirty="0" smtClean="0"/>
              <a:t>Common Instructions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037" y="1680754"/>
            <a:ext cx="7498080" cy="5177246"/>
          </a:xfrm>
        </p:spPr>
        <p:txBody>
          <a:bodyPr/>
          <a:lstStyle/>
          <a:p>
            <a:r>
              <a:rPr lang="en-US" dirty="0" smtClean="0"/>
              <a:t>Comparison</a:t>
            </a:r>
          </a:p>
          <a:p>
            <a:pPr lvl="1"/>
            <a:r>
              <a:rPr lang="en-US" dirty="0" err="1" smtClean="0"/>
              <a:t>cmpeq</a:t>
            </a:r>
            <a:r>
              <a:rPr lang="en-US" dirty="0" smtClean="0"/>
              <a:t> </a:t>
            </a:r>
            <a:r>
              <a:rPr lang="en-US" dirty="0" err="1" smtClean="0"/>
              <a:t>rC,rA,rB</a:t>
            </a:r>
            <a:r>
              <a:rPr lang="en-US" dirty="0" smtClean="0"/>
              <a:t>   // </a:t>
            </a:r>
            <a:r>
              <a:rPr lang="en-US" dirty="0" err="1" smtClean="0"/>
              <a:t>rC</a:t>
            </a:r>
            <a:r>
              <a:rPr lang="en-US" dirty="0" smtClean="0"/>
              <a:t> &lt;= 1 if </a:t>
            </a:r>
            <a:r>
              <a:rPr lang="en-US" dirty="0" err="1" smtClean="0"/>
              <a:t>rA</a:t>
            </a:r>
            <a:r>
              <a:rPr lang="en-US" dirty="0" smtClean="0"/>
              <a:t> = </a:t>
            </a:r>
            <a:r>
              <a:rPr lang="en-US" dirty="0" err="1" smtClean="0"/>
              <a:t>rB</a:t>
            </a:r>
            <a:endParaRPr lang="en-US" dirty="0" smtClean="0"/>
          </a:p>
          <a:p>
            <a:pPr lvl="1"/>
            <a:r>
              <a:rPr lang="en-US" dirty="0" err="1"/>
              <a:t>c</a:t>
            </a:r>
            <a:r>
              <a:rPr lang="en-US" dirty="0" err="1" smtClean="0"/>
              <a:t>mpne</a:t>
            </a:r>
            <a:r>
              <a:rPr lang="en-US" dirty="0" smtClean="0"/>
              <a:t> </a:t>
            </a:r>
            <a:r>
              <a:rPr lang="en-US" dirty="0" err="1" smtClean="0"/>
              <a:t>rC,rA,rB</a:t>
            </a:r>
            <a:r>
              <a:rPr lang="en-US" dirty="0" smtClean="0"/>
              <a:t>   // </a:t>
            </a:r>
            <a:r>
              <a:rPr lang="en-US" dirty="0" err="1" smtClean="0"/>
              <a:t>rC</a:t>
            </a:r>
            <a:r>
              <a:rPr lang="en-US" dirty="0" smtClean="0"/>
              <a:t> &lt;= 1 if </a:t>
            </a:r>
            <a:r>
              <a:rPr lang="en-US" dirty="0" err="1" smtClean="0"/>
              <a:t>rA</a:t>
            </a:r>
            <a:r>
              <a:rPr lang="en-US" dirty="0" smtClean="0"/>
              <a:t> != </a:t>
            </a:r>
            <a:r>
              <a:rPr lang="en-US" dirty="0" err="1" smtClean="0"/>
              <a:t>rB</a:t>
            </a:r>
            <a:endParaRPr lang="en-US" dirty="0" smtClean="0"/>
          </a:p>
          <a:p>
            <a:pPr lvl="1"/>
            <a:r>
              <a:rPr lang="en-US" dirty="0" err="1"/>
              <a:t>c</a:t>
            </a:r>
            <a:r>
              <a:rPr lang="en-US" dirty="0" err="1" smtClean="0"/>
              <a:t>mplt</a:t>
            </a:r>
            <a:r>
              <a:rPr lang="en-US" dirty="0" smtClean="0"/>
              <a:t> </a:t>
            </a:r>
            <a:r>
              <a:rPr lang="en-US" dirty="0" err="1" smtClean="0"/>
              <a:t>rC,rA,rB</a:t>
            </a:r>
            <a:r>
              <a:rPr lang="en-US" dirty="0" smtClean="0"/>
              <a:t>    // </a:t>
            </a:r>
            <a:r>
              <a:rPr lang="en-US" dirty="0" err="1" smtClean="0"/>
              <a:t>rC</a:t>
            </a:r>
            <a:r>
              <a:rPr lang="en-US" dirty="0" smtClean="0"/>
              <a:t> &lt;= 1 if </a:t>
            </a:r>
            <a:r>
              <a:rPr lang="en-US" dirty="0" err="1" smtClean="0"/>
              <a:t>rA</a:t>
            </a:r>
            <a:r>
              <a:rPr lang="en-US" dirty="0" smtClean="0"/>
              <a:t> &lt; </a:t>
            </a:r>
            <a:r>
              <a:rPr lang="en-US" dirty="0" err="1" smtClean="0"/>
              <a:t>rB</a:t>
            </a:r>
            <a:endParaRPr lang="en-US" dirty="0" smtClean="0"/>
          </a:p>
          <a:p>
            <a:pPr lvl="1"/>
            <a:r>
              <a:rPr lang="en-US" dirty="0" smtClean="0"/>
              <a:t>If comparison is not true, </a:t>
            </a:r>
            <a:r>
              <a:rPr lang="en-US" dirty="0" err="1" smtClean="0"/>
              <a:t>rC</a:t>
            </a:r>
            <a:r>
              <a:rPr lang="en-US" dirty="0" smtClean="0"/>
              <a:t> &lt;= 0</a:t>
            </a:r>
          </a:p>
          <a:p>
            <a:pPr lvl="1"/>
            <a:r>
              <a:rPr lang="en-US" dirty="0" smtClean="0"/>
              <a:t>Other options for unsigned comparisons</a:t>
            </a:r>
          </a:p>
          <a:p>
            <a:pPr lvl="1"/>
            <a:r>
              <a:rPr lang="en-US" dirty="0" smtClean="0"/>
              <a:t>Immediate comparisons also exist</a:t>
            </a:r>
          </a:p>
          <a:p>
            <a:pPr lvl="2"/>
            <a:r>
              <a:rPr lang="en-US" dirty="0" err="1"/>
              <a:t>c</a:t>
            </a:r>
            <a:r>
              <a:rPr lang="en-US" dirty="0" err="1" smtClean="0"/>
              <a:t>mpeqi</a:t>
            </a:r>
            <a:r>
              <a:rPr lang="en-US" dirty="0" smtClean="0"/>
              <a:t> rB,rA,IMMED16 //compares </a:t>
            </a:r>
            <a:r>
              <a:rPr lang="en-US" dirty="0" err="1" smtClean="0"/>
              <a:t>rA</a:t>
            </a:r>
            <a:r>
              <a:rPr lang="en-US" dirty="0" smtClean="0"/>
              <a:t> to constant</a:t>
            </a:r>
          </a:p>
          <a:p>
            <a:pPr lvl="2"/>
            <a:r>
              <a:rPr lang="en-US" dirty="0" err="1"/>
              <a:t>c</a:t>
            </a:r>
            <a:r>
              <a:rPr lang="en-US" dirty="0" err="1" smtClean="0"/>
              <a:t>mpnei</a:t>
            </a:r>
            <a:r>
              <a:rPr lang="en-US" dirty="0" smtClean="0"/>
              <a:t> </a:t>
            </a:r>
            <a:r>
              <a:rPr lang="en-US" dirty="0" err="1" smtClean="0"/>
              <a:t>rB</a:t>
            </a:r>
            <a:r>
              <a:rPr lang="en-US" dirty="0" smtClean="0"/>
              <a:t>, rA,IMMED16 </a:t>
            </a:r>
          </a:p>
          <a:p>
            <a:pPr lvl="2"/>
            <a:r>
              <a:rPr lang="en-US" dirty="0" smtClean="0"/>
              <a:t>Etc..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862" y="211015"/>
            <a:ext cx="7498080" cy="1143000"/>
          </a:xfrm>
        </p:spPr>
        <p:txBody>
          <a:bodyPr/>
          <a:lstStyle/>
          <a:p>
            <a:r>
              <a:rPr lang="en-US" dirty="0" smtClean="0"/>
              <a:t>Common Instructions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862" y="1221126"/>
            <a:ext cx="7498080" cy="5551714"/>
          </a:xfrm>
        </p:spPr>
        <p:txBody>
          <a:bodyPr>
            <a:normAutofit/>
          </a:bodyPr>
          <a:lstStyle/>
          <a:p>
            <a:r>
              <a:rPr lang="en-US" dirty="0" smtClean="0"/>
              <a:t>Shifts</a:t>
            </a:r>
          </a:p>
          <a:p>
            <a:pPr lvl="1"/>
            <a:r>
              <a:rPr lang="en-US" dirty="0" err="1"/>
              <a:t>s</a:t>
            </a:r>
            <a:r>
              <a:rPr lang="en-US" dirty="0" err="1" smtClean="0"/>
              <a:t>rl</a:t>
            </a:r>
            <a:r>
              <a:rPr lang="en-US" dirty="0" smtClean="0"/>
              <a:t> </a:t>
            </a:r>
            <a:r>
              <a:rPr lang="en-US" dirty="0" err="1" smtClean="0"/>
              <a:t>rC,rA,rB</a:t>
            </a:r>
            <a:r>
              <a:rPr lang="en-US" dirty="0" smtClean="0"/>
              <a:t>     </a:t>
            </a:r>
            <a:r>
              <a:rPr lang="en-US" dirty="0" err="1" smtClean="0"/>
              <a:t>rC</a:t>
            </a:r>
            <a:r>
              <a:rPr lang="en-US" dirty="0" smtClean="0"/>
              <a:t> &lt;= </a:t>
            </a:r>
            <a:r>
              <a:rPr lang="en-US" dirty="0" err="1" smtClean="0"/>
              <a:t>rA</a:t>
            </a:r>
            <a:r>
              <a:rPr lang="en-US" dirty="0" smtClean="0"/>
              <a:t> &gt;&gt; </a:t>
            </a:r>
            <a:r>
              <a:rPr lang="en-US" dirty="0" err="1" smtClean="0"/>
              <a:t>rB</a:t>
            </a:r>
            <a:endParaRPr lang="en-US" dirty="0" smtClean="0"/>
          </a:p>
          <a:p>
            <a:pPr lvl="1"/>
            <a:r>
              <a:rPr lang="en-US" dirty="0" err="1"/>
              <a:t>s</a:t>
            </a:r>
            <a:r>
              <a:rPr lang="en-US" dirty="0" err="1" smtClean="0"/>
              <a:t>rli</a:t>
            </a:r>
            <a:r>
              <a:rPr lang="en-US" dirty="0" smtClean="0"/>
              <a:t> rC,rA,IMMED5  </a:t>
            </a:r>
            <a:r>
              <a:rPr lang="en-US" dirty="0" err="1" smtClean="0"/>
              <a:t>rC</a:t>
            </a:r>
            <a:r>
              <a:rPr lang="en-US" dirty="0" smtClean="0"/>
              <a:t> &lt;= </a:t>
            </a:r>
            <a:r>
              <a:rPr lang="en-US" dirty="0" err="1" smtClean="0"/>
              <a:t>rA</a:t>
            </a:r>
            <a:r>
              <a:rPr lang="en-US" dirty="0" smtClean="0"/>
              <a:t> &gt;&gt; IMMED5</a:t>
            </a:r>
          </a:p>
          <a:p>
            <a:pPr lvl="1"/>
            <a:r>
              <a:rPr lang="en-US" dirty="0" err="1"/>
              <a:t>s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rC,rA,rB</a:t>
            </a:r>
            <a:r>
              <a:rPr lang="en-US" dirty="0" smtClean="0"/>
              <a:t>   </a:t>
            </a:r>
            <a:r>
              <a:rPr lang="en-US" dirty="0" err="1" smtClean="0"/>
              <a:t>rC</a:t>
            </a:r>
            <a:r>
              <a:rPr lang="en-US" dirty="0" smtClean="0"/>
              <a:t> &lt;= </a:t>
            </a:r>
            <a:r>
              <a:rPr lang="en-US" dirty="0" err="1" smtClean="0"/>
              <a:t>rA</a:t>
            </a:r>
            <a:r>
              <a:rPr lang="en-US" dirty="0" smtClean="0"/>
              <a:t> &gt;&gt; </a:t>
            </a:r>
            <a:r>
              <a:rPr lang="en-US" dirty="0" err="1" smtClean="0"/>
              <a:t>rB</a:t>
            </a:r>
            <a:endParaRPr lang="en-US" dirty="0" smtClean="0"/>
          </a:p>
          <a:p>
            <a:pPr lvl="1"/>
            <a:r>
              <a:rPr lang="en-US" dirty="0" err="1"/>
              <a:t>s</a:t>
            </a:r>
            <a:r>
              <a:rPr lang="en-US" dirty="0" err="1" smtClean="0"/>
              <a:t>rai</a:t>
            </a:r>
            <a:r>
              <a:rPr lang="en-US" dirty="0" smtClean="0"/>
              <a:t> rC,rA,IMMED5  </a:t>
            </a:r>
            <a:r>
              <a:rPr lang="en-US" dirty="0" err="1" smtClean="0"/>
              <a:t>rC</a:t>
            </a:r>
            <a:r>
              <a:rPr lang="en-US" dirty="0" smtClean="0"/>
              <a:t> &lt;= </a:t>
            </a:r>
            <a:r>
              <a:rPr lang="en-US" dirty="0" err="1" smtClean="0"/>
              <a:t>rA</a:t>
            </a:r>
            <a:r>
              <a:rPr lang="en-US" dirty="0" smtClean="0"/>
              <a:t> &gt;&gt; IMMED5</a:t>
            </a:r>
          </a:p>
          <a:p>
            <a:pPr lvl="1"/>
            <a:r>
              <a:rPr lang="en-US" dirty="0" smtClean="0"/>
              <a:t>Logical shifts fills vacated bits with 0’s</a:t>
            </a:r>
          </a:p>
          <a:p>
            <a:pPr lvl="1"/>
            <a:r>
              <a:rPr lang="en-US" dirty="0" smtClean="0"/>
              <a:t>Arithmetic shifts extend the sign bit on the left</a:t>
            </a:r>
          </a:p>
          <a:p>
            <a:r>
              <a:rPr lang="en-US" dirty="0" smtClean="0"/>
              <a:t>Rotates</a:t>
            </a:r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or</a:t>
            </a:r>
            <a:r>
              <a:rPr lang="en-US" dirty="0" smtClean="0"/>
              <a:t> </a:t>
            </a:r>
            <a:r>
              <a:rPr lang="en-US" dirty="0" err="1" smtClean="0"/>
              <a:t>rC,rA,rB</a:t>
            </a:r>
            <a:r>
              <a:rPr lang="en-US" dirty="0" smtClean="0"/>
              <a:t> </a:t>
            </a:r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ol</a:t>
            </a:r>
            <a:r>
              <a:rPr lang="en-US" dirty="0" smtClean="0"/>
              <a:t> </a:t>
            </a:r>
            <a:r>
              <a:rPr lang="en-US" dirty="0" err="1" smtClean="0"/>
              <a:t>rC,rA,rB</a:t>
            </a:r>
            <a:endParaRPr lang="en-US" dirty="0" smtClean="0"/>
          </a:p>
          <a:p>
            <a:pPr lvl="1"/>
            <a:r>
              <a:rPr lang="en-US" dirty="0" err="1"/>
              <a:t>r</a:t>
            </a:r>
            <a:r>
              <a:rPr lang="en-US" dirty="0" err="1" smtClean="0"/>
              <a:t>oli</a:t>
            </a:r>
            <a:r>
              <a:rPr lang="en-US" dirty="0" smtClean="0"/>
              <a:t> rC,rA,IMMED5</a:t>
            </a:r>
          </a:p>
          <a:p>
            <a:pPr lvl="1"/>
            <a:r>
              <a:rPr lang="en-US" dirty="0" smtClean="0"/>
              <a:t>Rotate differs from a shift in that the bits shifted out of one end are wrapped around to the other end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69" y="237393"/>
            <a:ext cx="7498080" cy="1143000"/>
          </a:xfrm>
        </p:spPr>
        <p:txBody>
          <a:bodyPr/>
          <a:lstStyle/>
          <a:p>
            <a:r>
              <a:rPr lang="en-US" dirty="0" smtClean="0"/>
              <a:t>Common Instructions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8069" y="1306286"/>
            <a:ext cx="7498080" cy="5551714"/>
          </a:xfrm>
        </p:spPr>
        <p:txBody>
          <a:bodyPr/>
          <a:lstStyle/>
          <a:p>
            <a:r>
              <a:rPr lang="en-US" dirty="0" smtClean="0"/>
              <a:t>Unconditional Branch</a:t>
            </a:r>
          </a:p>
          <a:p>
            <a:pPr lvl="1"/>
            <a:r>
              <a:rPr lang="en-US" dirty="0" err="1"/>
              <a:t>b</a:t>
            </a:r>
            <a:r>
              <a:rPr lang="en-US" dirty="0" err="1" smtClean="0"/>
              <a:t>r</a:t>
            </a:r>
            <a:r>
              <a:rPr lang="en-US" dirty="0" smtClean="0"/>
              <a:t> LABEL</a:t>
            </a:r>
          </a:p>
          <a:p>
            <a:pPr lvl="1"/>
            <a:r>
              <a:rPr lang="en-US" dirty="0" smtClean="0"/>
              <a:t>I-type instruction. Immediate operand (16bits) is the offset from current program location to LABEL</a:t>
            </a:r>
          </a:p>
          <a:p>
            <a:r>
              <a:rPr lang="en-US" dirty="0" smtClean="0"/>
              <a:t>Conditional Branch</a:t>
            </a:r>
          </a:p>
          <a:p>
            <a:pPr lvl="1"/>
            <a:r>
              <a:rPr lang="en-US" dirty="0" err="1"/>
              <a:t>b</a:t>
            </a:r>
            <a:r>
              <a:rPr lang="en-US" dirty="0" err="1" smtClean="0"/>
              <a:t>lt</a:t>
            </a:r>
            <a:r>
              <a:rPr lang="en-US" dirty="0" smtClean="0"/>
              <a:t> </a:t>
            </a:r>
            <a:r>
              <a:rPr lang="en-US" dirty="0" err="1" smtClean="0"/>
              <a:t>rA,rB,LABEL</a:t>
            </a:r>
            <a:r>
              <a:rPr lang="en-US" dirty="0" smtClean="0"/>
              <a:t> //branches if </a:t>
            </a:r>
            <a:r>
              <a:rPr lang="en-US" dirty="0" err="1" smtClean="0"/>
              <a:t>rA</a:t>
            </a:r>
            <a:r>
              <a:rPr lang="en-US" dirty="0" smtClean="0"/>
              <a:t> &lt; </a:t>
            </a:r>
            <a:r>
              <a:rPr lang="en-US" dirty="0" err="1" smtClean="0"/>
              <a:t>rB</a:t>
            </a:r>
            <a:endParaRPr lang="en-US" dirty="0" smtClean="0"/>
          </a:p>
          <a:p>
            <a:pPr lvl="1"/>
            <a:r>
              <a:rPr lang="en-US" dirty="0" err="1"/>
              <a:t>b</a:t>
            </a:r>
            <a:r>
              <a:rPr lang="en-US" dirty="0" err="1" smtClean="0"/>
              <a:t>eq</a:t>
            </a:r>
            <a:r>
              <a:rPr lang="en-US" dirty="0" smtClean="0"/>
              <a:t> </a:t>
            </a:r>
            <a:r>
              <a:rPr lang="en-US" dirty="0" err="1" smtClean="0"/>
              <a:t>rA,rB,LABEL</a:t>
            </a:r>
            <a:r>
              <a:rPr lang="en-US" dirty="0" smtClean="0"/>
              <a:t>  //branches if </a:t>
            </a:r>
            <a:r>
              <a:rPr lang="en-US" dirty="0" err="1" smtClean="0"/>
              <a:t>rA</a:t>
            </a:r>
            <a:r>
              <a:rPr lang="en-US" dirty="0" smtClean="0"/>
              <a:t> = </a:t>
            </a:r>
            <a:r>
              <a:rPr lang="en-US" dirty="0" err="1" smtClean="0"/>
              <a:t>rB</a:t>
            </a:r>
            <a:endParaRPr lang="en-US" dirty="0" smtClean="0"/>
          </a:p>
          <a:p>
            <a:pPr lvl="1"/>
            <a:r>
              <a:rPr lang="en-US" dirty="0" smtClean="0"/>
              <a:t>Also unsigned comparison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90" y="312426"/>
            <a:ext cx="7498080" cy="1143000"/>
          </a:xfrm>
        </p:spPr>
        <p:txBody>
          <a:bodyPr/>
          <a:lstStyle/>
          <a:p>
            <a:r>
              <a:rPr lang="en-US" dirty="0" smtClean="0"/>
              <a:t>Memory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0527" y="1306286"/>
            <a:ext cx="7876903" cy="5111931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Read:	</a:t>
            </a:r>
            <a:r>
              <a:rPr lang="en-US" dirty="0" err="1" smtClean="0"/>
              <a:t>ldw</a:t>
            </a:r>
            <a:r>
              <a:rPr lang="en-US" dirty="0" smtClean="0"/>
              <a:t> r3, 4(r5)  </a:t>
            </a:r>
            <a:r>
              <a:rPr lang="en-US" sz="1800" dirty="0" smtClean="0"/>
              <a:t>//copies value from memory to r3</a:t>
            </a:r>
          </a:p>
          <a:p>
            <a:pPr>
              <a:buNone/>
            </a:pPr>
            <a:r>
              <a:rPr lang="en-US" dirty="0" smtClean="0"/>
              <a:t>Write: 	</a:t>
            </a:r>
            <a:r>
              <a:rPr lang="en-US" dirty="0" err="1" smtClean="0"/>
              <a:t>stw</a:t>
            </a:r>
            <a:r>
              <a:rPr lang="en-US" dirty="0" smtClean="0"/>
              <a:t> r3, 4(r5)  </a:t>
            </a:r>
            <a:r>
              <a:rPr lang="en-US" sz="1800" dirty="0" smtClean="0"/>
              <a:t>//copies r3 value to memory</a:t>
            </a:r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endParaRPr lang="en-US" sz="1800" dirty="0" smtClean="0"/>
          </a:p>
          <a:p>
            <a:pPr>
              <a:buNone/>
            </a:pPr>
            <a:r>
              <a:rPr lang="en-US" sz="2400" dirty="0" smtClean="0"/>
              <a:t>Ex:  If r5 contains the value 0x100, then the memory location accessed for both the </a:t>
            </a:r>
            <a:r>
              <a:rPr lang="en-US" sz="2400" dirty="0" err="1" smtClean="0"/>
              <a:t>ldw</a:t>
            </a:r>
            <a:r>
              <a:rPr lang="en-US" sz="2400" dirty="0" smtClean="0"/>
              <a:t> and </a:t>
            </a:r>
            <a:r>
              <a:rPr lang="en-US" sz="2400" dirty="0" err="1" smtClean="0"/>
              <a:t>stw</a:t>
            </a:r>
            <a:r>
              <a:rPr lang="en-US" sz="2400" dirty="0" smtClean="0"/>
              <a:t> would be 0x104.</a:t>
            </a:r>
            <a:endParaRPr lang="en-US" sz="2400" dirty="0"/>
          </a:p>
        </p:txBody>
      </p:sp>
      <p:cxnSp>
        <p:nvCxnSpPr>
          <p:cNvPr id="5" name="Elbow Connector 4"/>
          <p:cNvCxnSpPr/>
          <p:nvPr/>
        </p:nvCxnSpPr>
        <p:spPr>
          <a:xfrm rot="5400000">
            <a:off x="3709851" y="2011680"/>
            <a:ext cx="731520" cy="1588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43100" y="405028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destination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rot="5400000" flipH="1" flipV="1">
            <a:off x="3651068" y="3716383"/>
            <a:ext cx="66620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68776" y="1181738"/>
            <a:ext cx="812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source</a:t>
            </a:r>
            <a:endParaRPr lang="en-US" dirty="0"/>
          </a:p>
        </p:txBody>
      </p:sp>
      <p:sp>
        <p:nvSpPr>
          <p:cNvPr id="10" name="Right Brace 9"/>
          <p:cNvSpPr/>
          <p:nvPr/>
        </p:nvSpPr>
        <p:spPr>
          <a:xfrm rot="5400000" flipV="1">
            <a:off x="3692442" y="3182393"/>
            <a:ext cx="313508" cy="66620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0" y="3515496"/>
            <a:ext cx="3611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Effective address: adds constant 4 to </a:t>
            </a:r>
          </a:p>
          <a:p>
            <a:r>
              <a:rPr lang="en-US" dirty="0" smtClean="0"/>
              <a:t>contents of r5 to form the address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239" y="281354"/>
            <a:ext cx="7498080" cy="1143000"/>
          </a:xfrm>
        </p:spPr>
        <p:txBody>
          <a:bodyPr/>
          <a:lstStyle/>
          <a:p>
            <a:r>
              <a:rPr lang="en-US" dirty="0" smtClean="0"/>
              <a:t>Load and 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4785" y="1333918"/>
            <a:ext cx="7498080" cy="5072743"/>
          </a:xfrm>
        </p:spPr>
        <p:txBody>
          <a:bodyPr>
            <a:normAutofit/>
          </a:bodyPr>
          <a:lstStyle/>
          <a:p>
            <a:r>
              <a:rPr lang="en-US" dirty="0" smtClean="0"/>
              <a:t>No </a:t>
            </a:r>
            <a:r>
              <a:rPr lang="en-US" dirty="0" err="1" smtClean="0"/>
              <a:t>ldi</a:t>
            </a:r>
            <a:r>
              <a:rPr lang="en-US" dirty="0" smtClean="0"/>
              <a:t> or </a:t>
            </a:r>
            <a:r>
              <a:rPr lang="en-US" dirty="0" err="1" smtClean="0"/>
              <a:t>sti</a:t>
            </a:r>
            <a:r>
              <a:rPr lang="en-US" dirty="0" smtClean="0"/>
              <a:t> (immediate load or store)</a:t>
            </a:r>
          </a:p>
          <a:p>
            <a:pPr lvl="1"/>
            <a:r>
              <a:rPr lang="en-US" dirty="0" smtClean="0"/>
              <a:t>How do you put 0x100 into r5?</a:t>
            </a:r>
          </a:p>
          <a:p>
            <a:pPr lvl="1"/>
            <a:r>
              <a:rPr lang="en-US" dirty="0" err="1" smtClean="0"/>
              <a:t>addi</a:t>
            </a:r>
            <a:r>
              <a:rPr lang="en-US" dirty="0" smtClean="0"/>
              <a:t> r5, r0, 0x100</a:t>
            </a:r>
          </a:p>
          <a:p>
            <a:r>
              <a:rPr lang="en-US" dirty="0" smtClean="0"/>
              <a:t>For memory access</a:t>
            </a:r>
          </a:p>
          <a:p>
            <a:pPr lvl="1"/>
            <a:r>
              <a:rPr lang="en-US" dirty="0" err="1"/>
              <a:t>l</a:t>
            </a:r>
            <a:r>
              <a:rPr lang="en-US" dirty="0" err="1" smtClean="0"/>
              <a:t>dw</a:t>
            </a:r>
            <a:r>
              <a:rPr lang="en-US" dirty="0" smtClean="0"/>
              <a:t>, </a:t>
            </a:r>
            <a:r>
              <a:rPr lang="en-US" dirty="0" err="1" smtClean="0"/>
              <a:t>stw</a:t>
            </a:r>
            <a:r>
              <a:rPr lang="en-US" dirty="0" smtClean="0"/>
              <a:t> : load and store word</a:t>
            </a:r>
          </a:p>
          <a:p>
            <a:pPr lvl="1"/>
            <a:r>
              <a:rPr lang="en-US" dirty="0" err="1" smtClean="0"/>
              <a:t>ldb</a:t>
            </a:r>
            <a:r>
              <a:rPr lang="en-US" dirty="0" smtClean="0"/>
              <a:t>, </a:t>
            </a:r>
            <a:r>
              <a:rPr lang="en-US" dirty="0" err="1" smtClean="0"/>
              <a:t>stb</a:t>
            </a:r>
            <a:r>
              <a:rPr lang="en-US" dirty="0" smtClean="0"/>
              <a:t>  : load and store byte</a:t>
            </a:r>
          </a:p>
          <a:p>
            <a:pPr lvl="1"/>
            <a:r>
              <a:rPr lang="en-US" dirty="0" err="1" smtClean="0"/>
              <a:t>ldh</a:t>
            </a:r>
            <a:r>
              <a:rPr lang="en-US" dirty="0" smtClean="0"/>
              <a:t>, </a:t>
            </a:r>
            <a:r>
              <a:rPr lang="en-US" dirty="0" err="1" smtClean="0"/>
              <a:t>sth</a:t>
            </a:r>
            <a:r>
              <a:rPr lang="en-US" dirty="0" smtClean="0"/>
              <a:t>  : load and store half word</a:t>
            </a:r>
          </a:p>
          <a:p>
            <a:r>
              <a:rPr lang="en-US" dirty="0" smtClean="0"/>
              <a:t>For memory mapped </a:t>
            </a:r>
            <a:r>
              <a:rPr lang="en-US" dirty="0" err="1" smtClean="0"/>
              <a:t>io</a:t>
            </a:r>
            <a:endParaRPr lang="en-US" dirty="0" smtClean="0"/>
          </a:p>
          <a:p>
            <a:pPr lvl="1"/>
            <a:r>
              <a:rPr lang="en-US" dirty="0" err="1"/>
              <a:t>l</a:t>
            </a:r>
            <a:r>
              <a:rPr lang="en-US" dirty="0" err="1" smtClean="0"/>
              <a:t>dwio</a:t>
            </a:r>
            <a:r>
              <a:rPr lang="en-US" dirty="0" smtClean="0"/>
              <a:t>, </a:t>
            </a:r>
            <a:r>
              <a:rPr lang="en-US" dirty="0" err="1" smtClean="0"/>
              <a:t>stwio</a:t>
            </a:r>
            <a:r>
              <a:rPr lang="en-US" dirty="0" smtClean="0"/>
              <a:t>, </a:t>
            </a:r>
            <a:r>
              <a:rPr lang="en-US" dirty="0" err="1" smtClean="0"/>
              <a:t>ldbio</a:t>
            </a:r>
            <a:r>
              <a:rPr lang="en-US" dirty="0" smtClean="0"/>
              <a:t>, </a:t>
            </a:r>
            <a:r>
              <a:rPr lang="en-US" dirty="0" err="1" smtClean="0"/>
              <a:t>stbio</a:t>
            </a:r>
            <a:r>
              <a:rPr lang="en-US" dirty="0" smtClean="0"/>
              <a:t>, ….</a:t>
            </a:r>
          </a:p>
          <a:p>
            <a:pPr lvl="1"/>
            <a:r>
              <a:rPr lang="en-US" dirty="0" smtClean="0"/>
              <a:t>Bypasses the cache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969" y="263347"/>
            <a:ext cx="7498080" cy="1143000"/>
          </a:xfrm>
        </p:spPr>
        <p:txBody>
          <a:bodyPr/>
          <a:lstStyle/>
          <a:p>
            <a:r>
              <a:rPr lang="en-US" dirty="0" smtClean="0"/>
              <a:t>Memory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762" y="1491256"/>
            <a:ext cx="7498080" cy="5203371"/>
          </a:xfrm>
        </p:spPr>
        <p:txBody>
          <a:bodyPr/>
          <a:lstStyle/>
          <a:p>
            <a:r>
              <a:rPr lang="en-US" dirty="0" smtClean="0"/>
              <a:t>Memory is organized in words</a:t>
            </a:r>
          </a:p>
          <a:p>
            <a:pPr lvl="1"/>
            <a:r>
              <a:rPr lang="en-US" dirty="0" smtClean="0"/>
              <a:t>32 bits or 4 bytes</a:t>
            </a:r>
          </a:p>
          <a:p>
            <a:pPr lvl="1"/>
            <a:r>
              <a:rPr lang="en-US" dirty="0" smtClean="0"/>
              <a:t>Each word has an address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8">
              <a:buNone/>
            </a:pPr>
            <a:r>
              <a:rPr lang="en-US" dirty="0" smtClean="0"/>
              <a:t>Why do the addresses jump by 4?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617326"/>
              </p:ext>
            </p:extLst>
          </p:nvPr>
        </p:nvGraphicFramePr>
        <p:xfrm>
          <a:off x="1073593" y="3124954"/>
          <a:ext cx="2603863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6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 bit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 bit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32 bit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    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    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0xFFFC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655" y="190195"/>
            <a:ext cx="7498080" cy="1143000"/>
          </a:xfrm>
        </p:spPr>
        <p:txBody>
          <a:bodyPr/>
          <a:lstStyle/>
          <a:p>
            <a:r>
              <a:rPr lang="en-US" dirty="0" smtClean="0"/>
              <a:t>Memory Structure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664" y="1458860"/>
            <a:ext cx="7498080" cy="5177246"/>
          </a:xfrm>
        </p:spPr>
        <p:txBody>
          <a:bodyPr/>
          <a:lstStyle/>
          <a:p>
            <a:r>
              <a:rPr lang="en-US" dirty="0" smtClean="0"/>
              <a:t>Because data is </a:t>
            </a:r>
            <a:r>
              <a:rPr lang="en-US" b="1" dirty="0" smtClean="0"/>
              <a:t>byte addressable </a:t>
            </a:r>
            <a:r>
              <a:rPr lang="en-US" dirty="0" smtClean="0"/>
              <a:t>memory effectively looks like this: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24408"/>
              </p:ext>
            </p:extLst>
          </p:nvPr>
        </p:nvGraphicFramePr>
        <p:xfrm>
          <a:off x="776804" y="2594603"/>
          <a:ext cx="2603863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6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bit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bit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 bit value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8 bit value</a:t>
                      </a:r>
                      <a:r>
                        <a:rPr lang="en-US" dirty="0" smtClean="0"/>
                        <a:t>     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      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0xFFFC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       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168" y="457201"/>
            <a:ext cx="8229600" cy="762000"/>
          </a:xfrm>
        </p:spPr>
        <p:txBody>
          <a:bodyPr/>
          <a:lstStyle/>
          <a:p>
            <a:r>
              <a:rPr lang="en-US" dirty="0" smtClean="0"/>
              <a:t>Memory Structure (</a:t>
            </a:r>
            <a:r>
              <a:rPr lang="en-US" dirty="0" err="1" smtClean="0"/>
              <a:t>con’t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86460" y="1270407"/>
            <a:ext cx="7498080" cy="5124994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Consider the following data: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It is stored like this: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904099"/>
              </p:ext>
            </p:extLst>
          </p:nvPr>
        </p:nvGraphicFramePr>
        <p:xfrm>
          <a:off x="1109124" y="1761715"/>
          <a:ext cx="3309256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0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84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0x12345678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0xABCDEF00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199699"/>
              </p:ext>
            </p:extLst>
          </p:nvPr>
        </p:nvGraphicFramePr>
        <p:xfrm>
          <a:off x="985229" y="3372307"/>
          <a:ext cx="3230880" cy="2590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07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Data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0x78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0x0005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0xEF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rot="10800000">
            <a:off x="4405317" y="2324143"/>
            <a:ext cx="6400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4400962" y="4161651"/>
            <a:ext cx="64008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4137528" y="3258139"/>
            <a:ext cx="1841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9089" y="2637652"/>
            <a:ext cx="2980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LSB has smallest address: </a:t>
            </a:r>
          </a:p>
          <a:p>
            <a:r>
              <a:rPr lang="en-US" dirty="0" smtClean="0"/>
              <a:t>called </a:t>
            </a:r>
            <a:r>
              <a:rPr lang="en-US" b="1" dirty="0" smtClean="0"/>
              <a:t>little </a:t>
            </a:r>
            <a:r>
              <a:rPr lang="en-US" b="1" dirty="0" err="1" smtClean="0"/>
              <a:t>endian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4418380" y="4599192"/>
            <a:ext cx="45063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value is put into r3 with the following</a:t>
            </a:r>
          </a:p>
          <a:p>
            <a:r>
              <a:rPr lang="en-US" dirty="0"/>
              <a:t>i</a:t>
            </a:r>
            <a:r>
              <a:rPr lang="en-US" dirty="0" smtClean="0"/>
              <a:t>nstruction, assuming r5 contains 0x0001?</a:t>
            </a:r>
          </a:p>
          <a:p>
            <a:endParaRPr lang="en-US" dirty="0" smtClean="0"/>
          </a:p>
          <a:p>
            <a:r>
              <a:rPr lang="en-US" dirty="0" err="1" smtClean="0"/>
              <a:t>ldw</a:t>
            </a:r>
            <a:r>
              <a:rPr lang="en-US" dirty="0" smtClean="0"/>
              <a:t> r3, 2(r5)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code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64179"/>
            <a:ext cx="8229600" cy="40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3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Subroutines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Similar to a function call in C</a:t>
            </a:r>
          </a:p>
          <a:p>
            <a:r>
              <a:rPr lang="en-US" dirty="0" smtClean="0"/>
              <a:t>Execution leaves the main program and jumps to a code segment that performs a specific function</a:t>
            </a:r>
          </a:p>
          <a:p>
            <a:r>
              <a:rPr lang="en-US" dirty="0" smtClean="0"/>
              <a:t>Especially useful if there is a function that needs to be done several times in a program</a:t>
            </a:r>
          </a:p>
          <a:p>
            <a:r>
              <a:rPr lang="en-US" dirty="0" smtClean="0"/>
              <a:t>Must end with ret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229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Subroutine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5586" y="1219200"/>
            <a:ext cx="6552827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178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IT" id="{97C221C2-C4D1-4045-949D-729FDFABAAE9}" vid="{D6F8B45F-E2E7-43CA-9B29-0AE1C6552E0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RIT</Template>
  <TotalTime>5363</TotalTime>
  <Words>1257</Words>
  <Application>Microsoft Office PowerPoint</Application>
  <PresentationFormat>On-screen Show (4:3)</PresentationFormat>
  <Paragraphs>265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ＭＳ Ｐゴシック</vt:lpstr>
      <vt:lpstr>Arial</vt:lpstr>
      <vt:lpstr>Calibri</vt:lpstr>
      <vt:lpstr>Georgia</vt:lpstr>
      <vt:lpstr>RIT</vt:lpstr>
      <vt:lpstr>Assembly Language in NIOS II</vt:lpstr>
      <vt:lpstr>Reminders</vt:lpstr>
      <vt:lpstr>What is Assembly Language?</vt:lpstr>
      <vt:lpstr>Directives</vt:lpstr>
      <vt:lpstr>Directives</vt:lpstr>
      <vt:lpstr>Directives</vt:lpstr>
      <vt:lpstr>Labels</vt:lpstr>
      <vt:lpstr>Registers</vt:lpstr>
      <vt:lpstr>Registers</vt:lpstr>
      <vt:lpstr>Instruction Types</vt:lpstr>
      <vt:lpstr>Instruction Types (Con’t)</vt:lpstr>
      <vt:lpstr>Instruction Types (con’t)</vt:lpstr>
      <vt:lpstr>Common Instructions</vt:lpstr>
      <vt:lpstr>Common Instructions (con’t)</vt:lpstr>
      <vt:lpstr>Common Instructions (con’t)</vt:lpstr>
      <vt:lpstr>Common Instructions (con’t)</vt:lpstr>
      <vt:lpstr>Memory Access</vt:lpstr>
      <vt:lpstr>Load and Store</vt:lpstr>
      <vt:lpstr>Memory Structure</vt:lpstr>
      <vt:lpstr>Memory Structure (con’t)</vt:lpstr>
      <vt:lpstr>Memory Structure (con’t)</vt:lpstr>
      <vt:lpstr>Example code</vt:lpstr>
      <vt:lpstr>Subroutines</vt:lpstr>
      <vt:lpstr>Subroutine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 Architecture</dc:title>
  <dc:creator>Holly Dickens</dc:creator>
  <cp:lastModifiedBy>Holly Dickens</cp:lastModifiedBy>
  <cp:revision>315</cp:revision>
  <dcterms:created xsi:type="dcterms:W3CDTF">2006-08-16T00:00:00Z</dcterms:created>
  <dcterms:modified xsi:type="dcterms:W3CDTF">2024-09-03T00:19:08Z</dcterms:modified>
</cp:coreProperties>
</file>