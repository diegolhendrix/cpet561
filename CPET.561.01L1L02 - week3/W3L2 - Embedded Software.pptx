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7"/>
  </p:notesMasterIdLst>
  <p:handoutMasterIdLst>
    <p:handoutMasterId r:id="rId38"/>
  </p:handoutMasterIdLst>
  <p:sldIdLst>
    <p:sldId id="257" r:id="rId2"/>
    <p:sldId id="293" r:id="rId3"/>
    <p:sldId id="291" r:id="rId4"/>
    <p:sldId id="292" r:id="rId5"/>
    <p:sldId id="258" r:id="rId6"/>
    <p:sldId id="259" r:id="rId7"/>
    <p:sldId id="260" r:id="rId8"/>
    <p:sldId id="262" r:id="rId9"/>
    <p:sldId id="263" r:id="rId10"/>
    <p:sldId id="264" r:id="rId11"/>
    <p:sldId id="265" r:id="rId12"/>
    <p:sldId id="288" r:id="rId13"/>
    <p:sldId id="289"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x="9144000" cy="6858000" type="screen4x3"/>
  <p:notesSz cx="7315200" cy="9601200"/>
  <p:defaultTextStyle>
    <a:defPPr>
      <a:defRPr lang="en-US"/>
    </a:defPPr>
    <a:lvl1pPr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1pPr>
    <a:lvl2pPr marL="457200"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2pPr>
    <a:lvl3pPr marL="914400"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3pPr>
    <a:lvl4pPr marL="1371600"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4pPr>
    <a:lvl5pPr marL="1828800" algn="l" defTabSz="457200" rtl="0" fontAlgn="base">
      <a:spcBef>
        <a:spcPct val="0"/>
      </a:spcBef>
      <a:spcAft>
        <a:spcPct val="0"/>
      </a:spcAft>
      <a:defRPr kern="1200">
        <a:solidFill>
          <a:schemeClr val="tx1"/>
        </a:solidFill>
        <a:latin typeface="Arial" pitchFamily="34" charset="0"/>
        <a:ea typeface="ＭＳ Ｐゴシック"/>
        <a:cs typeface="ＭＳ Ｐゴシック"/>
      </a:defRPr>
    </a:lvl5pPr>
    <a:lvl6pPr marL="2286000" algn="l" defTabSz="914400" rtl="0" eaLnBrk="1" latinLnBrk="0" hangingPunct="1">
      <a:defRPr kern="1200">
        <a:solidFill>
          <a:schemeClr val="tx1"/>
        </a:solidFill>
        <a:latin typeface="Arial" pitchFamily="34" charset="0"/>
        <a:ea typeface="ＭＳ Ｐゴシック"/>
        <a:cs typeface="ＭＳ Ｐゴシック"/>
      </a:defRPr>
    </a:lvl6pPr>
    <a:lvl7pPr marL="2743200" algn="l" defTabSz="914400" rtl="0" eaLnBrk="1" latinLnBrk="0" hangingPunct="1">
      <a:defRPr kern="1200">
        <a:solidFill>
          <a:schemeClr val="tx1"/>
        </a:solidFill>
        <a:latin typeface="Arial" pitchFamily="34" charset="0"/>
        <a:ea typeface="ＭＳ Ｐゴシック"/>
        <a:cs typeface="ＭＳ Ｐゴシック"/>
      </a:defRPr>
    </a:lvl7pPr>
    <a:lvl8pPr marL="3200400" algn="l" defTabSz="914400" rtl="0" eaLnBrk="1" latinLnBrk="0" hangingPunct="1">
      <a:defRPr kern="1200">
        <a:solidFill>
          <a:schemeClr val="tx1"/>
        </a:solidFill>
        <a:latin typeface="Arial" pitchFamily="34" charset="0"/>
        <a:ea typeface="ＭＳ Ｐゴシック"/>
        <a:cs typeface="ＭＳ Ｐゴシック"/>
      </a:defRPr>
    </a:lvl8pPr>
    <a:lvl9pPr marL="3657600" algn="l" defTabSz="914400" rtl="0" eaLnBrk="1" latinLnBrk="0" hangingPunct="1">
      <a:defRPr kern="1200">
        <a:solidFill>
          <a:schemeClr val="tx1"/>
        </a:solidFill>
        <a:latin typeface="Arial" pitchFamily="34" charset="0"/>
        <a:ea typeface="ＭＳ Ｐゴシック"/>
        <a:cs typeface="ＭＳ Ｐゴシック"/>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6" autoAdjust="0"/>
    <p:restoredTop sz="94660"/>
  </p:normalViewPr>
  <p:slideViewPr>
    <p:cSldViewPr snapToGrid="0">
      <p:cViewPr varScale="1">
        <p:scale>
          <a:sx n="62" d="100"/>
          <a:sy n="62" d="100"/>
        </p:scale>
        <p:origin x="1290"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1440" tIns="45720" rIns="91440" bIns="45720" rtlCol="0"/>
          <a:lstStyle>
            <a:lvl1pPr algn="r">
              <a:defRPr sz="1200"/>
            </a:lvl1pPr>
          </a:lstStyle>
          <a:p>
            <a:fld id="{3B32960F-4E8D-4A88-ACA2-F578A7513DA9}" type="datetimeFigureOut">
              <a:rPr lang="en-US" smtClean="0"/>
              <a:t>9/4/2024</a:t>
            </a:fld>
            <a:endParaRPr lang="en-US"/>
          </a:p>
        </p:txBody>
      </p:sp>
      <p:sp>
        <p:nvSpPr>
          <p:cNvPr id="4" name="Footer Placeholder 3"/>
          <p:cNvSpPr>
            <a:spLocks noGrp="1"/>
          </p:cNvSpPr>
          <p:nvPr>
            <p:ph type="ftr" sz="quarter" idx="2"/>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8"/>
            <a:ext cx="3170238" cy="481012"/>
          </a:xfrm>
          <a:prstGeom prst="rect">
            <a:avLst/>
          </a:prstGeom>
        </p:spPr>
        <p:txBody>
          <a:bodyPr vert="horz" lIns="91440" tIns="45720" rIns="91440" bIns="45720" rtlCol="0" anchor="b"/>
          <a:lstStyle>
            <a:lvl1pPr algn="r">
              <a:defRPr sz="1200"/>
            </a:lvl1pPr>
          </a:lstStyle>
          <a:p>
            <a:fld id="{B40CF68F-A9B9-40AC-9617-5844CD240DA9}" type="slidenum">
              <a:rPr lang="en-US" smtClean="0"/>
              <a:t>‹#›</a:t>
            </a:fld>
            <a:endParaRPr lang="en-US"/>
          </a:p>
        </p:txBody>
      </p:sp>
    </p:spTree>
    <p:extLst>
      <p:ext uri="{BB962C8B-B14F-4D97-AF65-F5344CB8AC3E}">
        <p14:creationId xmlns:p14="http://schemas.microsoft.com/office/powerpoint/2010/main" val="15471680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A9CCAD48-20B3-4F0E-BE36-303D2C4AD7C1}" type="datetimeFigureOut">
              <a:rPr lang="en-US" smtClean="0"/>
              <a:t>9/4/2024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1DEC94E1-6C10-4C8C-88D8-516FDE988111}" type="slidenum">
              <a:rPr lang="en-US" smtClean="0"/>
              <a:t>‹#›</a:t>
            </a:fld>
            <a:endParaRPr lang="en-US"/>
          </a:p>
        </p:txBody>
      </p:sp>
    </p:spTree>
    <p:extLst>
      <p:ext uri="{BB962C8B-B14F-4D97-AF65-F5344CB8AC3E}">
        <p14:creationId xmlns:p14="http://schemas.microsoft.com/office/powerpoint/2010/main" val="761822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DEC94E1-6C10-4C8C-88D8-516FDE988111}" type="slidenum">
              <a:rPr lang="en-US" smtClean="0"/>
              <a:t>10</a:t>
            </a:fld>
            <a:endParaRPr lang="en-US"/>
          </a:p>
        </p:txBody>
      </p:sp>
    </p:spTree>
    <p:extLst>
      <p:ext uri="{BB962C8B-B14F-4D97-AF65-F5344CB8AC3E}">
        <p14:creationId xmlns:p14="http://schemas.microsoft.com/office/powerpoint/2010/main" val="1739284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B491F88-34A7-42A3-900E-675E90E1B5EC}" type="slidenum">
              <a:rPr lang="en-US" smtClean="0"/>
              <a:pPr>
                <a:defRPr/>
              </a:pPr>
              <a:t>11</a:t>
            </a:fld>
            <a:endParaRPr lang="en-US"/>
          </a:p>
        </p:txBody>
      </p:sp>
    </p:spTree>
    <p:extLst>
      <p:ext uri="{BB962C8B-B14F-4D97-AF65-F5344CB8AC3E}">
        <p14:creationId xmlns:p14="http://schemas.microsoft.com/office/powerpoint/2010/main" val="18171268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B491F88-34A7-42A3-900E-675E90E1B5EC}" type="slidenum">
              <a:rPr lang="en-US" smtClean="0"/>
              <a:pPr>
                <a:defRPr/>
              </a:pPr>
              <a:t>16</a:t>
            </a:fld>
            <a:endParaRPr lang="en-US"/>
          </a:p>
        </p:txBody>
      </p:sp>
    </p:spTree>
    <p:extLst>
      <p:ext uri="{BB962C8B-B14F-4D97-AF65-F5344CB8AC3E}">
        <p14:creationId xmlns:p14="http://schemas.microsoft.com/office/powerpoint/2010/main" val="25573714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B491F88-34A7-42A3-900E-675E90E1B5EC}" type="slidenum">
              <a:rPr lang="en-US" smtClean="0"/>
              <a:pPr>
                <a:defRPr/>
              </a:pPr>
              <a:t>17</a:t>
            </a:fld>
            <a:endParaRPr lang="en-US"/>
          </a:p>
        </p:txBody>
      </p:sp>
    </p:spTree>
    <p:extLst>
      <p:ext uri="{BB962C8B-B14F-4D97-AF65-F5344CB8AC3E}">
        <p14:creationId xmlns:p14="http://schemas.microsoft.com/office/powerpoint/2010/main" val="3093157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B491F88-34A7-42A3-900E-675E90E1B5EC}" type="slidenum">
              <a:rPr lang="en-US" smtClean="0"/>
              <a:pPr>
                <a:defRPr/>
              </a:pPr>
              <a:t>18</a:t>
            </a:fld>
            <a:endParaRPr lang="en-US"/>
          </a:p>
        </p:txBody>
      </p:sp>
    </p:spTree>
    <p:extLst>
      <p:ext uri="{BB962C8B-B14F-4D97-AF65-F5344CB8AC3E}">
        <p14:creationId xmlns:p14="http://schemas.microsoft.com/office/powerpoint/2010/main" val="39955121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B491F88-34A7-42A3-900E-675E90E1B5EC}" type="slidenum">
              <a:rPr lang="en-US" smtClean="0"/>
              <a:pPr>
                <a:defRPr/>
              </a:pPr>
              <a:t>20</a:t>
            </a:fld>
            <a:endParaRPr lang="en-US"/>
          </a:p>
        </p:txBody>
      </p:sp>
    </p:spTree>
    <p:extLst>
      <p:ext uri="{BB962C8B-B14F-4D97-AF65-F5344CB8AC3E}">
        <p14:creationId xmlns:p14="http://schemas.microsoft.com/office/powerpoint/2010/main" val="4755864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B491F88-34A7-42A3-900E-675E90E1B5EC}" type="slidenum">
              <a:rPr lang="en-US" smtClean="0"/>
              <a:pPr>
                <a:defRPr/>
              </a:pPr>
              <a:t>21</a:t>
            </a:fld>
            <a:endParaRPr lang="en-US"/>
          </a:p>
        </p:txBody>
      </p:sp>
    </p:spTree>
    <p:extLst>
      <p:ext uri="{BB962C8B-B14F-4D97-AF65-F5344CB8AC3E}">
        <p14:creationId xmlns:p14="http://schemas.microsoft.com/office/powerpoint/2010/main" val="3862061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Level 3: O3</a:t>
            </a:r>
            <a:r>
              <a:rPr lang="en-US" baseline="0" dirty="0" smtClean="0"/>
              <a:t> uses agrees </a:t>
            </a:r>
            <a:r>
              <a:rPr lang="en-US" baseline="0" dirty="0" err="1" smtClean="0"/>
              <a:t>inlining</a:t>
            </a:r>
            <a:r>
              <a:rPr lang="en-US" baseline="0" dirty="0" smtClean="0"/>
              <a:t> of subprograms and makes the program much larger</a:t>
            </a:r>
            <a:endParaRPr lang="en-US" dirty="0"/>
          </a:p>
        </p:txBody>
      </p:sp>
      <p:sp>
        <p:nvSpPr>
          <p:cNvPr id="4" name="Slide Number Placeholder 3"/>
          <p:cNvSpPr>
            <a:spLocks noGrp="1"/>
          </p:cNvSpPr>
          <p:nvPr>
            <p:ph type="sldNum" sz="quarter" idx="10"/>
          </p:nvPr>
        </p:nvSpPr>
        <p:spPr/>
        <p:txBody>
          <a:bodyPr/>
          <a:lstStyle/>
          <a:p>
            <a:pPr>
              <a:defRPr/>
            </a:pPr>
            <a:fld id="{1B491F88-34A7-42A3-900E-675E90E1B5EC}" type="slidenum">
              <a:rPr lang="en-US" smtClean="0"/>
              <a:pPr>
                <a:defRPr/>
              </a:pPr>
              <a:t>33</a:t>
            </a:fld>
            <a:endParaRPr lang="en-US"/>
          </a:p>
        </p:txBody>
      </p:sp>
    </p:spTree>
    <p:extLst>
      <p:ext uri="{BB962C8B-B14F-4D97-AF65-F5344CB8AC3E}">
        <p14:creationId xmlns:p14="http://schemas.microsoft.com/office/powerpoint/2010/main" val="2545643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741488"/>
            <a:ext cx="8229600" cy="936625"/>
          </a:xfrm>
        </p:spPr>
        <p:txBody>
          <a:bodyPr/>
          <a:lstStyle>
            <a:lvl1pPr algn="ctr">
              <a:defRPr/>
            </a:lvl1pPr>
          </a:lstStyle>
          <a:p>
            <a:r>
              <a:rPr lang="en-US" smtClean="0"/>
              <a:t>Click to edit Master title style</a:t>
            </a:r>
            <a:endParaRPr lang="en-US" dirty="0"/>
          </a:p>
        </p:txBody>
      </p:sp>
      <p:sp>
        <p:nvSpPr>
          <p:cNvPr id="3" name="Subtitle 2"/>
          <p:cNvSpPr>
            <a:spLocks noGrp="1"/>
          </p:cNvSpPr>
          <p:nvPr>
            <p:ph type="subTitle" idx="1"/>
          </p:nvPr>
        </p:nvSpPr>
        <p:spPr>
          <a:xfrm>
            <a:off x="304800" y="2678112"/>
            <a:ext cx="8534400" cy="2274888"/>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extLst>
      <p:ext uri="{BB962C8B-B14F-4D97-AF65-F5344CB8AC3E}">
        <p14:creationId xmlns:p14="http://schemas.microsoft.com/office/powerpoint/2010/main" val="23375096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7841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36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Tree>
    <p:extLst>
      <p:ext uri="{BB962C8B-B14F-4D97-AF65-F5344CB8AC3E}">
        <p14:creationId xmlns:p14="http://schemas.microsoft.com/office/powerpoint/2010/main" val="181418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7200" y="1219201"/>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219201"/>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15475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1" y="121920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457201" y="1858963"/>
            <a:ext cx="4040188" cy="426720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6" y="121920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5026" y="1858963"/>
            <a:ext cx="4041775" cy="426720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92929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38156678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871598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0" y="1"/>
            <a:ext cx="9142413" cy="685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5" name="Title Placeholder 1"/>
          <p:cNvSpPr>
            <a:spLocks noGrp="1"/>
          </p:cNvSpPr>
          <p:nvPr>
            <p:ph type="title"/>
          </p:nvPr>
        </p:nvSpPr>
        <p:spPr bwMode="auto">
          <a:xfrm>
            <a:off x="457200" y="457201"/>
            <a:ext cx="8229600" cy="762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endParaRPr lang="en-US" dirty="0" smtClean="0"/>
          </a:p>
        </p:txBody>
      </p:sp>
      <p:sp>
        <p:nvSpPr>
          <p:cNvPr id="3076" name="Text Placeholder 2"/>
          <p:cNvSpPr>
            <a:spLocks noGrp="1"/>
          </p:cNvSpPr>
          <p:nvPr>
            <p:ph type="body" idx="1"/>
          </p:nvPr>
        </p:nvSpPr>
        <p:spPr bwMode="auto">
          <a:xfrm>
            <a:off x="457200" y="1219202"/>
            <a:ext cx="8229600" cy="49529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Tree>
    <p:extLst>
      <p:ext uri="{BB962C8B-B14F-4D97-AF65-F5344CB8AC3E}">
        <p14:creationId xmlns:p14="http://schemas.microsoft.com/office/powerpoint/2010/main" val="263186231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Lst>
  <p:txStyles>
    <p:titleStyle>
      <a:lvl1pPr algn="l" defTabSz="457200" rtl="0" eaLnBrk="1" fontAlgn="base" hangingPunct="1">
        <a:spcBef>
          <a:spcPct val="0"/>
        </a:spcBef>
        <a:spcAft>
          <a:spcPct val="0"/>
        </a:spcAft>
        <a:defRPr sz="3600" kern="1200">
          <a:solidFill>
            <a:srgbClr val="513026"/>
          </a:solidFill>
          <a:latin typeface="Georgia"/>
          <a:ea typeface="ＭＳ Ｐゴシック" pitchFamily="-65" charset="-128"/>
          <a:cs typeface="Georgia"/>
        </a:defRPr>
      </a:lvl1pPr>
      <a:lvl2pPr algn="l" defTabSz="457200" rtl="0" eaLnBrk="1" fontAlgn="base" hangingPunct="1">
        <a:spcBef>
          <a:spcPct val="0"/>
        </a:spcBef>
        <a:spcAft>
          <a:spcPct val="0"/>
        </a:spcAft>
        <a:defRPr sz="4400">
          <a:solidFill>
            <a:srgbClr val="513026"/>
          </a:solidFill>
          <a:latin typeface="Georgia" pitchFamily="-65" charset="0"/>
          <a:ea typeface="ＭＳ Ｐゴシック" pitchFamily="-65" charset="-128"/>
          <a:cs typeface="Georgia" pitchFamily="18" charset="0"/>
        </a:defRPr>
      </a:lvl2pPr>
      <a:lvl3pPr algn="l" defTabSz="457200" rtl="0" eaLnBrk="1" fontAlgn="base" hangingPunct="1">
        <a:spcBef>
          <a:spcPct val="0"/>
        </a:spcBef>
        <a:spcAft>
          <a:spcPct val="0"/>
        </a:spcAft>
        <a:defRPr sz="4400">
          <a:solidFill>
            <a:srgbClr val="513026"/>
          </a:solidFill>
          <a:latin typeface="Georgia" pitchFamily="-65" charset="0"/>
          <a:ea typeface="ＭＳ Ｐゴシック" pitchFamily="-65" charset="-128"/>
          <a:cs typeface="Georgia" pitchFamily="18" charset="0"/>
        </a:defRPr>
      </a:lvl3pPr>
      <a:lvl4pPr algn="l" defTabSz="457200" rtl="0" eaLnBrk="1" fontAlgn="base" hangingPunct="1">
        <a:spcBef>
          <a:spcPct val="0"/>
        </a:spcBef>
        <a:spcAft>
          <a:spcPct val="0"/>
        </a:spcAft>
        <a:defRPr sz="4400">
          <a:solidFill>
            <a:srgbClr val="513026"/>
          </a:solidFill>
          <a:latin typeface="Georgia" pitchFamily="-65" charset="0"/>
          <a:ea typeface="ＭＳ Ｐゴシック" pitchFamily="-65" charset="-128"/>
          <a:cs typeface="Georgia" pitchFamily="18" charset="0"/>
        </a:defRPr>
      </a:lvl4pPr>
      <a:lvl5pPr algn="l" defTabSz="457200" rtl="0" eaLnBrk="1" fontAlgn="base" hangingPunct="1">
        <a:spcBef>
          <a:spcPct val="0"/>
        </a:spcBef>
        <a:spcAft>
          <a:spcPct val="0"/>
        </a:spcAft>
        <a:defRPr sz="4400">
          <a:solidFill>
            <a:srgbClr val="513026"/>
          </a:solidFill>
          <a:latin typeface="Georgia" pitchFamily="-65" charset="0"/>
          <a:ea typeface="ＭＳ Ｐゴシック" pitchFamily="-65" charset="-128"/>
          <a:cs typeface="Georgia" pitchFamily="18" charset="0"/>
        </a:defRPr>
      </a:lvl5pPr>
      <a:lvl6pPr marL="457200" algn="l" defTabSz="457200" rtl="0" eaLnBrk="1" fontAlgn="base" hangingPunct="1">
        <a:spcBef>
          <a:spcPct val="0"/>
        </a:spcBef>
        <a:spcAft>
          <a:spcPct val="0"/>
        </a:spcAft>
        <a:defRPr sz="4400">
          <a:solidFill>
            <a:srgbClr val="513026"/>
          </a:solidFill>
          <a:latin typeface="Georgia" pitchFamily="-65" charset="0"/>
          <a:ea typeface="ＭＳ Ｐゴシック" pitchFamily="-65" charset="-128"/>
        </a:defRPr>
      </a:lvl6pPr>
      <a:lvl7pPr marL="914400" algn="l" defTabSz="457200" rtl="0" eaLnBrk="1" fontAlgn="base" hangingPunct="1">
        <a:spcBef>
          <a:spcPct val="0"/>
        </a:spcBef>
        <a:spcAft>
          <a:spcPct val="0"/>
        </a:spcAft>
        <a:defRPr sz="4400">
          <a:solidFill>
            <a:srgbClr val="513026"/>
          </a:solidFill>
          <a:latin typeface="Georgia" pitchFamily="-65" charset="0"/>
          <a:ea typeface="ＭＳ Ｐゴシック" pitchFamily="-65" charset="-128"/>
        </a:defRPr>
      </a:lvl7pPr>
      <a:lvl8pPr marL="1371600" algn="l" defTabSz="457200" rtl="0" eaLnBrk="1" fontAlgn="base" hangingPunct="1">
        <a:spcBef>
          <a:spcPct val="0"/>
        </a:spcBef>
        <a:spcAft>
          <a:spcPct val="0"/>
        </a:spcAft>
        <a:defRPr sz="4400">
          <a:solidFill>
            <a:srgbClr val="513026"/>
          </a:solidFill>
          <a:latin typeface="Georgia" pitchFamily="-65" charset="0"/>
          <a:ea typeface="ＭＳ Ｐゴシック" pitchFamily="-65" charset="-128"/>
        </a:defRPr>
      </a:lvl8pPr>
      <a:lvl9pPr marL="1828800" algn="l" defTabSz="457200" rtl="0" eaLnBrk="1" fontAlgn="base" hangingPunct="1">
        <a:spcBef>
          <a:spcPct val="0"/>
        </a:spcBef>
        <a:spcAft>
          <a:spcPct val="0"/>
        </a:spcAft>
        <a:defRPr sz="4400">
          <a:solidFill>
            <a:srgbClr val="513026"/>
          </a:solidFill>
          <a:latin typeface="Georgia" pitchFamily="-65" charset="0"/>
          <a:ea typeface="ＭＳ Ｐゴシック" pitchFamily="-65" charset="-128"/>
        </a:defRPr>
      </a:lvl9pPr>
    </p:titleStyle>
    <p:bodyStyle>
      <a:lvl1pPr marL="342900" indent="-342900" algn="l" defTabSz="457200" rtl="0" eaLnBrk="1" fontAlgn="base" hangingPunct="1">
        <a:spcBef>
          <a:spcPct val="20000"/>
        </a:spcBef>
        <a:spcAft>
          <a:spcPct val="0"/>
        </a:spcAft>
        <a:buFont typeface="Arial" pitchFamily="34" charset="0"/>
        <a:buChar char="•"/>
        <a:defRPr sz="2800" kern="1200">
          <a:solidFill>
            <a:schemeClr val="tx1"/>
          </a:solidFill>
          <a:latin typeface="Arial"/>
          <a:ea typeface="ＭＳ Ｐゴシック" pitchFamily="-65" charset="-128"/>
          <a:cs typeface="Arial"/>
        </a:defRPr>
      </a:lvl1pPr>
      <a:lvl2pPr marL="742950" indent="-285750" algn="l" defTabSz="457200" rtl="0" eaLnBrk="1" fontAlgn="base" hangingPunct="1">
        <a:spcBef>
          <a:spcPct val="20000"/>
        </a:spcBef>
        <a:spcAft>
          <a:spcPct val="0"/>
        </a:spcAft>
        <a:buFont typeface="Arial" pitchFamily="34" charset="0"/>
        <a:buChar char="–"/>
        <a:defRPr sz="2000" b="1" kern="1200">
          <a:solidFill>
            <a:schemeClr val="tx1"/>
          </a:solidFill>
          <a:latin typeface="Arial"/>
          <a:ea typeface="ＭＳ Ｐゴシック" pitchFamily="-65" charset="-128"/>
          <a:cs typeface="Arial"/>
        </a:defRPr>
      </a:lvl2pPr>
      <a:lvl3pPr marL="1143000" indent="-228600" algn="l" defTabSz="457200" rtl="0" eaLnBrk="1" fontAlgn="base" hangingPunct="1">
        <a:spcBef>
          <a:spcPct val="20000"/>
        </a:spcBef>
        <a:spcAft>
          <a:spcPct val="0"/>
        </a:spcAft>
        <a:buFont typeface="Arial" pitchFamily="34" charset="0"/>
        <a:buChar char="•"/>
        <a:defRPr sz="2000" kern="1200">
          <a:solidFill>
            <a:schemeClr val="tx1"/>
          </a:solidFill>
          <a:latin typeface="Arial"/>
          <a:ea typeface="ＭＳ Ｐゴシック" pitchFamily="-65" charset="-128"/>
          <a:cs typeface="Arial"/>
        </a:defRPr>
      </a:lvl3pPr>
      <a:lvl4pPr marL="1600200" indent="-228600" algn="l" defTabSz="457200" rtl="0" eaLnBrk="1" fontAlgn="base" hangingPunct="1">
        <a:spcBef>
          <a:spcPct val="20000"/>
        </a:spcBef>
        <a:spcAft>
          <a:spcPct val="0"/>
        </a:spcAft>
        <a:buFont typeface="Arial" pitchFamily="34" charset="0"/>
        <a:buChar char="–"/>
        <a:defRPr sz="1800" b="1" i="1" kern="1200">
          <a:solidFill>
            <a:schemeClr val="tx1"/>
          </a:solidFill>
          <a:latin typeface="Arial"/>
          <a:ea typeface="ＭＳ Ｐゴシック" pitchFamily="-65" charset="-128"/>
          <a:cs typeface="Arial"/>
        </a:defRPr>
      </a:lvl4pPr>
      <a:lvl5pPr marL="2057400" indent="-228600" algn="l" defTabSz="457200" rtl="0" eaLnBrk="1" fontAlgn="base" hangingPunct="1">
        <a:spcBef>
          <a:spcPct val="20000"/>
        </a:spcBef>
        <a:spcAft>
          <a:spcPct val="0"/>
        </a:spcAft>
        <a:buFont typeface="Arial" pitchFamily="34" charset="0"/>
        <a:buChar char="»"/>
        <a:defRPr sz="1600" kern="1200">
          <a:solidFill>
            <a:schemeClr val="tx1"/>
          </a:solidFill>
          <a:latin typeface="Arial"/>
          <a:ea typeface="ＭＳ Ｐゴシック" pitchFamily="-65"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5.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7.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ctrTitle"/>
          </p:nvPr>
        </p:nvSpPr>
        <p:spPr>
          <a:noFill/>
        </p:spPr>
        <p:txBody>
          <a:bodyPr>
            <a:normAutofit/>
          </a:bodyPr>
          <a:lstStyle/>
          <a:p>
            <a:pPr eaLnBrk="1" hangingPunct="1"/>
            <a:r>
              <a:rPr lang="en-US" dirty="0" smtClean="0"/>
              <a:t>Embedded Software Design</a:t>
            </a:r>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74124163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Reminders	</a:t>
            </a:r>
            <a:endParaRPr lang="en-US" dirty="0"/>
          </a:p>
        </p:txBody>
      </p:sp>
      <p:sp>
        <p:nvSpPr>
          <p:cNvPr id="3" name="Content Placeholder 2"/>
          <p:cNvSpPr>
            <a:spLocks noGrp="1"/>
          </p:cNvSpPr>
          <p:nvPr>
            <p:ph idx="1"/>
          </p:nvPr>
        </p:nvSpPr>
        <p:spPr/>
        <p:txBody>
          <a:bodyPr/>
          <a:lstStyle/>
          <a:p>
            <a:r>
              <a:rPr lang="en-US" dirty="0" smtClean="0"/>
              <a:t>Quiz due Sunday by midnight</a:t>
            </a:r>
          </a:p>
          <a:p>
            <a:pPr lvl="1"/>
            <a:r>
              <a:rPr lang="en-US" dirty="0" smtClean="0"/>
              <a:t>Assembly, NIOSII, and Embedded SW</a:t>
            </a:r>
          </a:p>
          <a:p>
            <a:pPr lvl="1"/>
            <a:endParaRPr lang="en-US" dirty="0" smtClean="0"/>
          </a:p>
          <a:p>
            <a:r>
              <a:rPr lang="en-US" dirty="0">
                <a:solidFill>
                  <a:srgbClr val="FF0000"/>
                </a:solidFill>
              </a:rPr>
              <a:t>No demo this week on Friday – Class Cancelled</a:t>
            </a:r>
          </a:p>
          <a:p>
            <a:endParaRPr lang="en-US" dirty="0"/>
          </a:p>
          <a:p>
            <a:pPr lvl="1"/>
            <a:endParaRPr lang="en-US" dirty="0"/>
          </a:p>
          <a:p>
            <a:endParaRPr lang="en-US" dirty="0"/>
          </a:p>
          <a:p>
            <a:endParaRPr lang="en-US" dirty="0"/>
          </a:p>
          <a:p>
            <a:endParaRPr lang="en-US" dirty="0"/>
          </a:p>
        </p:txBody>
      </p:sp>
    </p:spTree>
    <p:extLst>
      <p:ext uri="{BB962C8B-B14F-4D97-AF65-F5344CB8AC3E}">
        <p14:creationId xmlns:p14="http://schemas.microsoft.com/office/powerpoint/2010/main" val="3556962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Follow Up</a:t>
            </a:r>
            <a:endParaRPr lang="en-US" dirty="0"/>
          </a:p>
        </p:txBody>
      </p:sp>
      <p:sp>
        <p:nvSpPr>
          <p:cNvPr id="3" name="Content Placeholder 2"/>
          <p:cNvSpPr>
            <a:spLocks noGrp="1"/>
          </p:cNvSpPr>
          <p:nvPr>
            <p:ph idx="1"/>
          </p:nvPr>
        </p:nvSpPr>
        <p:spPr/>
        <p:txBody>
          <a:bodyPr/>
          <a:lstStyle/>
          <a:p>
            <a:r>
              <a:rPr lang="en-US" dirty="0" smtClean="0"/>
              <a:t>Can we use the name of the register when executing instructions? </a:t>
            </a:r>
          </a:p>
          <a:p>
            <a:pPr lvl="1"/>
            <a:r>
              <a:rPr lang="en-US" dirty="0" smtClean="0"/>
              <a:t>Yes! Replace r0 reference with the word zero </a:t>
            </a:r>
          </a:p>
          <a:p>
            <a:pPr lvl="1"/>
            <a:r>
              <a:rPr lang="en-US" dirty="0" smtClean="0"/>
              <a:t>Step through assembly, works with no issues </a:t>
            </a:r>
          </a:p>
          <a:p>
            <a:pPr lvl="1"/>
            <a:endParaRPr lang="en-US" dirty="0"/>
          </a:p>
        </p:txBody>
      </p:sp>
      <p:pic>
        <p:nvPicPr>
          <p:cNvPr id="4" name="Picture 4"/>
          <p:cNvPicPr>
            <a:picLocks noChangeAspect="1" noChangeArrowheads="1"/>
          </p:cNvPicPr>
          <p:nvPr/>
        </p:nvPicPr>
        <p:blipFill>
          <a:blip r:embed="rId2" cstate="print"/>
          <a:srcRect/>
          <a:stretch>
            <a:fillRect/>
          </a:stretch>
        </p:blipFill>
        <p:spPr bwMode="auto">
          <a:xfrm>
            <a:off x="1884843" y="3001071"/>
            <a:ext cx="5107612" cy="3242662"/>
          </a:xfrm>
          <a:prstGeom prst="rect">
            <a:avLst/>
          </a:prstGeom>
          <a:noFill/>
          <a:ln w="9525">
            <a:noFill/>
            <a:miter lim="800000"/>
            <a:headEnd/>
            <a:tailEnd/>
          </a:ln>
          <a:effectLst/>
        </p:spPr>
      </p:pic>
    </p:spTree>
    <p:extLst>
      <p:ext uri="{BB962C8B-B14F-4D97-AF65-F5344CB8AC3E}">
        <p14:creationId xmlns:p14="http://schemas.microsoft.com/office/powerpoint/2010/main" val="33936203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Follow Up</a:t>
            </a:r>
          </a:p>
        </p:txBody>
      </p:sp>
      <p:sp>
        <p:nvSpPr>
          <p:cNvPr id="3" name="Content Placeholder 2"/>
          <p:cNvSpPr>
            <a:spLocks noGrp="1"/>
          </p:cNvSpPr>
          <p:nvPr>
            <p:ph idx="1"/>
          </p:nvPr>
        </p:nvSpPr>
        <p:spPr/>
        <p:txBody>
          <a:bodyPr/>
          <a:lstStyle/>
          <a:p>
            <a:r>
              <a:rPr lang="en-US" dirty="0"/>
              <a:t>How do we work with IMMED values larger than </a:t>
            </a:r>
            <a:r>
              <a:rPr lang="en-US" dirty="0" smtClean="0"/>
              <a:t>16 bits? </a:t>
            </a:r>
            <a:endParaRPr lang="en-US" dirty="0"/>
          </a:p>
          <a:p>
            <a:pPr lvl="1"/>
            <a:r>
              <a:rPr lang="en-US" dirty="0" smtClean="0"/>
              <a:t>Approach 1 –</a:t>
            </a:r>
          </a:p>
          <a:p>
            <a:pPr lvl="2"/>
            <a:r>
              <a:rPr lang="en-US" dirty="0" smtClean="0"/>
              <a:t>Register </a:t>
            </a:r>
            <a:r>
              <a:rPr lang="en-US" dirty="0"/>
              <a:t>instructions allow you to work with numbers larger than </a:t>
            </a:r>
            <a:r>
              <a:rPr lang="en-US" dirty="0" smtClean="0"/>
              <a:t>16 bits</a:t>
            </a:r>
            <a:endParaRPr lang="en-US" dirty="0"/>
          </a:p>
          <a:p>
            <a:pPr lvl="2"/>
            <a:r>
              <a:rPr lang="en-US" dirty="0"/>
              <a:t>Create a </a:t>
            </a:r>
            <a:r>
              <a:rPr lang="en-US" dirty="0" smtClean="0"/>
              <a:t>variable </a:t>
            </a:r>
            <a:r>
              <a:rPr lang="en-US" dirty="0"/>
              <a:t>with 32 bit number </a:t>
            </a:r>
          </a:p>
          <a:p>
            <a:pPr lvl="2"/>
            <a:r>
              <a:rPr lang="en-US" dirty="0"/>
              <a:t>Add that constant and r0 and store in another register </a:t>
            </a:r>
          </a:p>
          <a:p>
            <a:pPr lvl="2"/>
            <a:r>
              <a:rPr lang="en-US" dirty="0"/>
              <a:t>Now you may use 32 bit number for </a:t>
            </a:r>
            <a:r>
              <a:rPr lang="en-US" dirty="0" smtClean="0"/>
              <a:t>functions</a:t>
            </a:r>
          </a:p>
          <a:p>
            <a:pPr lvl="2"/>
            <a:endParaRPr lang="en-US" dirty="0" smtClean="0"/>
          </a:p>
          <a:p>
            <a:pPr lvl="1"/>
            <a:r>
              <a:rPr lang="en-US" dirty="0"/>
              <a:t>Approach</a:t>
            </a:r>
            <a:r>
              <a:rPr lang="en-US" dirty="0" smtClean="0"/>
              <a:t> 2: </a:t>
            </a:r>
          </a:p>
          <a:p>
            <a:pPr lvl="2"/>
            <a:r>
              <a:rPr lang="en-US" dirty="0" smtClean="0"/>
              <a:t>Use NIOSII macro instructions </a:t>
            </a:r>
          </a:p>
          <a:p>
            <a:pPr lvl="2"/>
            <a:r>
              <a:rPr lang="en-US" dirty="0" smtClean="0"/>
              <a:t>Could also be done manually</a:t>
            </a:r>
          </a:p>
          <a:p>
            <a:pPr lvl="3"/>
            <a:r>
              <a:rPr lang="en-US" dirty="0" smtClean="0"/>
              <a:t>Easy with binary and hex numbers</a:t>
            </a:r>
            <a:endParaRPr lang="en-US" dirty="0"/>
          </a:p>
        </p:txBody>
      </p:sp>
      <p:pic>
        <p:nvPicPr>
          <p:cNvPr id="4" name="Picture 3"/>
          <p:cNvPicPr>
            <a:picLocks noChangeAspect="1"/>
          </p:cNvPicPr>
          <p:nvPr/>
        </p:nvPicPr>
        <p:blipFill>
          <a:blip r:embed="rId2"/>
          <a:stretch>
            <a:fillRect/>
          </a:stretch>
        </p:blipFill>
        <p:spPr>
          <a:xfrm>
            <a:off x="5623098" y="4809203"/>
            <a:ext cx="3171825" cy="838200"/>
          </a:xfrm>
          <a:prstGeom prst="rect">
            <a:avLst/>
          </a:prstGeom>
        </p:spPr>
      </p:pic>
    </p:spTree>
    <p:extLst>
      <p:ext uri="{BB962C8B-B14F-4D97-AF65-F5344CB8AC3E}">
        <p14:creationId xmlns:p14="http://schemas.microsoft.com/office/powerpoint/2010/main" val="22719150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r>
              <a:rPr lang="en-US" dirty="0" smtClean="0"/>
              <a:t>Two Types of SW Development</a:t>
            </a:r>
          </a:p>
        </p:txBody>
      </p:sp>
      <p:sp>
        <p:nvSpPr>
          <p:cNvPr id="107523" name="Rectangle 3"/>
          <p:cNvSpPr>
            <a:spLocks noGrp="1" noChangeArrowheads="1"/>
          </p:cNvSpPr>
          <p:nvPr>
            <p:ph type="body" idx="1"/>
          </p:nvPr>
        </p:nvSpPr>
        <p:spPr/>
        <p:txBody>
          <a:bodyPr/>
          <a:lstStyle/>
          <a:p>
            <a:pPr eaLnBrk="1" hangingPunct="1"/>
            <a:r>
              <a:rPr lang="en-US" dirty="0" smtClean="0"/>
              <a:t>Desktop Software Development</a:t>
            </a:r>
          </a:p>
          <a:p>
            <a:pPr lvl="1" eaLnBrk="1" hangingPunct="1"/>
            <a:r>
              <a:rPr lang="en-US" dirty="0" smtClean="0"/>
              <a:t>Written and debugged on the same machine as target</a:t>
            </a:r>
          </a:p>
          <a:p>
            <a:pPr lvl="1" eaLnBrk="1" hangingPunct="1"/>
            <a:r>
              <a:rPr lang="en-US" dirty="0" smtClean="0"/>
              <a:t>OS loads programs </a:t>
            </a:r>
            <a:r>
              <a:rPr lang="en-US" dirty="0"/>
              <a:t>w</a:t>
            </a:r>
            <a:r>
              <a:rPr lang="en-US" dirty="0" smtClean="0"/>
              <a:t>hen program runs</a:t>
            </a:r>
          </a:p>
          <a:p>
            <a:pPr lvl="1" eaLnBrk="1" hangingPunct="1"/>
            <a:r>
              <a:rPr lang="en-US" dirty="0" smtClean="0"/>
              <a:t>Address resolution occurs when program is loaded</a:t>
            </a:r>
          </a:p>
          <a:p>
            <a:pPr lvl="2" eaLnBrk="1" hangingPunct="1"/>
            <a:r>
              <a:rPr lang="en-US" dirty="0" smtClean="0"/>
              <a:t>Loader is part of OS</a:t>
            </a:r>
          </a:p>
          <a:p>
            <a:pPr lvl="1" eaLnBrk="1" hangingPunct="1"/>
            <a:r>
              <a:rPr lang="en-US" dirty="0" smtClean="0"/>
              <a:t>Memory is usually not major concern</a:t>
            </a:r>
          </a:p>
          <a:p>
            <a:pPr eaLnBrk="1" hangingPunct="1"/>
            <a:r>
              <a:rPr lang="en-US" dirty="0" smtClean="0"/>
              <a:t>Embedded Software Development</a:t>
            </a:r>
          </a:p>
          <a:p>
            <a:pPr lvl="1" eaLnBrk="1" hangingPunct="1"/>
            <a:r>
              <a:rPr lang="en-US" dirty="0" smtClean="0"/>
              <a:t>Written and debugged on different machine as target</a:t>
            </a:r>
          </a:p>
          <a:p>
            <a:pPr lvl="2" eaLnBrk="1" hangingPunct="1"/>
            <a:r>
              <a:rPr lang="en-US" dirty="0" smtClean="0"/>
              <a:t>Cross-compiler run on host (development machine)</a:t>
            </a:r>
          </a:p>
          <a:p>
            <a:pPr lvl="1" eaLnBrk="1" hangingPunct="1"/>
            <a:r>
              <a:rPr lang="en-US" dirty="0" smtClean="0"/>
              <a:t>Downloaded to target for hardware/software integration</a:t>
            </a:r>
          </a:p>
        </p:txBody>
      </p:sp>
    </p:spTree>
    <p:extLst>
      <p:ext uri="{BB962C8B-B14F-4D97-AF65-F5344CB8AC3E}">
        <p14:creationId xmlns:p14="http://schemas.microsoft.com/office/powerpoint/2010/main" val="19050347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r>
              <a:rPr lang="en-US" dirty="0" smtClean="0"/>
              <a:t>Embedded Software Development</a:t>
            </a:r>
          </a:p>
        </p:txBody>
      </p:sp>
      <p:sp>
        <p:nvSpPr>
          <p:cNvPr id="108547" name="Rectangle 3"/>
          <p:cNvSpPr>
            <a:spLocks noGrp="1" noChangeArrowheads="1"/>
          </p:cNvSpPr>
          <p:nvPr>
            <p:ph type="body" idx="1"/>
          </p:nvPr>
        </p:nvSpPr>
        <p:spPr/>
        <p:txBody>
          <a:bodyPr/>
          <a:lstStyle/>
          <a:p>
            <a:r>
              <a:rPr lang="en-US" dirty="0" smtClean="0"/>
              <a:t>Build creates an Executable &amp; Linkable Format File (ELF)</a:t>
            </a:r>
          </a:p>
          <a:p>
            <a:pPr lvl="2" eaLnBrk="1" hangingPunct="1"/>
            <a:r>
              <a:rPr lang="en-US" dirty="0" smtClean="0"/>
              <a:t>Contains: Boot code, Application, RTOS (optional)</a:t>
            </a:r>
          </a:p>
          <a:p>
            <a:pPr lvl="2" eaLnBrk="1" hangingPunct="1"/>
            <a:r>
              <a:rPr lang="en-US" dirty="0" smtClean="0"/>
              <a:t>Downloaded to board to run on processor</a:t>
            </a:r>
          </a:p>
          <a:p>
            <a:r>
              <a:rPr lang="en-US" dirty="0" smtClean="0"/>
              <a:t>Designer manages address map of peripherals</a:t>
            </a:r>
          </a:p>
          <a:p>
            <a:r>
              <a:rPr lang="en-US" dirty="0" smtClean="0"/>
              <a:t>Designer manages location of application in memory</a:t>
            </a:r>
          </a:p>
          <a:p>
            <a:r>
              <a:rPr lang="en-US" dirty="0" smtClean="0"/>
              <a:t>Amount of memory depends on</a:t>
            </a:r>
          </a:p>
          <a:p>
            <a:pPr lvl="2" eaLnBrk="1" hangingPunct="1"/>
            <a:r>
              <a:rPr lang="en-US" dirty="0" smtClean="0"/>
              <a:t>Amount required for instructions</a:t>
            </a:r>
          </a:p>
          <a:p>
            <a:pPr lvl="2" eaLnBrk="1" hangingPunct="1"/>
            <a:r>
              <a:rPr lang="en-US" dirty="0" smtClean="0"/>
              <a:t>Amount required for data</a:t>
            </a:r>
          </a:p>
          <a:p>
            <a:pPr lvl="2" eaLnBrk="1" hangingPunct="1"/>
            <a:r>
              <a:rPr lang="en-US" dirty="0" smtClean="0"/>
              <a:t>Amount you can afford in terms of $$$, power &amp; board space</a:t>
            </a:r>
          </a:p>
        </p:txBody>
      </p:sp>
    </p:spTree>
    <p:extLst>
      <p:ext uri="{BB962C8B-B14F-4D97-AF65-F5344CB8AC3E}">
        <p14:creationId xmlns:p14="http://schemas.microsoft.com/office/powerpoint/2010/main" val="207109991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r>
              <a:rPr lang="en-US" dirty="0" smtClean="0"/>
              <a:t>Embedded Software Development</a:t>
            </a:r>
          </a:p>
        </p:txBody>
      </p:sp>
      <p:sp>
        <p:nvSpPr>
          <p:cNvPr id="109571" name="Rectangle 3"/>
          <p:cNvSpPr>
            <a:spLocks noGrp="1" noChangeArrowheads="1"/>
          </p:cNvSpPr>
          <p:nvPr>
            <p:ph type="body" idx="1"/>
          </p:nvPr>
        </p:nvSpPr>
        <p:spPr/>
        <p:txBody>
          <a:bodyPr/>
          <a:lstStyle/>
          <a:p>
            <a:pPr eaLnBrk="1" hangingPunct="1"/>
            <a:r>
              <a:rPr lang="en-US" dirty="0" smtClean="0"/>
              <a:t>Embedded SW Design Challenges</a:t>
            </a:r>
          </a:p>
          <a:p>
            <a:pPr lvl="1" eaLnBrk="1" hangingPunct="1"/>
            <a:r>
              <a:rPr lang="en-US" dirty="0" smtClean="0"/>
              <a:t>Software designed for specific function &amp; target</a:t>
            </a:r>
          </a:p>
          <a:p>
            <a:pPr lvl="1" eaLnBrk="1" hangingPunct="1"/>
            <a:r>
              <a:rPr lang="en-US" dirty="0" smtClean="0"/>
              <a:t>Software tightly coupled with hardware design</a:t>
            </a:r>
          </a:p>
          <a:p>
            <a:pPr lvl="2" eaLnBrk="1" hangingPunct="1"/>
            <a:r>
              <a:rPr lang="en-US" dirty="0" smtClean="0"/>
              <a:t>Hard to debug if hardware is not available</a:t>
            </a:r>
          </a:p>
          <a:p>
            <a:pPr lvl="2" eaLnBrk="1" hangingPunct="1"/>
            <a:r>
              <a:rPr lang="en-US" dirty="0" smtClean="0"/>
              <a:t>Hard to debug real-time I/O</a:t>
            </a:r>
          </a:p>
          <a:p>
            <a:pPr lvl="1" eaLnBrk="1" hangingPunct="1"/>
            <a:r>
              <a:rPr lang="en-US" dirty="0" smtClean="0"/>
              <a:t>Real-time response</a:t>
            </a:r>
          </a:p>
          <a:p>
            <a:pPr lvl="2" eaLnBrk="1" hangingPunct="1"/>
            <a:r>
              <a:rPr lang="en-US" dirty="0" smtClean="0"/>
              <a:t>Requires deterministic response</a:t>
            </a:r>
          </a:p>
          <a:p>
            <a:pPr lvl="2" eaLnBrk="1" hangingPunct="1"/>
            <a:r>
              <a:rPr lang="en-US" dirty="0" smtClean="0"/>
              <a:t>May require code optimization</a:t>
            </a:r>
          </a:p>
          <a:p>
            <a:pPr lvl="2" eaLnBrk="1" hangingPunct="1"/>
            <a:r>
              <a:rPr lang="en-US" dirty="0" smtClean="0"/>
              <a:t>RTOS</a:t>
            </a:r>
          </a:p>
          <a:p>
            <a:pPr lvl="1" eaLnBrk="1" hangingPunct="1"/>
            <a:r>
              <a:rPr lang="en-US" dirty="0" smtClean="0"/>
              <a:t>Reliability</a:t>
            </a:r>
          </a:p>
          <a:p>
            <a:pPr lvl="2" eaLnBrk="1" hangingPunct="1"/>
            <a:r>
              <a:rPr lang="en-US" dirty="0" smtClean="0"/>
              <a:t>Failures are typically not tolerated</a:t>
            </a:r>
            <a:endParaRPr lang="en-US" dirty="0"/>
          </a:p>
          <a:p>
            <a:pPr lvl="2" eaLnBrk="1" hangingPunct="1"/>
            <a:endParaRPr lang="en-US" dirty="0" smtClean="0"/>
          </a:p>
          <a:p>
            <a:pPr lvl="1"/>
            <a:r>
              <a:rPr lang="en-US" dirty="0" smtClean="0"/>
              <a:t>Ex. Launching Word vs. Pushing a brake pedal</a:t>
            </a:r>
          </a:p>
        </p:txBody>
      </p:sp>
    </p:spTree>
    <p:extLst>
      <p:ext uri="{BB962C8B-B14F-4D97-AF65-F5344CB8AC3E}">
        <p14:creationId xmlns:p14="http://schemas.microsoft.com/office/powerpoint/2010/main" val="123359831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US" dirty="0" smtClean="0"/>
              <a:t>Embedded Application Stack</a:t>
            </a:r>
          </a:p>
        </p:txBody>
      </p:sp>
      <p:graphicFrame>
        <p:nvGraphicFramePr>
          <p:cNvPr id="5" name="Object 4"/>
          <p:cNvGraphicFramePr>
            <a:graphicFrameLocks noChangeAspect="1"/>
          </p:cNvGraphicFramePr>
          <p:nvPr>
            <p:extLst>
              <p:ext uri="{D42A27DB-BD31-4B8C-83A1-F6EECF244321}">
                <p14:modId xmlns:p14="http://schemas.microsoft.com/office/powerpoint/2010/main" val="1232423013"/>
              </p:ext>
            </p:extLst>
          </p:nvPr>
        </p:nvGraphicFramePr>
        <p:xfrm>
          <a:off x="669980" y="1828800"/>
          <a:ext cx="7804040" cy="3551238"/>
        </p:xfrm>
        <a:graphic>
          <a:graphicData uri="http://schemas.openxmlformats.org/presentationml/2006/ole">
            <mc:AlternateContent xmlns:mc="http://schemas.openxmlformats.org/markup-compatibility/2006">
              <mc:Choice xmlns:v="urn:schemas-microsoft-com:vml" Requires="v">
                <p:oleObj spid="_x0000_s10303" name="Visio" r:id="rId3" imgW="7133438" imgH="3247163" progId="Visio.Drawing.11">
                  <p:embed/>
                </p:oleObj>
              </mc:Choice>
              <mc:Fallback>
                <p:oleObj name="Visio" r:id="rId3" imgW="7133438" imgH="3247163" progId="Visio.Drawing.11">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9980" y="1828800"/>
                        <a:ext cx="7804040" cy="3551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4321088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US" dirty="0" smtClean="0"/>
              <a:t>Application Stack w/RTOS</a:t>
            </a:r>
          </a:p>
        </p:txBody>
      </p:sp>
      <p:graphicFrame>
        <p:nvGraphicFramePr>
          <p:cNvPr id="5" name="Object 4"/>
          <p:cNvGraphicFramePr>
            <a:graphicFrameLocks noChangeAspect="1"/>
          </p:cNvGraphicFramePr>
          <p:nvPr>
            <p:extLst>
              <p:ext uri="{D42A27DB-BD31-4B8C-83A1-F6EECF244321}">
                <p14:modId xmlns:p14="http://schemas.microsoft.com/office/powerpoint/2010/main" val="188162341"/>
              </p:ext>
            </p:extLst>
          </p:nvPr>
        </p:nvGraphicFramePr>
        <p:xfrm>
          <a:off x="457200" y="1306285"/>
          <a:ext cx="7820025" cy="4543425"/>
        </p:xfrm>
        <a:graphic>
          <a:graphicData uri="http://schemas.openxmlformats.org/presentationml/2006/ole">
            <mc:AlternateContent xmlns:mc="http://schemas.openxmlformats.org/markup-compatibility/2006">
              <mc:Choice xmlns:v="urn:schemas-microsoft-com:vml" Requires="v">
                <p:oleObj spid="_x0000_s11327" name="Visio" r:id="rId3" imgW="7148819" imgH="4152411" progId="Visio.Drawing.11">
                  <p:embed/>
                </p:oleObj>
              </mc:Choice>
              <mc:Fallback>
                <p:oleObj name="Visio" r:id="rId3" imgW="7148819" imgH="4152411" progId="Visio.Drawing.11">
                  <p:embed/>
                  <p:pic>
                    <p:nvPicPr>
                      <p:cNvPr id="5"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1306285"/>
                        <a:ext cx="7820025" cy="454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08767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en-US" dirty="0" smtClean="0"/>
              <a:t>Device Drivers</a:t>
            </a:r>
          </a:p>
        </p:txBody>
      </p:sp>
      <p:sp>
        <p:nvSpPr>
          <p:cNvPr id="110595" name="Rectangle 3"/>
          <p:cNvSpPr>
            <a:spLocks noGrp="1" noChangeArrowheads="1"/>
          </p:cNvSpPr>
          <p:nvPr>
            <p:ph type="body" idx="1"/>
          </p:nvPr>
        </p:nvSpPr>
        <p:spPr/>
        <p:txBody>
          <a:bodyPr/>
          <a:lstStyle/>
          <a:p>
            <a:r>
              <a:rPr lang="en-US" sz="2400" dirty="0" smtClean="0"/>
              <a:t>Software developed to interact with hardware</a:t>
            </a:r>
          </a:p>
          <a:p>
            <a:pPr lvl="1"/>
            <a:r>
              <a:rPr lang="en-US" sz="1800" dirty="0" smtClean="0"/>
              <a:t>Written for specific hardware and operating system</a:t>
            </a:r>
          </a:p>
          <a:p>
            <a:pPr lvl="1"/>
            <a:r>
              <a:rPr lang="en-US" sz="1800" dirty="0" smtClean="0"/>
              <a:t>OS or application software interacts transparently with HW</a:t>
            </a:r>
          </a:p>
          <a:p>
            <a:r>
              <a:rPr lang="en-US" sz="2400" dirty="0" smtClean="0"/>
              <a:t>Provide a level of abstraction by hiding details of HW</a:t>
            </a:r>
          </a:p>
          <a:p>
            <a:pPr lvl="1"/>
            <a:r>
              <a:rPr lang="en-US" sz="1800" dirty="0" smtClean="0"/>
              <a:t>Converts application function calls into device specific calls</a:t>
            </a:r>
          </a:p>
          <a:p>
            <a:pPr lvl="1"/>
            <a:r>
              <a:rPr lang="en-US" sz="1800" dirty="0" smtClean="0"/>
              <a:t>Allows hardware to change w/o effecting OS or application</a:t>
            </a:r>
          </a:p>
          <a:p>
            <a:pPr lvl="2"/>
            <a:r>
              <a:rPr lang="en-US" sz="1800" dirty="0" smtClean="0"/>
              <a:t>Ex: swap out PC video card </a:t>
            </a:r>
            <a:r>
              <a:rPr lang="en-US" sz="1800" dirty="0" smtClean="0">
                <a:sym typeface="Wingdings" pitchFamily="2" charset="2"/>
              </a:rPr>
              <a:t> load new drivers</a:t>
            </a:r>
          </a:p>
          <a:p>
            <a:r>
              <a:rPr lang="en-US" sz="2400" dirty="0" smtClean="0"/>
              <a:t>Writing device drivers requires specific hardware knowledge</a:t>
            </a:r>
          </a:p>
          <a:p>
            <a:pPr lvl="1"/>
            <a:r>
              <a:rPr lang="en-US" sz="1800" dirty="0" smtClean="0"/>
              <a:t>Bugs tend to be serious because drivers run at privileged level</a:t>
            </a:r>
          </a:p>
          <a:p>
            <a:r>
              <a:rPr lang="en-US" sz="2400" dirty="0" smtClean="0"/>
              <a:t>Application Program Interface API</a:t>
            </a:r>
          </a:p>
          <a:p>
            <a:pPr lvl="1"/>
            <a:r>
              <a:rPr lang="en-US" sz="1800" dirty="0" smtClean="0"/>
              <a:t>Defines function call OS or application uses for lower level drivers</a:t>
            </a:r>
          </a:p>
        </p:txBody>
      </p:sp>
    </p:spTree>
    <p:extLst>
      <p:ext uri="{BB962C8B-B14F-4D97-AF65-F5344CB8AC3E}">
        <p14:creationId xmlns:p14="http://schemas.microsoft.com/office/powerpoint/2010/main" val="39106406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a:lstStyle/>
          <a:p>
            <a:r>
              <a:rPr lang="en-US" dirty="0" smtClean="0"/>
              <a:t>Hardware Abstraction Layer (HAL)</a:t>
            </a:r>
          </a:p>
        </p:txBody>
      </p:sp>
      <p:sp>
        <p:nvSpPr>
          <p:cNvPr id="111619" name="Rectangle 3"/>
          <p:cNvSpPr>
            <a:spLocks noGrp="1" noChangeArrowheads="1"/>
          </p:cNvSpPr>
          <p:nvPr>
            <p:ph type="body" idx="1"/>
          </p:nvPr>
        </p:nvSpPr>
        <p:spPr/>
        <p:txBody>
          <a:bodyPr/>
          <a:lstStyle/>
          <a:p>
            <a:r>
              <a:rPr lang="en-US" dirty="0" smtClean="0"/>
              <a:t>The HAL provides a simple device driver interface for programs to connect to the underlying hardware</a:t>
            </a:r>
          </a:p>
          <a:p>
            <a:r>
              <a:rPr lang="en-US" dirty="0" smtClean="0"/>
              <a:t>The HAL application program interface (API) is integrated with the ANSI C standard library</a:t>
            </a:r>
          </a:p>
          <a:p>
            <a:r>
              <a:rPr lang="en-US" dirty="0" smtClean="0"/>
              <a:t>The HAL API allows access to devices and files using familiar C library functions</a:t>
            </a:r>
          </a:p>
          <a:p>
            <a:pPr lvl="1"/>
            <a:r>
              <a:rPr lang="en-US" dirty="0" err="1" smtClean="0"/>
              <a:t>Printf</a:t>
            </a:r>
            <a:r>
              <a:rPr lang="en-US" dirty="0" smtClean="0"/>
              <a:t>(), </a:t>
            </a:r>
            <a:r>
              <a:rPr lang="en-US" dirty="0" err="1" smtClean="0"/>
              <a:t>fopen</a:t>
            </a:r>
            <a:r>
              <a:rPr lang="en-US" dirty="0" smtClean="0"/>
              <a:t>(), </a:t>
            </a:r>
            <a:r>
              <a:rPr lang="en-US" dirty="0" err="1" smtClean="0"/>
              <a:t>fwrite</a:t>
            </a:r>
            <a:r>
              <a:rPr lang="en-US" dirty="0" smtClean="0"/>
              <a:t>(), etc.</a:t>
            </a:r>
          </a:p>
          <a:p>
            <a:r>
              <a:rPr lang="en-US" dirty="0" smtClean="0"/>
              <a:t>The HAL serves as a device driver package for NIOS II processor systems</a:t>
            </a:r>
          </a:p>
          <a:p>
            <a:pPr lvl="1"/>
            <a:r>
              <a:rPr lang="en-US" dirty="0" smtClean="0"/>
              <a:t>Provides a consistent programming interface to the peripherals in a NIOS II system</a:t>
            </a:r>
          </a:p>
        </p:txBody>
      </p:sp>
      <p:sp>
        <p:nvSpPr>
          <p:cNvPr id="4" name="Rectangle 3"/>
          <p:cNvSpPr/>
          <p:nvPr/>
        </p:nvSpPr>
        <p:spPr>
          <a:xfrm>
            <a:off x="7810695" y="576591"/>
            <a:ext cx="1278876" cy="52322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800" b="1" cap="small" spc="50" dirty="0" smtClean="0">
                <a:ln w="11430">
                  <a:noFill/>
                </a:ln>
                <a:solidFill>
                  <a:srgbClr val="FF0000"/>
                </a:solidFill>
                <a:effectLst>
                  <a:outerShdw blurRad="38100" dist="38100" dir="2700000" algn="tl">
                    <a:srgbClr val="000000">
                      <a:alpha val="43137"/>
                    </a:srgbClr>
                  </a:outerShdw>
                </a:effectLst>
              </a:rPr>
              <a:t>Nios II</a:t>
            </a:r>
          </a:p>
        </p:txBody>
      </p:sp>
    </p:spTree>
    <p:extLst>
      <p:ext uri="{BB962C8B-B14F-4D97-AF65-F5344CB8AC3E}">
        <p14:creationId xmlns:p14="http://schemas.microsoft.com/office/powerpoint/2010/main" val="296259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HAL Architecture and Services</a:t>
            </a:r>
            <a:endParaRPr lang="en-US" dirty="0"/>
          </a:p>
        </p:txBody>
      </p:sp>
      <p:sp>
        <p:nvSpPr>
          <p:cNvPr id="3" name="Content Placeholder 2"/>
          <p:cNvSpPr>
            <a:spLocks noGrp="1"/>
          </p:cNvSpPr>
          <p:nvPr>
            <p:ph idx="1"/>
          </p:nvPr>
        </p:nvSpPr>
        <p:spPr/>
        <p:txBody>
          <a:bodyPr/>
          <a:lstStyle/>
          <a:p>
            <a:r>
              <a:rPr lang="en-US" sz="2400" dirty="0" smtClean="0"/>
              <a:t>Integration with the </a:t>
            </a:r>
            <a:r>
              <a:rPr lang="en-US" sz="2400" dirty="0" err="1" smtClean="0"/>
              <a:t>newlib</a:t>
            </a:r>
            <a:r>
              <a:rPr lang="en-US" sz="2400" dirty="0" smtClean="0"/>
              <a:t> ANSI C standard library</a:t>
            </a:r>
          </a:p>
          <a:p>
            <a:pPr lvl="1"/>
            <a:r>
              <a:rPr lang="en-US" dirty="0" smtClean="0"/>
              <a:t>Provides the familiar C standard library functions</a:t>
            </a:r>
          </a:p>
          <a:p>
            <a:r>
              <a:rPr lang="en-US" sz="2400" dirty="0" smtClean="0"/>
              <a:t>Device drivers</a:t>
            </a:r>
          </a:p>
          <a:p>
            <a:pPr lvl="1"/>
            <a:r>
              <a:rPr lang="en-US" dirty="0" smtClean="0"/>
              <a:t>Provides access to each device in the system</a:t>
            </a:r>
          </a:p>
          <a:p>
            <a:r>
              <a:rPr lang="en-US" sz="2400" dirty="0" smtClean="0"/>
              <a:t>The HAL API</a:t>
            </a:r>
          </a:p>
          <a:p>
            <a:pPr lvl="1"/>
            <a:r>
              <a:rPr lang="en-US" dirty="0" smtClean="0"/>
              <a:t>Provides a consistent, standard interface to HAL services, such as on-chip peripheral access, interrupt handling and alarm facilities</a:t>
            </a:r>
          </a:p>
          <a:p>
            <a:r>
              <a:rPr lang="en-US" sz="2400" dirty="0" smtClean="0"/>
              <a:t>System initialization</a:t>
            </a:r>
          </a:p>
          <a:p>
            <a:pPr lvl="1"/>
            <a:r>
              <a:rPr lang="en-US" dirty="0" smtClean="0"/>
              <a:t>Performs initialization tasks for the processor and the runtime environment before main()</a:t>
            </a:r>
          </a:p>
          <a:p>
            <a:r>
              <a:rPr lang="en-US" sz="2400" dirty="0" smtClean="0"/>
              <a:t>Device initialization</a:t>
            </a:r>
          </a:p>
          <a:p>
            <a:pPr lvl="1"/>
            <a:r>
              <a:rPr lang="en-US" dirty="0" smtClean="0"/>
              <a:t>Initializes each device in the system before main() runs</a:t>
            </a:r>
          </a:p>
          <a:p>
            <a:pPr lvl="2"/>
            <a:endParaRPr lang="en-US" dirty="0"/>
          </a:p>
        </p:txBody>
      </p:sp>
      <p:sp>
        <p:nvSpPr>
          <p:cNvPr id="4" name="Rectangle 3"/>
          <p:cNvSpPr/>
          <p:nvPr/>
        </p:nvSpPr>
        <p:spPr>
          <a:xfrm>
            <a:off x="7070466" y="576591"/>
            <a:ext cx="1278876" cy="52322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800" b="1" cap="small" spc="50" dirty="0" smtClean="0">
                <a:ln w="11430">
                  <a:noFill/>
                </a:ln>
                <a:solidFill>
                  <a:srgbClr val="FF0000"/>
                </a:solidFill>
                <a:effectLst>
                  <a:outerShdw blurRad="38100" dist="38100" dir="2700000" algn="tl">
                    <a:srgbClr val="000000">
                      <a:alpha val="43137"/>
                    </a:srgbClr>
                  </a:outerShdw>
                </a:effectLst>
              </a:rPr>
              <a:t>Nios II</a:t>
            </a:r>
          </a:p>
        </p:txBody>
      </p:sp>
    </p:spTree>
    <p:extLst>
      <p:ext uri="{BB962C8B-B14F-4D97-AF65-F5344CB8AC3E}">
        <p14:creationId xmlns:p14="http://schemas.microsoft.com/office/powerpoint/2010/main" val="14857023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Layers of NIOS II HAL-Based System</a:t>
            </a:r>
            <a:endParaRPr lang="en-US" dirty="0"/>
          </a:p>
        </p:txBody>
      </p:sp>
      <p:pic>
        <p:nvPicPr>
          <p:cNvPr id="5" name="Picture 4"/>
          <p:cNvPicPr>
            <a:picLocks noChangeAspect="1"/>
          </p:cNvPicPr>
          <p:nvPr/>
        </p:nvPicPr>
        <p:blipFill>
          <a:blip r:embed="rId2"/>
          <a:stretch>
            <a:fillRect/>
          </a:stretch>
        </p:blipFill>
        <p:spPr>
          <a:xfrm>
            <a:off x="2046514" y="1558698"/>
            <a:ext cx="4876800" cy="3914775"/>
          </a:xfrm>
          <a:prstGeom prst="rect">
            <a:avLst/>
          </a:prstGeom>
        </p:spPr>
      </p:pic>
    </p:spTree>
    <p:extLst>
      <p:ext uri="{BB962C8B-B14F-4D97-AF65-F5344CB8AC3E}">
        <p14:creationId xmlns:p14="http://schemas.microsoft.com/office/powerpoint/2010/main" val="16550379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en-US" dirty="0" smtClean="0"/>
              <a:t>Levels of Languages</a:t>
            </a:r>
            <a:endParaRPr lang="en-US" dirty="0"/>
          </a:p>
        </p:txBody>
      </p:sp>
      <p:sp>
        <p:nvSpPr>
          <p:cNvPr id="4" name="Content Placeholder 3"/>
          <p:cNvSpPr>
            <a:spLocks noGrp="1"/>
          </p:cNvSpPr>
          <p:nvPr>
            <p:ph idx="1"/>
          </p:nvPr>
        </p:nvSpPr>
        <p:spPr/>
        <p:txBody>
          <a:bodyPr/>
          <a:lstStyle/>
          <a:p>
            <a:r>
              <a:rPr lang="en-US" dirty="0" smtClean="0"/>
              <a:t>Programming languages</a:t>
            </a:r>
          </a:p>
          <a:p>
            <a:pPr lvl="1"/>
            <a:r>
              <a:rPr lang="en-US" dirty="0" smtClean="0"/>
              <a:t>Machine Code</a:t>
            </a:r>
          </a:p>
          <a:p>
            <a:pPr lvl="2"/>
            <a:r>
              <a:rPr lang="en-US" dirty="0" smtClean="0"/>
              <a:t>Basic language of computers </a:t>
            </a:r>
            <a:r>
              <a:rPr lang="en-US" dirty="0" smtClean="0">
                <a:sym typeface="Wingdings" pitchFamily="2" charset="2"/>
              </a:rPr>
              <a:t> </a:t>
            </a:r>
            <a:r>
              <a:rPr lang="en-US" dirty="0" smtClean="0"/>
              <a:t>ones and zeros</a:t>
            </a:r>
          </a:p>
          <a:p>
            <a:pPr lvl="2"/>
            <a:r>
              <a:rPr lang="en-US" dirty="0" smtClean="0"/>
              <a:t>Machine dependant</a:t>
            </a:r>
          </a:p>
          <a:p>
            <a:pPr lvl="2"/>
            <a:r>
              <a:rPr lang="en-US" dirty="0" smtClean="0"/>
              <a:t>Hard to read, program and maintain</a:t>
            </a:r>
          </a:p>
          <a:p>
            <a:pPr lvl="1"/>
            <a:r>
              <a:rPr lang="en-US" dirty="0" smtClean="0"/>
              <a:t>Assembly Language</a:t>
            </a:r>
          </a:p>
          <a:p>
            <a:pPr lvl="2"/>
            <a:r>
              <a:rPr lang="en-US" dirty="0" smtClean="0"/>
              <a:t>Uses mnemonics to improve readability</a:t>
            </a:r>
          </a:p>
          <a:p>
            <a:pPr lvl="3"/>
            <a:r>
              <a:rPr lang="en-US" dirty="0" smtClean="0"/>
              <a:t>Representation of machine language</a:t>
            </a:r>
          </a:p>
          <a:p>
            <a:pPr lvl="2"/>
            <a:r>
              <a:rPr lang="en-US" dirty="0" smtClean="0"/>
              <a:t>Used for code where size or speed is critical</a:t>
            </a:r>
          </a:p>
          <a:p>
            <a:pPr lvl="2"/>
            <a:r>
              <a:rPr lang="en-US" dirty="0" smtClean="0"/>
              <a:t>Used to access special commands or hardware</a:t>
            </a:r>
          </a:p>
          <a:p>
            <a:pPr lvl="2"/>
            <a:r>
              <a:rPr lang="en-US" dirty="0" smtClean="0"/>
              <a:t>Disadvantages</a:t>
            </a:r>
          </a:p>
          <a:p>
            <a:pPr lvl="3"/>
            <a:r>
              <a:rPr lang="en-US" dirty="0" smtClean="0"/>
              <a:t>Longer programs than high level languages</a:t>
            </a:r>
          </a:p>
          <a:p>
            <a:pPr lvl="3"/>
            <a:r>
              <a:rPr lang="en-US" dirty="0" smtClean="0"/>
              <a:t>Machine dependent code</a:t>
            </a:r>
          </a:p>
        </p:txBody>
      </p:sp>
    </p:spTree>
    <p:extLst>
      <p:ext uri="{BB962C8B-B14F-4D97-AF65-F5344CB8AC3E}">
        <p14:creationId xmlns:p14="http://schemas.microsoft.com/office/powerpoint/2010/main" val="170634522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r>
              <a:rPr lang="en-US" dirty="0" smtClean="0"/>
              <a:t>Levels of Languages</a:t>
            </a:r>
            <a:endParaRPr lang="en-US" dirty="0"/>
          </a:p>
        </p:txBody>
      </p:sp>
      <p:sp>
        <p:nvSpPr>
          <p:cNvPr id="4" name="Content Placeholder 3"/>
          <p:cNvSpPr>
            <a:spLocks noGrp="1"/>
          </p:cNvSpPr>
          <p:nvPr>
            <p:ph idx="1"/>
          </p:nvPr>
        </p:nvSpPr>
        <p:spPr/>
        <p:txBody>
          <a:bodyPr/>
          <a:lstStyle/>
          <a:p>
            <a:r>
              <a:rPr lang="en-US" dirty="0" smtClean="0"/>
              <a:t>Programming languages</a:t>
            </a:r>
          </a:p>
          <a:p>
            <a:pPr lvl="1"/>
            <a:r>
              <a:rPr lang="en-US" dirty="0" smtClean="0"/>
              <a:t>High level Languages</a:t>
            </a:r>
          </a:p>
          <a:p>
            <a:pPr lvl="2"/>
            <a:r>
              <a:rPr lang="en-US" dirty="0" smtClean="0"/>
              <a:t>Hardware independent</a:t>
            </a:r>
          </a:p>
          <a:p>
            <a:pPr lvl="2"/>
            <a:r>
              <a:rPr lang="en-US" dirty="0" smtClean="0"/>
              <a:t>More human readable</a:t>
            </a:r>
          </a:p>
          <a:p>
            <a:pPr lvl="2"/>
            <a:r>
              <a:rPr lang="en-US" dirty="0" smtClean="0"/>
              <a:t>Ex: C, Pascal,  etc</a:t>
            </a:r>
          </a:p>
          <a:p>
            <a:pPr lvl="1"/>
            <a:r>
              <a:rPr lang="en-US" dirty="0" smtClean="0"/>
              <a:t>Very High Level Languages</a:t>
            </a:r>
          </a:p>
          <a:p>
            <a:pPr lvl="2"/>
            <a:r>
              <a:rPr lang="en-US" dirty="0" smtClean="0"/>
              <a:t>Hardware independent</a:t>
            </a:r>
          </a:p>
          <a:p>
            <a:pPr lvl="2"/>
            <a:r>
              <a:rPr lang="en-US" dirty="0" smtClean="0"/>
              <a:t>More human readable</a:t>
            </a:r>
          </a:p>
          <a:p>
            <a:pPr lvl="2"/>
            <a:r>
              <a:rPr lang="en-US" dirty="0" smtClean="0"/>
              <a:t>Object-oriented languages </a:t>
            </a:r>
          </a:p>
          <a:p>
            <a:pPr lvl="3"/>
            <a:r>
              <a:rPr lang="en-US" dirty="0" smtClean="0"/>
              <a:t>Ex: C++, Java</a:t>
            </a:r>
          </a:p>
          <a:p>
            <a:endParaRPr lang="en-US" dirty="0"/>
          </a:p>
        </p:txBody>
      </p:sp>
    </p:spTree>
    <p:extLst>
      <p:ext uri="{BB962C8B-B14F-4D97-AF65-F5344CB8AC3E}">
        <p14:creationId xmlns:p14="http://schemas.microsoft.com/office/powerpoint/2010/main" val="219406885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2" name="Rectangle 4"/>
          <p:cNvSpPr>
            <a:spLocks noGrp="1" noChangeArrowheads="1"/>
          </p:cNvSpPr>
          <p:nvPr>
            <p:ph type="title"/>
          </p:nvPr>
        </p:nvSpPr>
        <p:spPr/>
        <p:txBody>
          <a:bodyPr/>
          <a:lstStyle/>
          <a:p>
            <a:r>
              <a:rPr lang="en-US" dirty="0" smtClean="0"/>
              <a:t>Language Level Summary</a:t>
            </a:r>
            <a:endParaRPr lang="en-US" dirty="0"/>
          </a:p>
        </p:txBody>
      </p:sp>
      <p:graphicFrame>
        <p:nvGraphicFramePr>
          <p:cNvPr id="391391" name="Group 223"/>
          <p:cNvGraphicFramePr>
            <a:graphicFrameLocks noGrp="1"/>
          </p:cNvGraphicFramePr>
          <p:nvPr>
            <p:extLst>
              <p:ext uri="{D42A27DB-BD31-4B8C-83A1-F6EECF244321}">
                <p14:modId xmlns:p14="http://schemas.microsoft.com/office/powerpoint/2010/main" val="3855254678"/>
              </p:ext>
            </p:extLst>
          </p:nvPr>
        </p:nvGraphicFramePr>
        <p:xfrm>
          <a:off x="762000" y="1676400"/>
          <a:ext cx="8153400" cy="3657602"/>
        </p:xfrm>
        <a:graphic>
          <a:graphicData uri="http://schemas.openxmlformats.org/drawingml/2006/table">
            <a:tbl>
              <a:tblPr/>
              <a:tblGrid>
                <a:gridCol w="1397000">
                  <a:extLst>
                    <a:ext uri="{9D8B030D-6E8A-4147-A177-3AD203B41FA5}">
                      <a16:colId xmlns:a16="http://schemas.microsoft.com/office/drawing/2014/main" val="20000"/>
                    </a:ext>
                  </a:extLst>
                </a:gridCol>
                <a:gridCol w="2327275">
                  <a:extLst>
                    <a:ext uri="{9D8B030D-6E8A-4147-A177-3AD203B41FA5}">
                      <a16:colId xmlns:a16="http://schemas.microsoft.com/office/drawing/2014/main" val="20001"/>
                    </a:ext>
                  </a:extLst>
                </a:gridCol>
                <a:gridCol w="4429125">
                  <a:extLst>
                    <a:ext uri="{9D8B030D-6E8A-4147-A177-3AD203B41FA5}">
                      <a16:colId xmlns:a16="http://schemas.microsoft.com/office/drawing/2014/main" val="20002"/>
                    </a:ext>
                  </a:extLst>
                </a:gridCol>
              </a:tblGrid>
              <a:tr h="344488">
                <a:tc>
                  <a:txBody>
                    <a:bodyPr/>
                    <a:lstStyle/>
                    <a:p>
                      <a:pPr marL="0" marR="0" lvl="0" indent="0" algn="l" defTabSz="914400" rtl="0" eaLnBrk="1" fontAlgn="b"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cs typeface="Arial" charset="0"/>
                        </a:rPr>
                        <a:t> </a:t>
                      </a:r>
                      <a:endParaRPr kumimoji="0" lang="en-US" sz="1800" b="0" i="0" u="none" strike="noStrike" cap="none" normalizeH="0" baseline="0" dirty="0" smtClean="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Arial" charset="0"/>
                          <a:cs typeface="Arial" charset="0"/>
                        </a:rPr>
                        <a:t>Language </a:t>
                      </a:r>
                      <a:endParaRPr kumimoji="0" lang="en-US" sz="2000" b="0" i="0" u="none" strike="noStrike" cap="none" normalizeH="0" baseline="0" dirty="0" smtClean="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chemeClr val="tx1"/>
                          </a:solidFill>
                          <a:effectLst/>
                          <a:latin typeface="Arial" charset="0"/>
                          <a:cs typeface="Arial" charset="0"/>
                        </a:rPr>
                        <a:t>Description</a:t>
                      </a:r>
                      <a:endParaRPr kumimoji="0" lang="en-US" sz="2400" b="0" i="0" u="none" strike="noStrike" cap="none" normalizeH="0" baseline="0" dirty="0" smtClean="0">
                        <a:ln>
                          <a:noFill/>
                        </a:ln>
                        <a:solidFill>
                          <a:schemeClr val="tx1"/>
                        </a:solidFill>
                        <a:effectLst/>
                        <a:latin typeface="Arial" charset="0"/>
                      </a:endParaRPr>
                    </a:p>
                  </a:txBody>
                  <a:tcPr anchor="b"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699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pitchFamily="34" charset="0"/>
                          <a:cs typeface="Arial" pitchFamily="34" charset="0"/>
                        </a:rPr>
                        <a:t>1</a:t>
                      </a:r>
                      <a:r>
                        <a:rPr kumimoji="0" lang="en-US" sz="1200" b="0" i="0" u="none" strike="noStrike" cap="none" normalizeH="0" baseline="30000" dirty="0" smtClean="0">
                          <a:ln>
                            <a:noFill/>
                          </a:ln>
                          <a:solidFill>
                            <a:schemeClr val="tx1"/>
                          </a:solidFill>
                          <a:effectLst/>
                          <a:latin typeface="Arial" pitchFamily="34" charset="0"/>
                          <a:cs typeface="Arial" pitchFamily="34" charset="0"/>
                        </a:rPr>
                        <a:t>st</a:t>
                      </a:r>
                      <a:r>
                        <a:rPr kumimoji="0" lang="en-US" sz="1200" b="0" i="0" u="none" strike="noStrike" cap="none" normalizeH="0" baseline="0" dirty="0" smtClean="0">
                          <a:ln>
                            <a:noFill/>
                          </a:ln>
                          <a:solidFill>
                            <a:schemeClr val="tx1"/>
                          </a:solidFill>
                          <a:effectLst/>
                          <a:latin typeface="Arial" pitchFamily="34" charset="0"/>
                          <a:cs typeface="Arial" pitchFamily="34" charset="0"/>
                        </a:rPr>
                        <a:t> Generation</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Machine Code</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cs typeface="Arial" charset="0"/>
                        </a:rPr>
                        <a:t>Binary (0,1) and hardware dependent</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7150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cs typeface="Arial" charset="0"/>
                        </a:rPr>
                        <a:t>2nd Generation</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Assembly language</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cs typeface="Arial" charset="0"/>
                        </a:rPr>
                        <a:t>Hardware dependent but at a more readable format using mnemonics</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028700">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3rd Generation</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High-Level Languages</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cs typeface="Arial" charset="0"/>
                        </a:rPr>
                        <a:t>Higher level language more like English words that makes code more readable. Code is also more portable between platforms because it is not machine dependent.</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69913">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4th Generation</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Very High Level Languages</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The next still in evolution of high level languages where code is objects are used.</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73088">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5th Generation</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chemeClr val="tx1"/>
                          </a:solidFill>
                          <a:effectLst/>
                          <a:latin typeface="Arial" charset="0"/>
                          <a:cs typeface="Arial" charset="0"/>
                        </a:rPr>
                        <a:t>Natural Languages</a:t>
                      </a:r>
                      <a:endParaRPr kumimoji="0" lang="en-US" sz="1800" b="0" i="0" u="none" strike="noStrike" cap="none" normalizeH="0" baseline="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sz="1200" b="0" i="0" u="none" strike="noStrike" cap="none" normalizeH="0" baseline="0" dirty="0" smtClean="0">
                          <a:ln>
                            <a:noFill/>
                          </a:ln>
                          <a:solidFill>
                            <a:schemeClr val="tx1"/>
                          </a:solidFill>
                          <a:effectLst/>
                          <a:latin typeface="Arial" charset="0"/>
                          <a:cs typeface="Arial" charset="0"/>
                        </a:rPr>
                        <a:t>Languages that are very similar normal conversation. Used in artificial intelligent. Still in development.</a:t>
                      </a:r>
                      <a:endParaRPr kumimoji="0" lang="en-US" sz="1800" b="0" i="0" u="none" strike="noStrike" cap="none" normalizeH="0" baseline="0" dirty="0" smtClean="0">
                        <a:ln>
                          <a:noFill/>
                        </a:ln>
                        <a:solidFill>
                          <a:schemeClr val="tx1"/>
                        </a:solidFill>
                        <a:effectLst/>
                        <a:latin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Content Placeholder 3"/>
          <p:cNvSpPr txBox="1">
            <a:spLocks/>
          </p:cNvSpPr>
          <p:nvPr/>
        </p:nvSpPr>
        <p:spPr>
          <a:xfrm>
            <a:off x="827314" y="1077686"/>
            <a:ext cx="8229600" cy="5638800"/>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2800" b="1" i="0" u="none" strike="noStrike" kern="0" cap="none" spc="0" normalizeH="0" baseline="0" noProof="0" dirty="0" smtClean="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40420270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pPr eaLnBrk="1" hangingPunct="1"/>
            <a:r>
              <a:rPr lang="en-US" dirty="0" smtClean="0"/>
              <a:t>Tools and Resultant Files</a:t>
            </a:r>
          </a:p>
        </p:txBody>
      </p:sp>
      <p:sp>
        <p:nvSpPr>
          <p:cNvPr id="113667" name="Rectangle 3"/>
          <p:cNvSpPr>
            <a:spLocks noGrp="1" noChangeArrowheads="1"/>
          </p:cNvSpPr>
          <p:nvPr>
            <p:ph type="body" idx="1"/>
          </p:nvPr>
        </p:nvSpPr>
        <p:spPr/>
        <p:txBody>
          <a:bodyPr/>
          <a:lstStyle/>
          <a:p>
            <a:pPr eaLnBrk="1" hangingPunct="1"/>
            <a:r>
              <a:rPr lang="en-US" dirty="0" smtClean="0"/>
              <a:t>Compiler</a:t>
            </a:r>
          </a:p>
          <a:p>
            <a:pPr lvl="1" eaLnBrk="1" hangingPunct="1"/>
            <a:r>
              <a:rPr lang="en-US" dirty="0" smtClean="0"/>
              <a:t>Tool that translates high-level languages into Assembly</a:t>
            </a:r>
          </a:p>
          <a:p>
            <a:pPr eaLnBrk="1" hangingPunct="1"/>
            <a:r>
              <a:rPr lang="en-US" dirty="0" smtClean="0"/>
              <a:t>Assembler</a:t>
            </a:r>
          </a:p>
          <a:p>
            <a:pPr lvl="1" eaLnBrk="1" hangingPunct="1"/>
            <a:r>
              <a:rPr lang="en-US" dirty="0" smtClean="0"/>
              <a:t>Tool that translates ASM into machine language</a:t>
            </a:r>
          </a:p>
          <a:p>
            <a:pPr lvl="1" eaLnBrk="1" hangingPunct="1"/>
            <a:r>
              <a:rPr lang="en-US" dirty="0" smtClean="0"/>
              <a:t>Reads ASM to produce object files </a:t>
            </a:r>
          </a:p>
          <a:p>
            <a:pPr eaLnBrk="1" hangingPunct="1"/>
            <a:r>
              <a:rPr lang="en-US" dirty="0" smtClean="0"/>
              <a:t>Object files</a:t>
            </a:r>
          </a:p>
          <a:p>
            <a:pPr lvl="1" eaLnBrk="1" hangingPunct="1"/>
            <a:r>
              <a:rPr lang="en-US" dirty="0" smtClean="0"/>
              <a:t>Contains machine instructions &amp; other book keeping info</a:t>
            </a:r>
          </a:p>
          <a:p>
            <a:pPr lvl="1" eaLnBrk="1" hangingPunct="1"/>
            <a:r>
              <a:rPr lang="en-US" dirty="0" smtClean="0"/>
              <a:t>Can be executed if it does NOT contain unresolved references to other object files or libraries</a:t>
            </a:r>
          </a:p>
          <a:p>
            <a:pPr lvl="1" eaLnBrk="1" hangingPunct="1"/>
            <a:r>
              <a:rPr lang="en-US" dirty="0" smtClean="0"/>
              <a:t>Every object file has sections</a:t>
            </a:r>
          </a:p>
          <a:p>
            <a:pPr lvl="2" eaLnBrk="1" hangingPunct="1"/>
            <a:r>
              <a:rPr lang="en-US" sz="1800" dirty="0" smtClean="0"/>
              <a:t>Sections organize code by common characteristics</a:t>
            </a:r>
          </a:p>
          <a:p>
            <a:pPr lvl="2" eaLnBrk="1" hangingPunct="1"/>
            <a:r>
              <a:rPr lang="en-US" sz="1800" dirty="0" smtClean="0"/>
              <a:t>Sections may or may not have any contents</a:t>
            </a:r>
          </a:p>
          <a:p>
            <a:pPr lvl="3" eaLnBrk="1" hangingPunct="1"/>
            <a:r>
              <a:rPr lang="en-US" sz="1800" dirty="0" smtClean="0"/>
              <a:t>Empty sections have memory reserved </a:t>
            </a:r>
          </a:p>
        </p:txBody>
      </p:sp>
    </p:spTree>
    <p:extLst>
      <p:ext uri="{BB962C8B-B14F-4D97-AF65-F5344CB8AC3E}">
        <p14:creationId xmlns:p14="http://schemas.microsoft.com/office/powerpoint/2010/main" val="3059535382"/>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Grp="1" noChangeArrowheads="1"/>
          </p:cNvSpPr>
          <p:nvPr>
            <p:ph type="title"/>
          </p:nvPr>
        </p:nvSpPr>
        <p:spPr/>
        <p:txBody>
          <a:bodyPr/>
          <a:lstStyle/>
          <a:p>
            <a:pPr eaLnBrk="1" hangingPunct="1"/>
            <a:r>
              <a:rPr lang="en-US" dirty="0" smtClean="0"/>
              <a:t>Tools and Resultant Files</a:t>
            </a:r>
          </a:p>
        </p:txBody>
      </p:sp>
      <p:sp>
        <p:nvSpPr>
          <p:cNvPr id="114691" name="Rectangle 3"/>
          <p:cNvSpPr>
            <a:spLocks noGrp="1" noChangeArrowheads="1"/>
          </p:cNvSpPr>
          <p:nvPr>
            <p:ph type="body" idx="1"/>
          </p:nvPr>
        </p:nvSpPr>
        <p:spPr/>
        <p:txBody>
          <a:bodyPr/>
          <a:lstStyle/>
          <a:p>
            <a:pPr eaLnBrk="1" hangingPunct="1"/>
            <a:r>
              <a:rPr lang="en-US" dirty="0" smtClean="0"/>
              <a:t>Linker</a:t>
            </a:r>
          </a:p>
          <a:p>
            <a:pPr lvl="1" eaLnBrk="1" hangingPunct="1"/>
            <a:r>
              <a:rPr lang="en-US" dirty="0" smtClean="0"/>
              <a:t>Tool that combines object files into single executable</a:t>
            </a:r>
          </a:p>
          <a:p>
            <a:pPr lvl="1" eaLnBrk="1" hangingPunct="1"/>
            <a:r>
              <a:rPr lang="en-US" dirty="0" smtClean="0"/>
              <a:t>Searches program libraries to find library routines</a:t>
            </a:r>
          </a:p>
          <a:p>
            <a:pPr lvl="1" eaLnBrk="1" hangingPunct="1"/>
            <a:r>
              <a:rPr lang="en-US" dirty="0" smtClean="0"/>
              <a:t>Determines the memory locations that code will occupy and adjust absolute references</a:t>
            </a:r>
          </a:p>
          <a:p>
            <a:pPr lvl="1" eaLnBrk="1" hangingPunct="1"/>
            <a:r>
              <a:rPr lang="en-US" dirty="0" smtClean="0"/>
              <a:t>Resolve all references (labels) among object files</a:t>
            </a:r>
          </a:p>
          <a:p>
            <a:pPr lvl="1" eaLnBrk="1" hangingPunct="1"/>
            <a:r>
              <a:rPr lang="en-US" dirty="0" smtClean="0"/>
              <a:t>Linking is controlled by linker script file</a:t>
            </a:r>
          </a:p>
          <a:p>
            <a:pPr lvl="2" eaLnBrk="1" hangingPunct="1"/>
            <a:r>
              <a:rPr lang="en-US" sz="1800" dirty="0" smtClean="0"/>
              <a:t>Defines how input files are mapped to output files</a:t>
            </a:r>
          </a:p>
          <a:p>
            <a:pPr lvl="2" eaLnBrk="1" hangingPunct="1"/>
            <a:r>
              <a:rPr lang="en-US" sz="1800" dirty="0" smtClean="0"/>
              <a:t>Controls where code sections are mapped to memory </a:t>
            </a:r>
          </a:p>
          <a:p>
            <a:pPr lvl="1" eaLnBrk="1" hangingPunct="1">
              <a:buFontTx/>
              <a:buNone/>
            </a:pPr>
            <a:r>
              <a:rPr lang="en-US" dirty="0" smtClean="0"/>
              <a:t>		</a:t>
            </a:r>
          </a:p>
        </p:txBody>
      </p:sp>
    </p:spTree>
    <p:extLst>
      <p:ext uri="{BB962C8B-B14F-4D97-AF65-F5344CB8AC3E}">
        <p14:creationId xmlns:p14="http://schemas.microsoft.com/office/powerpoint/2010/main" val="3442526651"/>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pPr eaLnBrk="1" hangingPunct="1"/>
            <a:r>
              <a:rPr lang="en-US" dirty="0" smtClean="0"/>
              <a:t>Linker Tool</a:t>
            </a:r>
          </a:p>
        </p:txBody>
      </p:sp>
      <p:sp>
        <p:nvSpPr>
          <p:cNvPr id="115715" name="Rectangle 3"/>
          <p:cNvSpPr>
            <a:spLocks noGrp="1" noChangeArrowheads="1"/>
          </p:cNvSpPr>
          <p:nvPr>
            <p:ph type="body" idx="1"/>
          </p:nvPr>
        </p:nvSpPr>
        <p:spPr/>
        <p:txBody>
          <a:bodyPr/>
          <a:lstStyle/>
          <a:p>
            <a:pPr eaLnBrk="1" hangingPunct="1"/>
            <a:r>
              <a:rPr lang="en-US" dirty="0" smtClean="0"/>
              <a:t>Linking libraries</a:t>
            </a:r>
          </a:p>
          <a:p>
            <a:pPr lvl="1" eaLnBrk="1" hangingPunct="1"/>
            <a:r>
              <a:rPr lang="en-US" dirty="0" smtClean="0"/>
              <a:t>Static linking</a:t>
            </a:r>
          </a:p>
          <a:p>
            <a:pPr lvl="2" eaLnBrk="1" hangingPunct="1"/>
            <a:r>
              <a:rPr lang="en-US" sz="1800" dirty="0" smtClean="0"/>
              <a:t>Libraries routines are linked into executable</a:t>
            </a:r>
          </a:p>
          <a:p>
            <a:pPr lvl="3" eaLnBrk="1" hangingPunct="1"/>
            <a:r>
              <a:rPr lang="en-US" sz="1800" dirty="0" smtClean="0"/>
              <a:t>Executables become large</a:t>
            </a:r>
          </a:p>
          <a:p>
            <a:pPr lvl="3" eaLnBrk="1" hangingPunct="1"/>
            <a:r>
              <a:rPr lang="en-US" sz="1800" dirty="0" smtClean="0"/>
              <a:t>Executable can’t access libraries updates w/o being recompiled</a:t>
            </a:r>
          </a:p>
          <a:p>
            <a:pPr lvl="1" eaLnBrk="1" hangingPunct="1"/>
            <a:r>
              <a:rPr lang="en-US" dirty="0" smtClean="0"/>
              <a:t>Dynamic Linking (DLL)</a:t>
            </a:r>
          </a:p>
          <a:p>
            <a:pPr lvl="2" eaLnBrk="1" hangingPunct="1"/>
            <a:r>
              <a:rPr lang="en-US" sz="1800" dirty="0" smtClean="0"/>
              <a:t>Library linked and loaded at run-time</a:t>
            </a:r>
          </a:p>
          <a:p>
            <a:pPr lvl="2" eaLnBrk="1" hangingPunct="1"/>
            <a:r>
              <a:rPr lang="en-US" sz="1800" dirty="0" smtClean="0"/>
              <a:t>Avoids linking entire library into executable</a:t>
            </a:r>
          </a:p>
          <a:p>
            <a:pPr lvl="2" eaLnBrk="1" hangingPunct="1"/>
            <a:r>
              <a:rPr lang="en-US" sz="1800" dirty="0" smtClean="0"/>
              <a:t>Executable can link in new library updates at run-time</a:t>
            </a:r>
          </a:p>
          <a:p>
            <a:pPr lvl="2" eaLnBrk="1" hangingPunct="1"/>
            <a:r>
              <a:rPr lang="en-US" sz="1800" dirty="0" smtClean="0"/>
              <a:t>Requires extra space for DLL but smaller than entire library</a:t>
            </a:r>
          </a:p>
          <a:p>
            <a:pPr lvl="2" eaLnBrk="1" hangingPunct="1"/>
            <a:r>
              <a:rPr lang="en-US" sz="1800" dirty="0" smtClean="0"/>
              <a:t>Small run-time penalty to load library dynamically</a:t>
            </a:r>
          </a:p>
        </p:txBody>
      </p:sp>
    </p:spTree>
    <p:extLst>
      <p:ext uri="{BB962C8B-B14F-4D97-AF65-F5344CB8AC3E}">
        <p14:creationId xmlns:p14="http://schemas.microsoft.com/office/powerpoint/2010/main" val="3994717335"/>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pPr eaLnBrk="1" hangingPunct="1"/>
            <a:r>
              <a:rPr lang="en-US" dirty="0" smtClean="0"/>
              <a:t>Software Design Flow Example</a:t>
            </a:r>
          </a:p>
        </p:txBody>
      </p:sp>
      <p:graphicFrame>
        <p:nvGraphicFramePr>
          <p:cNvPr id="6146" name="Object 4"/>
          <p:cNvGraphicFramePr>
            <a:graphicFrameLocks noGrp="1" noChangeAspect="1"/>
          </p:cNvGraphicFramePr>
          <p:nvPr>
            <p:ph idx="1"/>
          </p:nvPr>
        </p:nvGraphicFramePr>
        <p:xfrm>
          <a:off x="762000" y="1327150"/>
          <a:ext cx="8016875" cy="3051175"/>
        </p:xfrm>
        <a:graphic>
          <a:graphicData uri="http://schemas.openxmlformats.org/presentationml/2006/ole">
            <mc:AlternateContent xmlns:mc="http://schemas.openxmlformats.org/markup-compatibility/2006">
              <mc:Choice xmlns:v="urn:schemas-microsoft-com:vml" Requires="v">
                <p:oleObj spid="_x0000_s12350" name="Visio" r:id="rId4" imgW="5533238" imgH="2106750" progId="Visio.Drawing.11">
                  <p:embed/>
                </p:oleObj>
              </mc:Choice>
              <mc:Fallback>
                <p:oleObj name="Visio" r:id="rId4" imgW="5533238" imgH="2106750" progId="Visio.Drawing.11">
                  <p:embed/>
                  <p:pic>
                    <p:nvPicPr>
                      <p:cNvPr id="6146"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327150"/>
                        <a:ext cx="8016875" cy="3051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 name="Content Placeholder 2"/>
          <p:cNvSpPr txBox="1">
            <a:spLocks/>
          </p:cNvSpPr>
          <p:nvPr/>
        </p:nvSpPr>
        <p:spPr bwMode="auto">
          <a:xfrm>
            <a:off x="685800" y="4648200"/>
            <a:ext cx="8229600" cy="1752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sz="2800" b="1" i="0" u="none" strike="noStrike" kern="0" cap="none" spc="0" normalizeH="0" baseline="0" noProof="0" dirty="0" smtClean="0">
                <a:ln>
                  <a:noFill/>
                </a:ln>
                <a:solidFill>
                  <a:schemeClr val="tx1"/>
                </a:solidFill>
                <a:effectLst/>
                <a:uLnTx/>
                <a:uFillTx/>
                <a:latin typeface="+mn-lt"/>
                <a:ea typeface="+mn-ea"/>
                <a:cs typeface="+mn-cs"/>
              </a:rPr>
              <a:t>Executable and Linking Format File (*.elf) </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US" sz="2400" b="0" i="1" u="none" strike="noStrike" kern="0" cap="none" spc="0" normalizeH="0" baseline="0" noProof="0" dirty="0" smtClean="0">
                <a:ln>
                  <a:noFill/>
                </a:ln>
                <a:solidFill>
                  <a:schemeClr val="tx1"/>
                </a:solidFill>
                <a:effectLst/>
                <a:uLnTx/>
                <a:uFillTx/>
                <a:latin typeface="+mn-lt"/>
              </a:rPr>
              <a:t>Created when you build Nios II program</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lang="en-US" sz="2400" i="1" kern="0" dirty="0" smtClean="0">
                <a:latin typeface="+mn-lt"/>
              </a:rPr>
              <a:t>Runs on Nios II processor</a:t>
            </a:r>
            <a:endParaRPr kumimoji="0" lang="en-US" sz="2400" b="0" i="1" u="none" strike="noStrike" kern="0" cap="none" spc="0" normalizeH="0" baseline="0" noProof="0" dirty="0" smtClean="0">
              <a:ln>
                <a:noFill/>
              </a:ln>
              <a:solidFill>
                <a:schemeClr val="tx1"/>
              </a:solidFill>
              <a:effectLst/>
              <a:uLnTx/>
              <a:uFillTx/>
              <a:latin typeface="+mn-lt"/>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endParaRPr kumimoji="0" lang="en-US" sz="2400" b="0" i="1" u="none" strike="noStrike" kern="0" cap="none" spc="0" normalizeH="0" baseline="0" noProof="0" dirty="0" smtClean="0">
              <a:ln>
                <a:noFill/>
              </a:ln>
              <a:solidFill>
                <a:schemeClr val="tx1"/>
              </a:solidFill>
              <a:effectLst/>
              <a:uLnTx/>
              <a:uFillTx/>
              <a:latin typeface="+mn-lt"/>
            </a:endParaRPr>
          </a:p>
          <a:p>
            <a:pPr marL="342900" marR="0" lvl="0" indent="-342900" algn="l" defTabSz="914400" rtl="0" eaLnBrk="0" fontAlgn="base" latinLnBrk="0" hangingPunct="0">
              <a:lnSpc>
                <a:spcPct val="100000"/>
              </a:lnSpc>
              <a:spcBef>
                <a:spcPct val="20000"/>
              </a:spcBef>
              <a:spcAft>
                <a:spcPct val="0"/>
              </a:spcAft>
              <a:buClrTx/>
              <a:buSzTx/>
              <a:buFontTx/>
              <a:buNone/>
              <a:tabLst/>
              <a:defRPr/>
            </a:pPr>
            <a:endParaRPr kumimoji="0" lang="en-US" sz="2800" b="1" i="0" u="none" strike="noStrike" kern="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p14="http://schemas.microsoft.com/office/powerpoint/2010/main" val="153816704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en-US" dirty="0" smtClean="0"/>
              <a:t>Object File</a:t>
            </a:r>
          </a:p>
        </p:txBody>
      </p:sp>
      <p:sp>
        <p:nvSpPr>
          <p:cNvPr id="116739" name="Rectangle 3"/>
          <p:cNvSpPr>
            <a:spLocks noGrp="1" noChangeArrowheads="1"/>
          </p:cNvSpPr>
          <p:nvPr>
            <p:ph type="body" idx="1"/>
          </p:nvPr>
        </p:nvSpPr>
        <p:spPr/>
        <p:txBody>
          <a:bodyPr/>
          <a:lstStyle/>
          <a:p>
            <a:pPr eaLnBrk="1" hangingPunct="1"/>
            <a:r>
              <a:rPr lang="en-US" dirty="0" smtClean="0"/>
              <a:t>Typical Object Sections</a:t>
            </a:r>
          </a:p>
          <a:p>
            <a:pPr lvl="1" eaLnBrk="1" hangingPunct="1"/>
            <a:r>
              <a:rPr lang="en-US" dirty="0" smtClean="0"/>
              <a:t>.text</a:t>
            </a:r>
          </a:p>
          <a:p>
            <a:pPr lvl="2" eaLnBrk="1" hangingPunct="1"/>
            <a:r>
              <a:rPr lang="en-US" dirty="0" smtClean="0"/>
              <a:t>Only executable code goes here</a:t>
            </a:r>
          </a:p>
          <a:p>
            <a:pPr lvl="1" eaLnBrk="1" hangingPunct="1"/>
            <a:r>
              <a:rPr lang="en-US" dirty="0" smtClean="0"/>
              <a:t>.</a:t>
            </a:r>
            <a:r>
              <a:rPr lang="en-US" dirty="0" err="1" smtClean="0"/>
              <a:t>rodata</a:t>
            </a:r>
            <a:r>
              <a:rPr lang="en-US" dirty="0" smtClean="0"/>
              <a:t> and .sdata2</a:t>
            </a:r>
          </a:p>
          <a:p>
            <a:pPr lvl="2" eaLnBrk="1" hangingPunct="1"/>
            <a:r>
              <a:rPr lang="en-US" dirty="0" smtClean="0"/>
              <a:t>Contains read-only data</a:t>
            </a:r>
          </a:p>
          <a:p>
            <a:pPr lvl="2" eaLnBrk="1" hangingPunct="1"/>
            <a:r>
              <a:rPr lang="en-US" dirty="0" smtClean="0"/>
              <a:t>Ex: Print strings and constants</a:t>
            </a:r>
          </a:p>
          <a:p>
            <a:pPr lvl="1" eaLnBrk="1" hangingPunct="1"/>
            <a:r>
              <a:rPr lang="en-US" dirty="0" smtClean="0"/>
              <a:t>.data and .</a:t>
            </a:r>
            <a:r>
              <a:rPr lang="en-US" dirty="0" err="1" smtClean="0"/>
              <a:t>sdata</a:t>
            </a:r>
            <a:endParaRPr lang="en-US" dirty="0" smtClean="0"/>
          </a:p>
          <a:p>
            <a:pPr lvl="2" eaLnBrk="1" hangingPunct="1"/>
            <a:r>
              <a:rPr lang="en-US" dirty="0" smtClean="0"/>
              <a:t>Contains read/write data</a:t>
            </a:r>
          </a:p>
          <a:p>
            <a:pPr lvl="1" eaLnBrk="1" hangingPunct="1"/>
            <a:r>
              <a:rPr lang="en-US" dirty="0" smtClean="0"/>
              <a:t>.</a:t>
            </a:r>
            <a:r>
              <a:rPr lang="en-US" dirty="0" err="1" smtClean="0"/>
              <a:t>bss</a:t>
            </a:r>
            <a:r>
              <a:rPr lang="en-US" dirty="0" smtClean="0"/>
              <a:t> and .</a:t>
            </a:r>
            <a:r>
              <a:rPr lang="en-US" dirty="0" err="1" smtClean="0"/>
              <a:t>sbss</a:t>
            </a:r>
            <a:endParaRPr lang="en-US" dirty="0" smtClean="0"/>
          </a:p>
          <a:p>
            <a:pPr lvl="2" eaLnBrk="1" hangingPunct="1"/>
            <a:r>
              <a:rPr lang="en-US" dirty="0" smtClean="0"/>
              <a:t>Uninitialized data (variables)</a:t>
            </a:r>
          </a:p>
          <a:p>
            <a:pPr lvl="2" eaLnBrk="1" hangingPunct="1">
              <a:buNone/>
            </a:pPr>
            <a:endParaRPr lang="en-US" dirty="0" smtClean="0"/>
          </a:p>
        </p:txBody>
      </p:sp>
    </p:spTree>
    <p:extLst>
      <p:ext uri="{BB962C8B-B14F-4D97-AF65-F5344CB8AC3E}">
        <p14:creationId xmlns:p14="http://schemas.microsoft.com/office/powerpoint/2010/main" val="1217775437"/>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eaLnBrk="1" hangingPunct="1"/>
            <a:r>
              <a:rPr lang="en-US" dirty="0" smtClean="0"/>
              <a:t>Object Files</a:t>
            </a:r>
          </a:p>
        </p:txBody>
      </p:sp>
      <p:sp>
        <p:nvSpPr>
          <p:cNvPr id="117763" name="Rectangle 3"/>
          <p:cNvSpPr>
            <a:spLocks noGrp="1" noChangeArrowheads="1"/>
          </p:cNvSpPr>
          <p:nvPr>
            <p:ph type="body" idx="1"/>
          </p:nvPr>
        </p:nvSpPr>
        <p:spPr/>
        <p:txBody>
          <a:bodyPr/>
          <a:lstStyle/>
          <a:p>
            <a:pPr eaLnBrk="1" hangingPunct="1"/>
            <a:r>
              <a:rPr lang="en-US" dirty="0" smtClean="0"/>
              <a:t>Dumping Object Files</a:t>
            </a:r>
          </a:p>
          <a:p>
            <a:pPr lvl="1" eaLnBrk="1" hangingPunct="1"/>
            <a:r>
              <a:rPr lang="en-US" dirty="0" smtClean="0"/>
              <a:t>Object dump will show memory address of various sections</a:t>
            </a:r>
          </a:p>
          <a:p>
            <a:pPr lvl="1" eaLnBrk="1" hangingPunct="1"/>
            <a:r>
              <a:rPr lang="en-US" dirty="0" smtClean="0"/>
              <a:t>Critical information for debugging embedded software</a:t>
            </a:r>
          </a:p>
          <a:p>
            <a:pPr lvl="1" eaLnBrk="1" hangingPunct="1"/>
            <a:r>
              <a:rPr lang="en-US" dirty="0" smtClean="0"/>
              <a:t>Must launch Nios II command shell</a:t>
            </a:r>
          </a:p>
          <a:p>
            <a:pPr lvl="2" eaLnBrk="1" hangingPunct="1"/>
            <a:r>
              <a:rPr lang="en-US" dirty="0" smtClean="0"/>
              <a:t>Launch from Program </a:t>
            </a:r>
            <a:r>
              <a:rPr lang="en-US" dirty="0" smtClean="0">
                <a:sym typeface="Wingdings" pitchFamily="2" charset="2"/>
              </a:rPr>
              <a:t> </a:t>
            </a:r>
            <a:r>
              <a:rPr lang="en-US" dirty="0" err="1" smtClean="0">
                <a:sym typeface="Wingdings" pitchFamily="2" charset="2"/>
              </a:rPr>
              <a:t>Intel_FPGA</a:t>
            </a:r>
            <a:r>
              <a:rPr lang="en-US" dirty="0" smtClean="0">
                <a:sym typeface="Wingdings" pitchFamily="2" charset="2"/>
              </a:rPr>
              <a:t>  </a:t>
            </a:r>
            <a:r>
              <a:rPr lang="en-US" dirty="0" err="1" smtClean="0">
                <a:sym typeface="Wingdings" pitchFamily="2" charset="2"/>
              </a:rPr>
              <a:t>NiosII</a:t>
            </a:r>
            <a:r>
              <a:rPr lang="en-US" dirty="0" smtClean="0">
                <a:sym typeface="Wingdings" pitchFamily="2" charset="2"/>
              </a:rPr>
              <a:t> </a:t>
            </a:r>
            <a:endParaRPr lang="en-US" dirty="0" smtClean="0"/>
          </a:p>
          <a:p>
            <a:pPr lvl="1" eaLnBrk="1" hangingPunct="1"/>
            <a:r>
              <a:rPr lang="en-US" dirty="0" smtClean="0"/>
              <a:t>Change directory to location of executable file</a:t>
            </a:r>
          </a:p>
          <a:p>
            <a:pPr lvl="2" eaLnBrk="1" hangingPunct="1"/>
            <a:r>
              <a:rPr lang="en-US" dirty="0" smtClean="0"/>
              <a:t>To dump help</a:t>
            </a:r>
          </a:p>
          <a:p>
            <a:pPr lvl="3" eaLnBrk="1" hangingPunct="1"/>
            <a:r>
              <a:rPr lang="en-US" b="1" dirty="0" smtClean="0">
                <a:solidFill>
                  <a:srgbClr val="FF0000"/>
                </a:solidFill>
              </a:rPr>
              <a:t>nios2-elf-objdump</a:t>
            </a:r>
          </a:p>
          <a:p>
            <a:pPr lvl="2" eaLnBrk="1" hangingPunct="1"/>
            <a:r>
              <a:rPr lang="en-US" dirty="0" smtClean="0"/>
              <a:t>Dump header locations</a:t>
            </a:r>
          </a:p>
          <a:p>
            <a:pPr lvl="3" eaLnBrk="1" hangingPunct="1"/>
            <a:r>
              <a:rPr lang="en-US" b="1" dirty="0">
                <a:solidFill>
                  <a:srgbClr val="FF0000"/>
                </a:solidFill>
              </a:rPr>
              <a:t>nios2-elf-objdump -h</a:t>
            </a:r>
          </a:p>
          <a:p>
            <a:pPr lvl="2" eaLnBrk="1" hangingPunct="1"/>
            <a:r>
              <a:rPr lang="en-US" dirty="0" smtClean="0"/>
              <a:t>Dump code source</a:t>
            </a:r>
            <a:endParaRPr lang="en-US" dirty="0"/>
          </a:p>
          <a:p>
            <a:pPr lvl="3" eaLnBrk="1" hangingPunct="1"/>
            <a:r>
              <a:rPr lang="en-US" b="1" dirty="0">
                <a:solidFill>
                  <a:srgbClr val="FF0000"/>
                </a:solidFill>
              </a:rPr>
              <a:t>nios2-elf-objdump </a:t>
            </a:r>
            <a:r>
              <a:rPr lang="en-US" b="1" dirty="0" smtClean="0">
                <a:solidFill>
                  <a:srgbClr val="FF0000"/>
                </a:solidFill>
              </a:rPr>
              <a:t>–S</a:t>
            </a:r>
            <a:endParaRPr lang="en-US" b="1" dirty="0">
              <a:solidFill>
                <a:srgbClr val="FF0000"/>
              </a:solidFill>
            </a:endParaRPr>
          </a:p>
        </p:txBody>
      </p:sp>
      <p:sp>
        <p:nvSpPr>
          <p:cNvPr id="4" name="Rectangle 3"/>
          <p:cNvSpPr/>
          <p:nvPr/>
        </p:nvSpPr>
        <p:spPr>
          <a:xfrm>
            <a:off x="7511163" y="1006752"/>
            <a:ext cx="1278876" cy="52322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800" b="1" cap="small" spc="50" dirty="0" smtClean="0">
                <a:ln w="11430">
                  <a:noFill/>
                </a:ln>
                <a:solidFill>
                  <a:srgbClr val="FF0000"/>
                </a:solidFill>
                <a:effectLst>
                  <a:outerShdw blurRad="38100" dist="38100" dir="2700000" algn="tl">
                    <a:srgbClr val="000000">
                      <a:alpha val="43137"/>
                    </a:srgbClr>
                  </a:outerShdw>
                </a:effectLst>
              </a:rPr>
              <a:t>Nios II</a:t>
            </a:r>
          </a:p>
        </p:txBody>
      </p:sp>
    </p:spTree>
    <p:extLst>
      <p:ext uri="{BB962C8B-B14F-4D97-AF65-F5344CB8AC3E}">
        <p14:creationId xmlns:p14="http://schemas.microsoft.com/office/powerpoint/2010/main" val="667045107"/>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1"/>
          <p:cNvSpPr>
            <a:spLocks noGrp="1"/>
          </p:cNvSpPr>
          <p:nvPr>
            <p:ph type="title"/>
          </p:nvPr>
        </p:nvSpPr>
        <p:spPr/>
        <p:txBody>
          <a:bodyPr/>
          <a:lstStyle/>
          <a:p>
            <a:r>
              <a:rPr lang="en-US" dirty="0" smtClean="0"/>
              <a:t>Object Files</a:t>
            </a:r>
          </a:p>
        </p:txBody>
      </p:sp>
      <p:sp>
        <p:nvSpPr>
          <p:cNvPr id="118787" name="Content Placeholder 2"/>
          <p:cNvSpPr>
            <a:spLocks noGrp="1"/>
          </p:cNvSpPr>
          <p:nvPr>
            <p:ph idx="1"/>
          </p:nvPr>
        </p:nvSpPr>
        <p:spPr>
          <a:xfrm>
            <a:off x="685800" y="1285220"/>
            <a:ext cx="8229600" cy="5039380"/>
          </a:xfrm>
        </p:spPr>
        <p:txBody>
          <a:bodyPr/>
          <a:lstStyle/>
          <a:p>
            <a:r>
              <a:rPr lang="en-US" dirty="0" smtClean="0"/>
              <a:t>nios2-elf-objdump</a:t>
            </a:r>
          </a:p>
          <a:p>
            <a:pPr lvl="1"/>
            <a:r>
              <a:rPr lang="en-US" dirty="0" smtClean="0"/>
              <a:t>Sample help screen</a:t>
            </a:r>
          </a:p>
        </p:txBody>
      </p:sp>
      <p:pic>
        <p:nvPicPr>
          <p:cNvPr id="118788" name="Picture 2"/>
          <p:cNvPicPr>
            <a:picLocks noChangeAspect="1" noChangeArrowheads="1"/>
          </p:cNvPicPr>
          <p:nvPr/>
        </p:nvPicPr>
        <p:blipFill>
          <a:blip r:embed="rId2" cstate="print"/>
          <a:srcRect/>
          <a:stretch>
            <a:fillRect/>
          </a:stretch>
        </p:blipFill>
        <p:spPr bwMode="auto">
          <a:xfrm>
            <a:off x="865392" y="2209800"/>
            <a:ext cx="7821408" cy="3429000"/>
          </a:xfrm>
          <a:prstGeom prst="rect">
            <a:avLst/>
          </a:prstGeom>
          <a:noFill/>
          <a:ln w="9525">
            <a:noFill/>
            <a:miter lim="800000"/>
            <a:headEnd/>
            <a:tailEnd/>
          </a:ln>
        </p:spPr>
      </p:pic>
      <p:sp>
        <p:nvSpPr>
          <p:cNvPr id="5" name="Rectangle 4"/>
          <p:cNvSpPr/>
          <p:nvPr/>
        </p:nvSpPr>
        <p:spPr>
          <a:xfrm>
            <a:off x="7782879" y="762000"/>
            <a:ext cx="1278876" cy="52322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800" b="1" cap="small" spc="50" dirty="0" smtClean="0">
                <a:ln w="11430">
                  <a:noFill/>
                </a:ln>
                <a:solidFill>
                  <a:srgbClr val="FF0000"/>
                </a:solidFill>
                <a:effectLst>
                  <a:outerShdw blurRad="38100" dist="38100" dir="2700000" algn="tl">
                    <a:srgbClr val="000000">
                      <a:alpha val="43137"/>
                    </a:srgbClr>
                  </a:outerShdw>
                </a:effectLst>
              </a:rPr>
              <a:t>Nios II</a:t>
            </a:r>
          </a:p>
        </p:txBody>
      </p:sp>
    </p:spTree>
    <p:extLst>
      <p:ext uri="{BB962C8B-B14F-4D97-AF65-F5344CB8AC3E}">
        <p14:creationId xmlns:p14="http://schemas.microsoft.com/office/powerpoint/2010/main" val="25797279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1" name="Rectangle 3"/>
          <p:cNvSpPr>
            <a:spLocks noGrp="1" noChangeArrowheads="1"/>
          </p:cNvSpPr>
          <p:nvPr>
            <p:ph type="body" idx="1"/>
          </p:nvPr>
        </p:nvSpPr>
        <p:spPr>
          <a:xfrm>
            <a:off x="685800" y="762000"/>
            <a:ext cx="8229600" cy="838200"/>
          </a:xfrm>
        </p:spPr>
        <p:txBody>
          <a:bodyPr/>
          <a:lstStyle/>
          <a:p>
            <a:pPr eaLnBrk="1" hangingPunct="1"/>
            <a:r>
              <a:rPr lang="en-US" dirty="0" smtClean="0"/>
              <a:t>Dumping Object Files</a:t>
            </a:r>
          </a:p>
          <a:p>
            <a:pPr lvl="1" eaLnBrk="1" hangingPunct="1"/>
            <a:endParaRPr lang="en-US" dirty="0" smtClean="0"/>
          </a:p>
          <a:p>
            <a:pPr lvl="3" eaLnBrk="1" hangingPunct="1"/>
            <a:endParaRPr lang="en-US" sz="1800" dirty="0" smtClean="0"/>
          </a:p>
          <a:p>
            <a:pPr lvl="2" eaLnBrk="1" hangingPunct="1">
              <a:buFontTx/>
              <a:buNone/>
            </a:pPr>
            <a:endParaRPr lang="en-US" b="1" dirty="0" smtClean="0">
              <a:sym typeface="Wingdings" pitchFamily="2" charset="2"/>
            </a:endParaRPr>
          </a:p>
        </p:txBody>
      </p:sp>
      <p:sp>
        <p:nvSpPr>
          <p:cNvPr id="5" name="Rectangle 4"/>
          <p:cNvSpPr/>
          <p:nvPr/>
        </p:nvSpPr>
        <p:spPr>
          <a:xfrm>
            <a:off x="7782879" y="762000"/>
            <a:ext cx="1278876" cy="52322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800" b="1" cap="small" spc="50" dirty="0" smtClean="0">
                <a:ln w="11430">
                  <a:noFill/>
                </a:ln>
                <a:solidFill>
                  <a:srgbClr val="FF0000"/>
                </a:solidFill>
                <a:effectLst>
                  <a:outerShdw blurRad="38100" dist="38100" dir="2700000" algn="tl">
                    <a:srgbClr val="000000">
                      <a:alpha val="43137"/>
                    </a:srgbClr>
                  </a:outerShdw>
                </a:effectLst>
              </a:rPr>
              <a:t>Nios II</a:t>
            </a:r>
          </a:p>
        </p:txBody>
      </p:sp>
      <p:pic>
        <p:nvPicPr>
          <p:cNvPr id="1659905" name="Picture 1"/>
          <p:cNvPicPr>
            <a:picLocks noChangeAspect="1" noChangeArrowheads="1"/>
          </p:cNvPicPr>
          <p:nvPr/>
        </p:nvPicPr>
        <p:blipFill>
          <a:blip r:embed="rId2" cstate="print"/>
          <a:srcRect/>
          <a:stretch>
            <a:fillRect/>
          </a:stretch>
        </p:blipFill>
        <p:spPr bwMode="auto">
          <a:xfrm>
            <a:off x="2438400" y="1219201"/>
            <a:ext cx="6019800" cy="5196949"/>
          </a:xfrm>
          <a:prstGeom prst="rect">
            <a:avLst/>
          </a:prstGeom>
          <a:noFill/>
          <a:ln w="9525">
            <a:noFill/>
            <a:miter lim="800000"/>
            <a:headEnd/>
            <a:tailEnd/>
          </a:ln>
        </p:spPr>
      </p:pic>
      <p:sp>
        <p:nvSpPr>
          <p:cNvPr id="7" name="Rectangle 6"/>
          <p:cNvSpPr/>
          <p:nvPr/>
        </p:nvSpPr>
        <p:spPr>
          <a:xfrm>
            <a:off x="4724400" y="1876807"/>
            <a:ext cx="5334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p:cNvCxnSpPr>
            <a:stCxn id="10" idx="3"/>
          </p:cNvCxnSpPr>
          <p:nvPr/>
        </p:nvCxnSpPr>
        <p:spPr>
          <a:xfrm>
            <a:off x="2362200" y="1816388"/>
            <a:ext cx="1600200" cy="60419"/>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85800" y="1524000"/>
            <a:ext cx="1676400" cy="584775"/>
          </a:xfrm>
          <a:prstGeom prst="rect">
            <a:avLst/>
          </a:prstGeom>
          <a:noFill/>
          <a:ln>
            <a:solidFill>
              <a:srgbClr val="FF0000"/>
            </a:solidFill>
          </a:ln>
        </p:spPr>
        <p:txBody>
          <a:bodyPr wrap="square" rtlCol="0">
            <a:spAutoFit/>
          </a:bodyPr>
          <a:lstStyle/>
          <a:p>
            <a:r>
              <a:rPr lang="en-US" sz="1600" dirty="0" smtClean="0"/>
              <a:t>Size of section in bytes</a:t>
            </a:r>
            <a:endParaRPr lang="en-US" sz="1600" dirty="0"/>
          </a:p>
        </p:txBody>
      </p:sp>
      <p:sp>
        <p:nvSpPr>
          <p:cNvPr id="13" name="Rectangle 12"/>
          <p:cNvSpPr/>
          <p:nvPr/>
        </p:nvSpPr>
        <p:spPr>
          <a:xfrm>
            <a:off x="3962400" y="1861458"/>
            <a:ext cx="5334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09600" y="2438400"/>
            <a:ext cx="1828800" cy="584775"/>
          </a:xfrm>
          <a:prstGeom prst="rect">
            <a:avLst/>
          </a:prstGeom>
          <a:noFill/>
          <a:ln>
            <a:solidFill>
              <a:srgbClr val="FF0000"/>
            </a:solidFill>
          </a:ln>
        </p:spPr>
        <p:txBody>
          <a:bodyPr wrap="square" rtlCol="0">
            <a:spAutoFit/>
          </a:bodyPr>
          <a:lstStyle/>
          <a:p>
            <a:r>
              <a:rPr lang="en-US" sz="1600" dirty="0" smtClean="0"/>
              <a:t>Virtual Memory Address</a:t>
            </a:r>
            <a:endParaRPr lang="en-US" sz="1600" dirty="0"/>
          </a:p>
        </p:txBody>
      </p:sp>
      <p:cxnSp>
        <p:nvCxnSpPr>
          <p:cNvPr id="15" name="Straight Arrow Connector 14"/>
          <p:cNvCxnSpPr>
            <a:stCxn id="14" idx="3"/>
          </p:cNvCxnSpPr>
          <p:nvPr/>
        </p:nvCxnSpPr>
        <p:spPr>
          <a:xfrm flipV="1">
            <a:off x="2438400" y="2057400"/>
            <a:ext cx="2438400" cy="673388"/>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257800" y="804446"/>
            <a:ext cx="2286000" cy="338554"/>
          </a:xfrm>
          <a:prstGeom prst="rect">
            <a:avLst/>
          </a:prstGeom>
          <a:noFill/>
          <a:ln>
            <a:solidFill>
              <a:srgbClr val="FF0000"/>
            </a:solidFill>
          </a:ln>
        </p:spPr>
        <p:txBody>
          <a:bodyPr wrap="square" rtlCol="0">
            <a:spAutoFit/>
          </a:bodyPr>
          <a:lstStyle/>
          <a:p>
            <a:r>
              <a:rPr lang="en-US" sz="1600" dirty="0" smtClean="0"/>
              <a:t>Load Memory Address</a:t>
            </a:r>
            <a:endParaRPr lang="en-US" sz="1600" dirty="0"/>
          </a:p>
        </p:txBody>
      </p:sp>
      <p:sp>
        <p:nvSpPr>
          <p:cNvPr id="19" name="Rectangle 18"/>
          <p:cNvSpPr/>
          <p:nvPr/>
        </p:nvSpPr>
        <p:spPr>
          <a:xfrm>
            <a:off x="5638800" y="1872344"/>
            <a:ext cx="533400" cy="152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p:cNvCxnSpPr>
            <a:stCxn id="18" idx="2"/>
            <a:endCxn id="19" idx="0"/>
          </p:cNvCxnSpPr>
          <p:nvPr/>
        </p:nvCxnSpPr>
        <p:spPr>
          <a:xfrm flipH="1">
            <a:off x="5905500" y="1143000"/>
            <a:ext cx="495300" cy="729344"/>
          </a:xfrm>
          <a:prstGeom prst="straightConnector1">
            <a:avLst/>
          </a:prstGeom>
          <a:ln w="22225">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0585539"/>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en-US" dirty="0" smtClean="0"/>
              <a:t>Object File</a:t>
            </a:r>
          </a:p>
        </p:txBody>
      </p:sp>
      <p:sp>
        <p:nvSpPr>
          <p:cNvPr id="120835" name="Rectangle 3"/>
          <p:cNvSpPr>
            <a:spLocks noGrp="1" noChangeArrowheads="1"/>
          </p:cNvSpPr>
          <p:nvPr>
            <p:ph type="body" idx="1"/>
          </p:nvPr>
        </p:nvSpPr>
        <p:spPr/>
        <p:txBody>
          <a:bodyPr/>
          <a:lstStyle/>
          <a:p>
            <a:pPr eaLnBrk="1" hangingPunct="1"/>
            <a:r>
              <a:rPr lang="en-US" dirty="0" smtClean="0"/>
              <a:t>Dumping Object Files</a:t>
            </a:r>
          </a:p>
          <a:p>
            <a:pPr lvl="1" eaLnBrk="1" hangingPunct="1"/>
            <a:r>
              <a:rPr lang="en-US" altLang="ja-JP" dirty="0" smtClean="0">
                <a:ea typeface="MS PGothic" pitchFamily="34" charset="-128"/>
              </a:rPr>
              <a:t>The LMA and VMA may differ</a:t>
            </a:r>
          </a:p>
          <a:p>
            <a:pPr lvl="2" eaLnBrk="1" hangingPunct="1"/>
            <a:r>
              <a:rPr lang="en-US" altLang="ja-JP" dirty="0" smtClean="0">
                <a:ea typeface="MS PGothic" pitchFamily="34" charset="-128"/>
              </a:rPr>
              <a:t>ROM based system</a:t>
            </a:r>
          </a:p>
          <a:p>
            <a:pPr lvl="3" eaLnBrk="1" hangingPunct="1"/>
            <a:r>
              <a:rPr lang="en-US" altLang="ja-JP" sz="1800" dirty="0" smtClean="0">
                <a:ea typeface="MS PGothic" pitchFamily="34" charset="-128"/>
              </a:rPr>
              <a:t>Loading a data section into ROM and then copying it into RAM </a:t>
            </a:r>
          </a:p>
          <a:p>
            <a:pPr lvl="3" eaLnBrk="1" hangingPunct="1"/>
            <a:r>
              <a:rPr lang="en-US" altLang="ja-JP" sz="1800" dirty="0" smtClean="0">
                <a:ea typeface="MS PGothic" pitchFamily="34" charset="-128"/>
              </a:rPr>
              <a:t>LMA would be associated with the ROM </a:t>
            </a:r>
          </a:p>
          <a:p>
            <a:pPr lvl="3" eaLnBrk="1" hangingPunct="1"/>
            <a:r>
              <a:rPr lang="en-US" altLang="ja-JP" sz="1800" dirty="0" smtClean="0">
                <a:ea typeface="MS PGothic" pitchFamily="34" charset="-128"/>
              </a:rPr>
              <a:t>VMA associated with the RAM</a:t>
            </a:r>
            <a:endParaRPr lang="en-US" sz="1800" dirty="0" smtClean="0"/>
          </a:p>
          <a:p>
            <a:pPr lvl="3" eaLnBrk="1" hangingPunct="1"/>
            <a:endParaRPr lang="en-US" sz="1800" dirty="0" smtClean="0"/>
          </a:p>
          <a:p>
            <a:pPr lvl="2" eaLnBrk="1" hangingPunct="1">
              <a:buFontTx/>
              <a:buNone/>
            </a:pPr>
            <a:endParaRPr lang="en-US" b="1" dirty="0" smtClean="0">
              <a:sym typeface="Wingdings" pitchFamily="2" charset="2"/>
            </a:endParaRPr>
          </a:p>
        </p:txBody>
      </p:sp>
      <p:pic>
        <p:nvPicPr>
          <p:cNvPr id="120836" name="Picture 1030"/>
          <p:cNvPicPr>
            <a:picLocks noChangeAspect="1" noChangeArrowheads="1"/>
          </p:cNvPicPr>
          <p:nvPr/>
        </p:nvPicPr>
        <p:blipFill>
          <a:blip r:embed="rId2" cstate="print"/>
          <a:srcRect/>
          <a:stretch>
            <a:fillRect/>
          </a:stretch>
        </p:blipFill>
        <p:spPr bwMode="auto">
          <a:xfrm>
            <a:off x="911225" y="3743326"/>
            <a:ext cx="7775575" cy="2428875"/>
          </a:xfrm>
          <a:prstGeom prst="rect">
            <a:avLst/>
          </a:prstGeom>
          <a:noFill/>
          <a:ln w="9525">
            <a:noFill/>
            <a:miter lim="800000"/>
            <a:headEnd/>
            <a:tailEnd/>
          </a:ln>
        </p:spPr>
      </p:pic>
      <p:sp>
        <p:nvSpPr>
          <p:cNvPr id="7" name="Rectangle 6"/>
          <p:cNvSpPr/>
          <p:nvPr/>
        </p:nvSpPr>
        <p:spPr>
          <a:xfrm>
            <a:off x="4076700" y="4597174"/>
            <a:ext cx="9906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ectangle 7"/>
          <p:cNvSpPr/>
          <p:nvPr/>
        </p:nvSpPr>
        <p:spPr>
          <a:xfrm>
            <a:off x="5391150" y="4597174"/>
            <a:ext cx="9906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Rectangle 8"/>
          <p:cNvSpPr/>
          <p:nvPr/>
        </p:nvSpPr>
        <p:spPr>
          <a:xfrm>
            <a:off x="7782879" y="762000"/>
            <a:ext cx="1278876" cy="52322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800" b="1" cap="small" spc="50" dirty="0" smtClean="0">
                <a:ln w="11430">
                  <a:noFill/>
                </a:ln>
                <a:solidFill>
                  <a:srgbClr val="FF0000"/>
                </a:solidFill>
                <a:effectLst>
                  <a:outerShdw blurRad="38100" dist="38100" dir="2700000" algn="tl">
                    <a:srgbClr val="000000">
                      <a:alpha val="43137"/>
                    </a:srgbClr>
                  </a:outerShdw>
                </a:effectLst>
              </a:rPr>
              <a:t>Nios II</a:t>
            </a:r>
          </a:p>
        </p:txBody>
      </p:sp>
    </p:spTree>
    <p:extLst>
      <p:ext uri="{BB962C8B-B14F-4D97-AF65-F5344CB8AC3E}">
        <p14:creationId xmlns:p14="http://schemas.microsoft.com/office/powerpoint/2010/main" val="3515810886"/>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en-US" dirty="0" smtClean="0"/>
              <a:t>Object File</a:t>
            </a:r>
          </a:p>
        </p:txBody>
      </p:sp>
      <p:sp>
        <p:nvSpPr>
          <p:cNvPr id="120835" name="Rectangle 3"/>
          <p:cNvSpPr>
            <a:spLocks noGrp="1" noChangeArrowheads="1"/>
          </p:cNvSpPr>
          <p:nvPr>
            <p:ph type="body" idx="1"/>
          </p:nvPr>
        </p:nvSpPr>
        <p:spPr/>
        <p:txBody>
          <a:bodyPr/>
          <a:lstStyle/>
          <a:p>
            <a:pPr eaLnBrk="1" hangingPunct="1"/>
            <a:r>
              <a:rPr lang="en-US" dirty="0" smtClean="0"/>
              <a:t>Dumping Object Files</a:t>
            </a:r>
          </a:p>
          <a:p>
            <a:pPr lvl="1" eaLnBrk="1" hangingPunct="1"/>
            <a:r>
              <a:rPr lang="en-US" dirty="0" smtClean="0"/>
              <a:t>Nios II SBTs generate *.</a:t>
            </a:r>
            <a:r>
              <a:rPr lang="en-US" b="1" dirty="0" err="1" smtClean="0"/>
              <a:t>objdump</a:t>
            </a:r>
            <a:r>
              <a:rPr lang="en-US" dirty="0" smtClean="0"/>
              <a:t> file</a:t>
            </a:r>
          </a:p>
          <a:p>
            <a:pPr lvl="2" eaLnBrk="1" hangingPunct="1"/>
            <a:r>
              <a:rPr lang="en-US" dirty="0" smtClean="0"/>
              <a:t>Text file located in your Nios II application directory</a:t>
            </a:r>
          </a:p>
          <a:p>
            <a:pPr lvl="2" eaLnBrk="1" hangingPunct="1"/>
            <a:r>
              <a:rPr lang="en-US" dirty="0" smtClean="0"/>
              <a:t>Provides information about your .elf such as</a:t>
            </a:r>
          </a:p>
          <a:p>
            <a:pPr lvl="3" eaLnBrk="1" hangingPunct="1"/>
            <a:r>
              <a:rPr lang="en-US" dirty="0" smtClean="0"/>
              <a:t>Information about the memory sections and their layout, </a:t>
            </a:r>
          </a:p>
          <a:p>
            <a:pPr lvl="3" eaLnBrk="1" hangingPunct="1"/>
            <a:r>
              <a:rPr lang="en-US" dirty="0" smtClean="0"/>
              <a:t>Addresses of functions, w/ C code interleaved w/ assembly</a:t>
            </a:r>
          </a:p>
          <a:p>
            <a:pPr lvl="2" eaLnBrk="1" hangingPunct="1"/>
            <a:r>
              <a:rPr lang="en-US" dirty="0" smtClean="0"/>
              <a:t>To enable right-click your application project and click </a:t>
            </a:r>
            <a:r>
              <a:rPr lang="en-US" b="1" i="1" dirty="0" smtClean="0"/>
              <a:t>Properties</a:t>
            </a:r>
          </a:p>
          <a:p>
            <a:pPr lvl="3" eaLnBrk="1" hangingPunct="1"/>
            <a:r>
              <a:rPr lang="en-US" dirty="0" smtClean="0"/>
              <a:t>Click Nios II </a:t>
            </a:r>
          </a:p>
          <a:p>
            <a:pPr lvl="4"/>
            <a:r>
              <a:rPr lang="en-US" dirty="0" smtClean="0"/>
              <a:t>Application Properties</a:t>
            </a:r>
          </a:p>
          <a:p>
            <a:pPr lvl="3" eaLnBrk="1" hangingPunct="1"/>
            <a:r>
              <a:rPr lang="en-US" dirty="0" smtClean="0"/>
              <a:t>On Properties page</a:t>
            </a:r>
          </a:p>
          <a:p>
            <a:pPr lvl="4"/>
            <a:r>
              <a:rPr lang="en-US" dirty="0" smtClean="0"/>
              <a:t> turn on Create object dump.</a:t>
            </a:r>
          </a:p>
          <a:p>
            <a:pPr lvl="3" eaLnBrk="1" hangingPunct="1">
              <a:buNone/>
            </a:pPr>
            <a:endParaRPr lang="en-US" dirty="0" smtClean="0"/>
          </a:p>
        </p:txBody>
      </p:sp>
      <p:sp>
        <p:nvSpPr>
          <p:cNvPr id="9" name="Rectangle 8"/>
          <p:cNvSpPr/>
          <p:nvPr/>
        </p:nvSpPr>
        <p:spPr>
          <a:xfrm>
            <a:off x="7782879" y="762000"/>
            <a:ext cx="1278876" cy="52322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800" b="1" cap="small" spc="50" dirty="0" smtClean="0">
                <a:ln w="11430">
                  <a:noFill/>
                </a:ln>
                <a:solidFill>
                  <a:srgbClr val="FF0000"/>
                </a:solidFill>
                <a:effectLst>
                  <a:outerShdw blurRad="38100" dist="38100" dir="2700000" algn="tl">
                    <a:srgbClr val="000000">
                      <a:alpha val="43137"/>
                    </a:srgbClr>
                  </a:outerShdw>
                </a:effectLst>
              </a:rPr>
              <a:t>Nios II</a:t>
            </a:r>
          </a:p>
        </p:txBody>
      </p:sp>
      <p:pic>
        <p:nvPicPr>
          <p:cNvPr id="1864707" name="Picture 3"/>
          <p:cNvPicPr>
            <a:picLocks noChangeAspect="1" noChangeArrowheads="1"/>
          </p:cNvPicPr>
          <p:nvPr/>
        </p:nvPicPr>
        <p:blipFill>
          <a:blip r:embed="rId2" cstate="print"/>
          <a:srcRect/>
          <a:stretch>
            <a:fillRect/>
          </a:stretch>
        </p:blipFill>
        <p:spPr bwMode="auto">
          <a:xfrm>
            <a:off x="5410200" y="3897244"/>
            <a:ext cx="3276600" cy="2166020"/>
          </a:xfrm>
          <a:prstGeom prst="rect">
            <a:avLst/>
          </a:prstGeom>
          <a:noFill/>
          <a:ln w="9525">
            <a:noFill/>
            <a:miter lim="800000"/>
            <a:headEnd/>
            <a:tailEnd/>
          </a:ln>
        </p:spPr>
      </p:pic>
    </p:spTree>
    <p:extLst>
      <p:ext uri="{BB962C8B-B14F-4D97-AF65-F5344CB8AC3E}">
        <p14:creationId xmlns:p14="http://schemas.microsoft.com/office/powerpoint/2010/main" val="87236089"/>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en-US" dirty="0" smtClean="0"/>
              <a:t>Map File</a:t>
            </a:r>
          </a:p>
        </p:txBody>
      </p:sp>
      <p:sp>
        <p:nvSpPr>
          <p:cNvPr id="120835" name="Rectangle 3"/>
          <p:cNvSpPr>
            <a:spLocks noGrp="1" noChangeArrowheads="1"/>
          </p:cNvSpPr>
          <p:nvPr>
            <p:ph type="body" idx="1"/>
          </p:nvPr>
        </p:nvSpPr>
        <p:spPr/>
        <p:txBody>
          <a:bodyPr/>
          <a:lstStyle/>
          <a:p>
            <a:r>
              <a:rPr lang="en-US" dirty="0" err="1" smtClean="0"/>
              <a:t>Nios</a:t>
            </a:r>
            <a:r>
              <a:rPr lang="en-US" dirty="0" smtClean="0"/>
              <a:t> II SBT generate *.</a:t>
            </a:r>
            <a:r>
              <a:rPr lang="en-US" b="1" dirty="0" smtClean="0"/>
              <a:t>map </a:t>
            </a:r>
            <a:r>
              <a:rPr lang="en-US" dirty="0" smtClean="0"/>
              <a:t>file</a:t>
            </a:r>
          </a:p>
          <a:p>
            <a:pPr lvl="1"/>
            <a:r>
              <a:rPr lang="en-US" dirty="0" smtClean="0"/>
              <a:t>Text file located in your Nios II application directory</a:t>
            </a:r>
          </a:p>
          <a:p>
            <a:pPr lvl="1"/>
            <a:r>
              <a:rPr lang="en-US" dirty="0" smtClean="0"/>
              <a:t>Provides information including which object files are included in the executable, the path to each object file, where objects and symbols are located in memory, and how the common symbols are allocated</a:t>
            </a:r>
          </a:p>
          <a:p>
            <a:pPr lvl="1"/>
            <a:r>
              <a:rPr lang="en-US" dirty="0" smtClean="0"/>
              <a:t>Good for finding variables in memory and peeking them for debug </a:t>
            </a:r>
          </a:p>
          <a:p>
            <a:pPr lvl="3" eaLnBrk="1" hangingPunct="1">
              <a:buNone/>
            </a:pPr>
            <a:endParaRPr lang="en-US" dirty="0" smtClean="0"/>
          </a:p>
        </p:txBody>
      </p:sp>
      <p:sp>
        <p:nvSpPr>
          <p:cNvPr id="9" name="Rectangle 8"/>
          <p:cNvSpPr/>
          <p:nvPr/>
        </p:nvSpPr>
        <p:spPr>
          <a:xfrm>
            <a:off x="7782879" y="762000"/>
            <a:ext cx="1278876" cy="523220"/>
          </a:xfrm>
          <a:prstGeom prst="rect">
            <a:avLst/>
          </a:prstGeom>
          <a:noFill/>
        </p:spPr>
        <p:txBody>
          <a:bodyPr wrap="none" lIns="91440" tIns="45720" rIns="91440" bIns="4572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en-US" sz="2800" b="1" cap="small" spc="50" dirty="0" smtClean="0">
                <a:ln w="11430">
                  <a:noFill/>
                </a:ln>
                <a:solidFill>
                  <a:srgbClr val="FF0000"/>
                </a:solidFill>
                <a:effectLst>
                  <a:outerShdw blurRad="38100" dist="38100" dir="2700000" algn="tl">
                    <a:srgbClr val="000000">
                      <a:alpha val="43137"/>
                    </a:srgbClr>
                  </a:outerShdw>
                </a:effectLst>
              </a:rPr>
              <a:t>Nios II</a:t>
            </a:r>
          </a:p>
        </p:txBody>
      </p:sp>
    </p:spTree>
    <p:extLst>
      <p:ext uri="{BB962C8B-B14F-4D97-AF65-F5344CB8AC3E}">
        <p14:creationId xmlns:p14="http://schemas.microsoft.com/office/powerpoint/2010/main" val="1343499443"/>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dirty="0" smtClean="0"/>
              <a:t>Embedded Software Considerations</a:t>
            </a:r>
          </a:p>
        </p:txBody>
      </p:sp>
      <p:sp>
        <p:nvSpPr>
          <p:cNvPr id="122883" name="Rectangle 4"/>
          <p:cNvSpPr>
            <a:spLocks noGrp="1" noChangeArrowheads="1"/>
          </p:cNvSpPr>
          <p:nvPr>
            <p:ph type="body" idx="1"/>
          </p:nvPr>
        </p:nvSpPr>
        <p:spPr/>
        <p:txBody>
          <a:bodyPr/>
          <a:lstStyle/>
          <a:p>
            <a:pPr eaLnBrk="1" hangingPunct="1"/>
            <a:r>
              <a:rPr lang="en-US" dirty="0" smtClean="0"/>
              <a:t>Compiler Optimizations</a:t>
            </a:r>
          </a:p>
          <a:p>
            <a:pPr lvl="1" eaLnBrk="1" hangingPunct="1"/>
            <a:r>
              <a:rPr lang="en-US" dirty="0" smtClean="0"/>
              <a:t>Procedure </a:t>
            </a:r>
            <a:r>
              <a:rPr lang="en-US" dirty="0" err="1" smtClean="0"/>
              <a:t>Inlining</a:t>
            </a:r>
            <a:endParaRPr lang="en-US" dirty="0" smtClean="0"/>
          </a:p>
          <a:p>
            <a:pPr lvl="2" eaLnBrk="1" hangingPunct="1"/>
            <a:r>
              <a:rPr lang="en-US" dirty="0" smtClean="0"/>
              <a:t>Replacing functions call with actual code to avoid overhead of call</a:t>
            </a:r>
          </a:p>
          <a:p>
            <a:pPr lvl="1" eaLnBrk="1" hangingPunct="1"/>
            <a:r>
              <a:rPr lang="en-US" dirty="0" smtClean="0"/>
              <a:t>Loop Unrolling</a:t>
            </a:r>
          </a:p>
          <a:p>
            <a:pPr lvl="2" eaLnBrk="1" hangingPunct="1"/>
            <a:r>
              <a:rPr lang="en-US" dirty="0" smtClean="0"/>
              <a:t>Replicating loop body &amp; reducing the loop counter</a:t>
            </a:r>
          </a:p>
          <a:p>
            <a:pPr lvl="3" eaLnBrk="1" hangingPunct="1"/>
            <a:r>
              <a:rPr lang="en-US" dirty="0" smtClean="0"/>
              <a:t>Must understand loop behavior </a:t>
            </a:r>
          </a:p>
          <a:p>
            <a:pPr lvl="2" eaLnBrk="1" hangingPunct="1"/>
            <a:r>
              <a:rPr lang="en-US" dirty="0" smtClean="0"/>
              <a:t>Reduces loop overhead (test and jump)</a:t>
            </a:r>
          </a:p>
          <a:p>
            <a:pPr lvl="2" eaLnBrk="1" hangingPunct="1"/>
            <a:r>
              <a:rPr lang="en-US" dirty="0" smtClean="0"/>
              <a:t>Example:</a:t>
            </a:r>
          </a:p>
          <a:p>
            <a:pPr lvl="3" eaLnBrk="1" hangingPunct="1">
              <a:buNone/>
            </a:pPr>
            <a:r>
              <a:rPr lang="en-US" b="1" i="0" dirty="0" smtClean="0">
                <a:solidFill>
                  <a:schemeClr val="accent6"/>
                </a:solidFill>
                <a:latin typeface="Courier New" pitchFamily="49" charset="0"/>
                <a:cs typeface="Courier New" pitchFamily="49" charset="0"/>
              </a:rPr>
              <a:t>for </a:t>
            </a:r>
            <a:r>
              <a:rPr lang="en-US" b="1" i="0" dirty="0" err="1" smtClean="0">
                <a:solidFill>
                  <a:schemeClr val="accent6"/>
                </a:solidFill>
                <a:latin typeface="Courier New" pitchFamily="49" charset="0"/>
                <a:cs typeface="Courier New" pitchFamily="49" charset="0"/>
              </a:rPr>
              <a:t>i</a:t>
            </a:r>
            <a:r>
              <a:rPr lang="en-US" b="1" i="0" dirty="0" smtClean="0">
                <a:solidFill>
                  <a:schemeClr val="accent6"/>
                </a:solidFill>
                <a:latin typeface="Courier New" pitchFamily="49" charset="0"/>
                <a:cs typeface="Courier New" pitchFamily="49" charset="0"/>
              </a:rPr>
              <a:t> = 1 to 10</a:t>
            </a:r>
          </a:p>
          <a:p>
            <a:pPr lvl="3" eaLnBrk="1" hangingPunct="1">
              <a:buNone/>
            </a:pPr>
            <a:r>
              <a:rPr lang="en-US" b="1" i="0" dirty="0" smtClean="0">
                <a:solidFill>
                  <a:schemeClr val="accent6"/>
                </a:solidFill>
                <a:latin typeface="Courier New" pitchFamily="49" charset="0"/>
                <a:cs typeface="Courier New" pitchFamily="49" charset="0"/>
              </a:rPr>
              <a:t>    &lt;do some work&gt;</a:t>
            </a:r>
          </a:p>
          <a:p>
            <a:pPr lvl="3">
              <a:buNone/>
            </a:pPr>
            <a:r>
              <a:rPr lang="en-US" i="1" dirty="0" smtClean="0"/>
              <a:t>after loop unrolling may become</a:t>
            </a:r>
          </a:p>
          <a:p>
            <a:pPr lvl="3" eaLnBrk="1" hangingPunct="1">
              <a:buNone/>
            </a:pPr>
            <a:r>
              <a:rPr lang="en-US" b="1" i="0" dirty="0" smtClean="0">
                <a:solidFill>
                  <a:schemeClr val="accent6"/>
                </a:solidFill>
                <a:latin typeface="Courier New" pitchFamily="49" charset="0"/>
                <a:cs typeface="Courier New" pitchFamily="49" charset="0"/>
              </a:rPr>
              <a:t>for </a:t>
            </a:r>
            <a:r>
              <a:rPr lang="en-US" b="1" i="0" dirty="0" err="1" smtClean="0">
                <a:solidFill>
                  <a:schemeClr val="accent6"/>
                </a:solidFill>
                <a:latin typeface="Courier New" pitchFamily="49" charset="0"/>
                <a:cs typeface="Courier New" pitchFamily="49" charset="0"/>
              </a:rPr>
              <a:t>i</a:t>
            </a:r>
            <a:r>
              <a:rPr lang="en-US" b="1" i="0" dirty="0" smtClean="0">
                <a:solidFill>
                  <a:schemeClr val="accent6"/>
                </a:solidFill>
                <a:latin typeface="Courier New" pitchFamily="49" charset="0"/>
                <a:cs typeface="Courier New" pitchFamily="49" charset="0"/>
              </a:rPr>
              <a:t> = 1 to 5</a:t>
            </a:r>
          </a:p>
          <a:p>
            <a:pPr lvl="3" eaLnBrk="1" hangingPunct="1">
              <a:buNone/>
            </a:pPr>
            <a:r>
              <a:rPr lang="en-US" b="1" i="0" dirty="0" smtClean="0">
                <a:solidFill>
                  <a:schemeClr val="accent6"/>
                </a:solidFill>
                <a:latin typeface="Courier New" pitchFamily="49" charset="0"/>
                <a:cs typeface="Courier New" pitchFamily="49" charset="0"/>
              </a:rPr>
              <a:t>    &lt;do some work&gt;</a:t>
            </a:r>
          </a:p>
          <a:p>
            <a:pPr lvl="3" eaLnBrk="1" hangingPunct="1">
              <a:buNone/>
            </a:pPr>
            <a:r>
              <a:rPr lang="en-US" b="1" i="0" dirty="0" smtClean="0">
                <a:solidFill>
                  <a:schemeClr val="accent6"/>
                </a:solidFill>
                <a:latin typeface="Courier New" pitchFamily="49" charset="0"/>
                <a:cs typeface="Courier New" pitchFamily="49" charset="0"/>
              </a:rPr>
              <a:t>    &lt;do some work&gt;</a:t>
            </a:r>
          </a:p>
          <a:p>
            <a:pPr lvl="2" eaLnBrk="1" hangingPunct="1"/>
            <a:endParaRPr lang="en-US" dirty="0" smtClean="0"/>
          </a:p>
        </p:txBody>
      </p:sp>
    </p:spTree>
    <p:extLst>
      <p:ext uri="{BB962C8B-B14F-4D97-AF65-F5344CB8AC3E}">
        <p14:creationId xmlns:p14="http://schemas.microsoft.com/office/powerpoint/2010/main" val="1343305551"/>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dirty="0" smtClean="0"/>
              <a:t>Embedded Software Considerations</a:t>
            </a:r>
          </a:p>
        </p:txBody>
      </p:sp>
      <p:sp>
        <p:nvSpPr>
          <p:cNvPr id="122883" name="Rectangle 4"/>
          <p:cNvSpPr>
            <a:spLocks noGrp="1" noChangeArrowheads="1"/>
          </p:cNvSpPr>
          <p:nvPr>
            <p:ph type="body" idx="1"/>
          </p:nvPr>
        </p:nvSpPr>
        <p:spPr>
          <a:xfrm>
            <a:off x="457200" y="1219202"/>
            <a:ext cx="8229600" cy="5319249"/>
          </a:xfrm>
        </p:spPr>
        <p:txBody>
          <a:bodyPr/>
          <a:lstStyle/>
          <a:p>
            <a:pPr eaLnBrk="1" hangingPunct="1"/>
            <a:r>
              <a:rPr lang="en-US" dirty="0" smtClean="0"/>
              <a:t>Compiler Optimizations</a:t>
            </a:r>
          </a:p>
          <a:p>
            <a:pPr lvl="1" eaLnBrk="1" hangingPunct="1"/>
            <a:r>
              <a:rPr lang="en-US" dirty="0" smtClean="0"/>
              <a:t>Common sub-expression elimination</a:t>
            </a:r>
          </a:p>
          <a:p>
            <a:pPr lvl="2" eaLnBrk="1" hangingPunct="1"/>
            <a:r>
              <a:rPr lang="en-US" dirty="0" smtClean="0"/>
              <a:t>Finding multiple instances of same expression and replace 2</a:t>
            </a:r>
            <a:r>
              <a:rPr lang="en-US" baseline="30000" dirty="0" smtClean="0"/>
              <a:t>nd</a:t>
            </a:r>
            <a:r>
              <a:rPr lang="en-US" dirty="0" smtClean="0"/>
              <a:t> reference with reference to first</a:t>
            </a:r>
          </a:p>
          <a:p>
            <a:pPr lvl="2" eaLnBrk="1" hangingPunct="1"/>
            <a:r>
              <a:rPr lang="en-US" dirty="0" smtClean="0"/>
              <a:t>Example:</a:t>
            </a:r>
          </a:p>
          <a:p>
            <a:pPr lvl="3" eaLnBrk="1" hangingPunct="1">
              <a:buNone/>
            </a:pPr>
            <a:r>
              <a:rPr lang="en-US" b="1" i="0" dirty="0" smtClean="0">
                <a:solidFill>
                  <a:schemeClr val="accent6"/>
                </a:solidFill>
                <a:latin typeface="Courier New" pitchFamily="49" charset="0"/>
                <a:cs typeface="Courier New" pitchFamily="49" charset="0"/>
              </a:rPr>
              <a:t>A = B * C + G</a:t>
            </a:r>
          </a:p>
          <a:p>
            <a:pPr lvl="3" eaLnBrk="1" hangingPunct="1">
              <a:buNone/>
            </a:pPr>
            <a:r>
              <a:rPr lang="en-US" b="1" i="0" dirty="0" smtClean="0">
                <a:solidFill>
                  <a:schemeClr val="accent6"/>
                </a:solidFill>
                <a:latin typeface="Courier New" pitchFamily="49" charset="0"/>
                <a:cs typeface="Courier New" pitchFamily="49" charset="0"/>
              </a:rPr>
              <a:t>E = B * C + M</a:t>
            </a:r>
          </a:p>
          <a:p>
            <a:pPr lvl="3">
              <a:buNone/>
            </a:pPr>
            <a:r>
              <a:rPr lang="en-US" dirty="0" smtClean="0"/>
              <a:t>after sub-expression elimination become</a:t>
            </a:r>
          </a:p>
          <a:p>
            <a:pPr lvl="3" eaLnBrk="1" hangingPunct="1">
              <a:buNone/>
            </a:pPr>
            <a:r>
              <a:rPr lang="en-US" b="1" i="0" dirty="0" smtClean="0">
                <a:solidFill>
                  <a:schemeClr val="accent6"/>
                </a:solidFill>
                <a:latin typeface="Courier New" pitchFamily="49" charset="0"/>
                <a:cs typeface="Courier New" pitchFamily="49" charset="0"/>
              </a:rPr>
              <a:t>X = B * C </a:t>
            </a:r>
          </a:p>
          <a:p>
            <a:pPr lvl="3" eaLnBrk="1" hangingPunct="1">
              <a:buNone/>
            </a:pPr>
            <a:r>
              <a:rPr lang="en-US" b="1" i="0" dirty="0" smtClean="0">
                <a:solidFill>
                  <a:schemeClr val="accent6"/>
                </a:solidFill>
                <a:latin typeface="Courier New" pitchFamily="49" charset="0"/>
                <a:cs typeface="Courier New" pitchFamily="49" charset="0"/>
              </a:rPr>
              <a:t>A = X + G</a:t>
            </a:r>
          </a:p>
          <a:p>
            <a:pPr lvl="3" eaLnBrk="1" hangingPunct="1">
              <a:buNone/>
            </a:pPr>
            <a:r>
              <a:rPr lang="en-US" b="1" i="0" dirty="0" smtClean="0">
                <a:solidFill>
                  <a:schemeClr val="accent6"/>
                </a:solidFill>
                <a:latin typeface="Courier New" pitchFamily="49" charset="0"/>
                <a:cs typeface="Courier New" pitchFamily="49" charset="0"/>
              </a:rPr>
              <a:t>E = X + M</a:t>
            </a:r>
          </a:p>
          <a:p>
            <a:pPr lvl="1" eaLnBrk="1" hangingPunct="1"/>
            <a:r>
              <a:rPr lang="en-US" dirty="0" smtClean="0"/>
              <a:t>Strength reduction</a:t>
            </a:r>
          </a:p>
          <a:p>
            <a:pPr lvl="2" eaLnBrk="1" hangingPunct="1"/>
            <a:r>
              <a:rPr lang="en-US" dirty="0" smtClean="0"/>
              <a:t>Replacing complex operations with simpler operations</a:t>
            </a:r>
          </a:p>
          <a:p>
            <a:pPr lvl="2" eaLnBrk="1" hangingPunct="1"/>
            <a:r>
              <a:rPr lang="en-US" dirty="0" smtClean="0"/>
              <a:t>Machine dependent</a:t>
            </a:r>
          </a:p>
          <a:p>
            <a:pPr lvl="2" eaLnBrk="1" hangingPunct="1"/>
            <a:r>
              <a:rPr lang="en-US" dirty="0" smtClean="0"/>
              <a:t>Ex: Replacing multiply with a shift</a:t>
            </a:r>
          </a:p>
        </p:txBody>
      </p:sp>
    </p:spTree>
    <p:extLst>
      <p:ext uri="{BB962C8B-B14F-4D97-AF65-F5344CB8AC3E}">
        <p14:creationId xmlns:p14="http://schemas.microsoft.com/office/powerpoint/2010/main" val="3925832972"/>
      </p:ext>
    </p:extLst>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pPr eaLnBrk="1" hangingPunct="1"/>
            <a:r>
              <a:rPr lang="en-US" dirty="0" smtClean="0"/>
              <a:t>Embedded Software Considerations</a:t>
            </a:r>
          </a:p>
        </p:txBody>
      </p:sp>
      <p:sp>
        <p:nvSpPr>
          <p:cNvPr id="123907" name="Rectangle 3"/>
          <p:cNvSpPr>
            <a:spLocks noGrp="1" noChangeArrowheads="1"/>
          </p:cNvSpPr>
          <p:nvPr>
            <p:ph type="body" idx="1"/>
          </p:nvPr>
        </p:nvSpPr>
        <p:spPr/>
        <p:txBody>
          <a:bodyPr/>
          <a:lstStyle/>
          <a:p>
            <a:pPr eaLnBrk="1" hangingPunct="1"/>
            <a:r>
              <a:rPr lang="en-US" dirty="0" smtClean="0"/>
              <a:t>Compiler Optimizations</a:t>
            </a:r>
          </a:p>
          <a:p>
            <a:pPr lvl="1" eaLnBrk="1" hangingPunct="1"/>
            <a:r>
              <a:rPr lang="en-US" dirty="0" smtClean="0"/>
              <a:t>Dead Store Eliminations</a:t>
            </a:r>
          </a:p>
          <a:p>
            <a:pPr lvl="2" eaLnBrk="1" hangingPunct="1"/>
            <a:r>
              <a:rPr lang="en-US" dirty="0" smtClean="0"/>
              <a:t>Removing stored values that are not used</a:t>
            </a:r>
          </a:p>
          <a:p>
            <a:pPr lvl="2" eaLnBrk="1" hangingPunct="1"/>
            <a:r>
              <a:rPr lang="en-US" dirty="0" smtClean="0"/>
              <a:t>Eliminates overhead of doing store</a:t>
            </a:r>
          </a:p>
          <a:p>
            <a:pPr lvl="1" eaLnBrk="1" hangingPunct="1"/>
            <a:r>
              <a:rPr lang="en-US" dirty="0" smtClean="0"/>
              <a:t>Dead Code Eliminations</a:t>
            </a:r>
          </a:p>
          <a:p>
            <a:pPr lvl="2" eaLnBrk="1" hangingPunct="1"/>
            <a:r>
              <a:rPr lang="en-US" dirty="0" smtClean="0"/>
              <a:t>Removing Code that does not effect final result</a:t>
            </a:r>
          </a:p>
          <a:p>
            <a:pPr lvl="1" eaLnBrk="1" hangingPunct="1"/>
            <a:r>
              <a:rPr lang="en-US" dirty="0" smtClean="0"/>
              <a:t>Code Motion</a:t>
            </a:r>
          </a:p>
          <a:p>
            <a:pPr lvl="2" eaLnBrk="1" hangingPunct="1"/>
            <a:r>
              <a:rPr lang="en-US" dirty="0" smtClean="0"/>
              <a:t>Removing code from loops that doesn’t effect the loop</a:t>
            </a:r>
          </a:p>
          <a:p>
            <a:pPr lvl="2" eaLnBrk="1" hangingPunct="1"/>
            <a:r>
              <a:rPr lang="en-US" dirty="0" smtClean="0"/>
              <a:t>Ex:</a:t>
            </a:r>
          </a:p>
          <a:p>
            <a:pPr lvl="3" eaLnBrk="1" hangingPunct="1">
              <a:buFontTx/>
              <a:buNone/>
            </a:pPr>
            <a:r>
              <a:rPr lang="en-US" b="1" i="0" dirty="0" smtClean="0">
                <a:solidFill>
                  <a:srgbClr val="0000FF"/>
                </a:solidFill>
                <a:latin typeface="Courier New" pitchFamily="49" charset="0"/>
              </a:rPr>
              <a:t>Loop on I</a:t>
            </a:r>
          </a:p>
          <a:p>
            <a:pPr lvl="4" eaLnBrk="1" hangingPunct="1">
              <a:buFontTx/>
              <a:buNone/>
            </a:pPr>
            <a:r>
              <a:rPr lang="en-US" sz="1800" b="1" dirty="0" smtClean="0">
                <a:solidFill>
                  <a:srgbClr val="0000FF"/>
                </a:solidFill>
                <a:latin typeface="Courier New" pitchFamily="49" charset="0"/>
              </a:rPr>
              <a:t>A=B+C 	// can be moved above loop</a:t>
            </a:r>
          </a:p>
          <a:p>
            <a:pPr lvl="4" eaLnBrk="1" hangingPunct="1">
              <a:buFontTx/>
              <a:buNone/>
            </a:pPr>
            <a:r>
              <a:rPr lang="en-US" sz="1800" b="1" dirty="0" smtClean="0">
                <a:solidFill>
                  <a:srgbClr val="0000FF"/>
                </a:solidFill>
                <a:latin typeface="Courier New" pitchFamily="49" charset="0"/>
              </a:rPr>
              <a:t>D=A+X[</a:t>
            </a:r>
            <a:r>
              <a:rPr lang="en-US" sz="1800" b="1" dirty="0" err="1" smtClean="0">
                <a:solidFill>
                  <a:srgbClr val="0000FF"/>
                </a:solidFill>
                <a:latin typeface="Courier New" pitchFamily="49" charset="0"/>
              </a:rPr>
              <a:t>i</a:t>
            </a:r>
            <a:r>
              <a:rPr lang="en-US" sz="1800" b="1" dirty="0" smtClean="0">
                <a:solidFill>
                  <a:srgbClr val="0000FF"/>
                </a:solidFill>
                <a:latin typeface="Courier New" pitchFamily="49" charset="0"/>
              </a:rPr>
              <a:t>]</a:t>
            </a:r>
          </a:p>
          <a:p>
            <a:pPr lvl="3" eaLnBrk="1" hangingPunct="1">
              <a:buFontTx/>
              <a:buNone/>
            </a:pPr>
            <a:r>
              <a:rPr lang="en-US" b="1" i="0" dirty="0" smtClean="0">
                <a:solidFill>
                  <a:srgbClr val="0000FF"/>
                </a:solidFill>
                <a:latin typeface="Courier New" pitchFamily="49" charset="0"/>
              </a:rPr>
              <a:t>End loop</a:t>
            </a:r>
          </a:p>
        </p:txBody>
      </p:sp>
    </p:spTree>
    <p:extLst>
      <p:ext uri="{BB962C8B-B14F-4D97-AF65-F5344CB8AC3E}">
        <p14:creationId xmlns:p14="http://schemas.microsoft.com/office/powerpoint/2010/main" val="3133909255"/>
      </p:ext>
    </p:extLst>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en-US" dirty="0" smtClean="0"/>
              <a:t>Embedded Software Considerations</a:t>
            </a:r>
          </a:p>
        </p:txBody>
      </p:sp>
      <p:sp>
        <p:nvSpPr>
          <p:cNvPr id="124931" name="Rectangle 4"/>
          <p:cNvSpPr>
            <a:spLocks noGrp="1" noChangeArrowheads="1"/>
          </p:cNvSpPr>
          <p:nvPr>
            <p:ph type="body" idx="1"/>
          </p:nvPr>
        </p:nvSpPr>
        <p:spPr/>
        <p:txBody>
          <a:bodyPr/>
          <a:lstStyle/>
          <a:p>
            <a:pPr eaLnBrk="1" hangingPunct="1"/>
            <a:r>
              <a:rPr lang="en-US" dirty="0" smtClean="0"/>
              <a:t>Compiler Optimizations </a:t>
            </a:r>
          </a:p>
          <a:p>
            <a:pPr lvl="1" eaLnBrk="1" hangingPunct="1"/>
            <a:r>
              <a:rPr lang="en-US" dirty="0" smtClean="0"/>
              <a:t>Constant propagation </a:t>
            </a:r>
          </a:p>
          <a:p>
            <a:pPr lvl="2" eaLnBrk="1" hangingPunct="1"/>
            <a:r>
              <a:rPr lang="en-US" dirty="0" smtClean="0"/>
              <a:t>Replace all instances of a variable that is assigned a constant with constant</a:t>
            </a:r>
          </a:p>
          <a:p>
            <a:pPr lvl="2" eaLnBrk="1" hangingPunct="1"/>
            <a:r>
              <a:rPr lang="en-US" dirty="0" smtClean="0"/>
              <a:t>Ex:</a:t>
            </a:r>
          </a:p>
          <a:p>
            <a:pPr lvl="3" eaLnBrk="1" hangingPunct="1">
              <a:buFontTx/>
              <a:buNone/>
            </a:pPr>
            <a:r>
              <a:rPr lang="en-US" b="1" i="0" dirty="0" smtClean="0">
                <a:solidFill>
                  <a:srgbClr val="0000FF"/>
                </a:solidFill>
                <a:latin typeface="Courier New" pitchFamily="49" charset="0"/>
              </a:rPr>
              <a:t>X = 3;				      x = 3;</a:t>
            </a:r>
          </a:p>
          <a:p>
            <a:pPr lvl="3" eaLnBrk="1" hangingPunct="1">
              <a:buFontTx/>
              <a:buNone/>
            </a:pPr>
            <a:r>
              <a:rPr lang="en-US" b="1" i="0" dirty="0" smtClean="0">
                <a:solidFill>
                  <a:srgbClr val="0000FF"/>
                </a:solidFill>
                <a:latin typeface="Courier New" pitchFamily="49" charset="0"/>
              </a:rPr>
              <a:t>Y = X + 4			      Y = 7;</a:t>
            </a:r>
            <a:endParaRPr lang="en-US" dirty="0" smtClean="0"/>
          </a:p>
          <a:p>
            <a:pPr lvl="1" eaLnBrk="1" hangingPunct="1"/>
            <a:r>
              <a:rPr lang="en-US" dirty="0" smtClean="0"/>
              <a:t>Copy propagation</a:t>
            </a:r>
          </a:p>
          <a:p>
            <a:pPr lvl="2" eaLnBrk="1" hangingPunct="1"/>
            <a:r>
              <a:rPr lang="en-US" dirty="0" smtClean="0"/>
              <a:t>Copy variable value to avoid re-loading value</a:t>
            </a:r>
          </a:p>
          <a:p>
            <a:pPr lvl="2" eaLnBrk="1" hangingPunct="1"/>
            <a:r>
              <a:rPr lang="en-US" dirty="0" smtClean="0"/>
              <a:t>Ex:</a:t>
            </a:r>
          </a:p>
          <a:p>
            <a:pPr lvl="3" eaLnBrk="1" hangingPunct="1">
              <a:buFontTx/>
              <a:buNone/>
            </a:pPr>
            <a:r>
              <a:rPr lang="en-US" b="1" i="0" dirty="0" smtClean="0">
                <a:solidFill>
                  <a:srgbClr val="0000FF"/>
                </a:solidFill>
                <a:latin typeface="Courier New" pitchFamily="49" charset="0"/>
              </a:rPr>
              <a:t>Y = X;				</a:t>
            </a:r>
          </a:p>
          <a:p>
            <a:pPr lvl="3" eaLnBrk="1" hangingPunct="1">
              <a:buFontTx/>
              <a:buNone/>
            </a:pPr>
            <a:r>
              <a:rPr lang="en-US" b="1" i="0" dirty="0" smtClean="0">
                <a:solidFill>
                  <a:srgbClr val="0000FF"/>
                </a:solidFill>
                <a:latin typeface="Courier New" pitchFamily="49" charset="0"/>
              </a:rPr>
              <a:t>Z = Y + 4			    Z = X + 4;</a:t>
            </a:r>
            <a:endParaRPr lang="en-US" dirty="0" smtClean="0"/>
          </a:p>
          <a:p>
            <a:pPr lvl="1" eaLnBrk="1" hangingPunct="1"/>
            <a:r>
              <a:rPr lang="en-US" dirty="0" smtClean="0"/>
              <a:t>Pipeline Scheduling</a:t>
            </a:r>
          </a:p>
          <a:p>
            <a:pPr lvl="2" eaLnBrk="1" hangingPunct="1"/>
            <a:r>
              <a:rPr lang="en-US" dirty="0" smtClean="0"/>
              <a:t>Reordering instructions to improve pipeline scheduling</a:t>
            </a:r>
          </a:p>
        </p:txBody>
      </p:sp>
      <p:sp>
        <p:nvSpPr>
          <p:cNvPr id="5" name="TextBox 4"/>
          <p:cNvSpPr txBox="1"/>
          <p:nvPr/>
        </p:nvSpPr>
        <p:spPr>
          <a:xfrm>
            <a:off x="2786744" y="3069771"/>
            <a:ext cx="2895600" cy="369332"/>
          </a:xfrm>
          <a:prstGeom prst="rect">
            <a:avLst/>
          </a:prstGeom>
          <a:noFill/>
        </p:spPr>
        <p:txBody>
          <a:bodyPr wrap="square" rtlCol="0">
            <a:spAutoFit/>
          </a:bodyPr>
          <a:lstStyle/>
          <a:p>
            <a:r>
              <a:rPr lang="en-US" dirty="0" smtClean="0">
                <a:sym typeface="Wingdings" pitchFamily="2" charset="2"/>
              </a:rPr>
              <a:t> </a:t>
            </a:r>
            <a:r>
              <a:rPr lang="en-US" dirty="0" smtClean="0"/>
              <a:t>Becomes </a:t>
            </a:r>
            <a:r>
              <a:rPr lang="en-US" dirty="0" smtClean="0">
                <a:sym typeface="Wingdings" pitchFamily="2" charset="2"/>
              </a:rPr>
              <a:t></a:t>
            </a:r>
            <a:endParaRPr lang="en-US" dirty="0"/>
          </a:p>
        </p:txBody>
      </p:sp>
      <p:sp>
        <p:nvSpPr>
          <p:cNvPr id="6" name="TextBox 5"/>
          <p:cNvSpPr txBox="1"/>
          <p:nvPr/>
        </p:nvSpPr>
        <p:spPr>
          <a:xfrm>
            <a:off x="2884714" y="4920340"/>
            <a:ext cx="1828800" cy="369332"/>
          </a:xfrm>
          <a:prstGeom prst="rect">
            <a:avLst/>
          </a:prstGeom>
          <a:noFill/>
        </p:spPr>
        <p:txBody>
          <a:bodyPr wrap="square" rtlCol="0">
            <a:spAutoFit/>
          </a:bodyPr>
          <a:lstStyle/>
          <a:p>
            <a:r>
              <a:rPr lang="en-US" dirty="0" smtClean="0">
                <a:sym typeface="Wingdings" pitchFamily="2" charset="2"/>
              </a:rPr>
              <a:t> </a:t>
            </a:r>
            <a:r>
              <a:rPr lang="en-US" dirty="0" smtClean="0"/>
              <a:t>Becomes </a:t>
            </a:r>
            <a:r>
              <a:rPr lang="en-US" dirty="0" smtClean="0">
                <a:sym typeface="Wingdings" pitchFamily="2" charset="2"/>
              </a:rPr>
              <a:t></a:t>
            </a:r>
            <a:endParaRPr lang="en-US" dirty="0"/>
          </a:p>
        </p:txBody>
      </p:sp>
    </p:spTree>
    <p:extLst>
      <p:ext uri="{BB962C8B-B14F-4D97-AF65-F5344CB8AC3E}">
        <p14:creationId xmlns:p14="http://schemas.microsoft.com/office/powerpoint/2010/main" val="1903047755"/>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ChangeArrowheads="1"/>
          </p:cNvSpPr>
          <p:nvPr>
            <p:ph type="title"/>
          </p:nvPr>
        </p:nvSpPr>
        <p:spPr/>
        <p:txBody>
          <a:bodyPr/>
          <a:lstStyle/>
          <a:p>
            <a:pPr eaLnBrk="1" hangingPunct="1"/>
            <a:r>
              <a:rPr lang="en-US" dirty="0" smtClean="0"/>
              <a:t>Embedded Software Considerations</a:t>
            </a:r>
          </a:p>
        </p:txBody>
      </p:sp>
      <p:sp>
        <p:nvSpPr>
          <p:cNvPr id="124931" name="Rectangle 4"/>
          <p:cNvSpPr>
            <a:spLocks noGrp="1" noChangeArrowheads="1"/>
          </p:cNvSpPr>
          <p:nvPr>
            <p:ph type="body" idx="1"/>
          </p:nvPr>
        </p:nvSpPr>
        <p:spPr/>
        <p:txBody>
          <a:bodyPr/>
          <a:lstStyle/>
          <a:p>
            <a:pPr eaLnBrk="1" hangingPunct="1"/>
            <a:r>
              <a:rPr lang="en-US" dirty="0" smtClean="0"/>
              <a:t>When do you not want optimized code?</a:t>
            </a:r>
          </a:p>
          <a:p>
            <a:pPr lvl="1" eaLnBrk="1" hangingPunct="1"/>
            <a:r>
              <a:rPr lang="en-US" dirty="0" smtClean="0"/>
              <a:t>When debugging code</a:t>
            </a:r>
          </a:p>
          <a:p>
            <a:pPr lvl="2" eaLnBrk="1" hangingPunct="1"/>
            <a:r>
              <a:rPr lang="en-US" dirty="0" smtClean="0"/>
              <a:t>Not concern with speed of program</a:t>
            </a:r>
          </a:p>
          <a:p>
            <a:pPr lvl="2" eaLnBrk="1" hangingPunct="1"/>
            <a:r>
              <a:rPr lang="en-US" dirty="0" smtClean="0"/>
              <a:t>Want to be able to trace logical flow of program</a:t>
            </a:r>
          </a:p>
          <a:p>
            <a:pPr lvl="3" eaLnBrk="1" hangingPunct="1"/>
            <a:r>
              <a:rPr lang="en-US" dirty="0" smtClean="0"/>
              <a:t>Similar to functional simulation in VHDL</a:t>
            </a:r>
          </a:p>
          <a:p>
            <a:pPr lvl="1" eaLnBrk="1" hangingPunct="1"/>
            <a:r>
              <a:rPr lang="en-US" dirty="0" smtClean="0"/>
              <a:t>Conflicts with embedded design feature</a:t>
            </a:r>
          </a:p>
          <a:p>
            <a:pPr lvl="2" eaLnBrk="1" hangingPunct="1"/>
            <a:r>
              <a:rPr lang="en-US" dirty="0" smtClean="0"/>
              <a:t>Real-time response may require optimization for performance</a:t>
            </a:r>
          </a:p>
          <a:p>
            <a:pPr eaLnBrk="1" hangingPunct="1"/>
            <a:r>
              <a:rPr lang="en-US" dirty="0" smtClean="0"/>
              <a:t>Problems with optimized code</a:t>
            </a:r>
          </a:p>
          <a:p>
            <a:pPr lvl="1" eaLnBrk="1" hangingPunct="1"/>
            <a:r>
              <a:rPr lang="en-US" dirty="0" smtClean="0"/>
              <a:t>Code may work with no optimization but fails with compiler optimization is enabled</a:t>
            </a:r>
          </a:p>
          <a:p>
            <a:pPr lvl="1" eaLnBrk="1" hangingPunct="1"/>
            <a:r>
              <a:rPr lang="en-US" dirty="0" smtClean="0"/>
              <a:t>Most common problem is missing volatile type qualifier</a:t>
            </a:r>
          </a:p>
          <a:p>
            <a:pPr lvl="3" eaLnBrk="1" hangingPunct="1"/>
            <a:endParaRPr lang="en-US" dirty="0" smtClean="0"/>
          </a:p>
        </p:txBody>
      </p:sp>
    </p:spTree>
    <p:extLst>
      <p:ext uri="{BB962C8B-B14F-4D97-AF65-F5344CB8AC3E}">
        <p14:creationId xmlns:p14="http://schemas.microsoft.com/office/powerpoint/2010/main" val="1659592322"/>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eaLnBrk="1" hangingPunct="1"/>
            <a:r>
              <a:rPr lang="en-US" dirty="0" smtClean="0"/>
              <a:t>Embedded Software Considerations</a:t>
            </a:r>
          </a:p>
        </p:txBody>
      </p:sp>
      <p:sp>
        <p:nvSpPr>
          <p:cNvPr id="122883" name="Rectangle 4"/>
          <p:cNvSpPr>
            <a:spLocks noGrp="1" noChangeArrowheads="1"/>
          </p:cNvSpPr>
          <p:nvPr>
            <p:ph type="body" idx="1"/>
          </p:nvPr>
        </p:nvSpPr>
        <p:spPr/>
        <p:txBody>
          <a:bodyPr/>
          <a:lstStyle/>
          <a:p>
            <a:pPr eaLnBrk="1" hangingPunct="1"/>
            <a:r>
              <a:rPr lang="en-US" dirty="0" smtClean="0"/>
              <a:t>Compiler Optimizations</a:t>
            </a:r>
          </a:p>
        </p:txBody>
      </p:sp>
      <p:pic>
        <p:nvPicPr>
          <p:cNvPr id="4" name="Picture 1"/>
          <p:cNvPicPr>
            <a:picLocks noChangeAspect="1" noChangeArrowheads="1"/>
          </p:cNvPicPr>
          <p:nvPr/>
        </p:nvPicPr>
        <p:blipFill>
          <a:blip r:embed="rId3" cstate="print"/>
          <a:srcRect/>
          <a:stretch>
            <a:fillRect/>
          </a:stretch>
        </p:blipFill>
        <p:spPr bwMode="auto">
          <a:xfrm>
            <a:off x="838200" y="1208550"/>
            <a:ext cx="7086600" cy="5192249"/>
          </a:xfrm>
          <a:prstGeom prst="rect">
            <a:avLst/>
          </a:prstGeom>
          <a:noFill/>
          <a:ln w="9525">
            <a:noFill/>
            <a:miter lim="800000"/>
            <a:headEnd/>
            <a:tailEnd/>
          </a:ln>
        </p:spPr>
      </p:pic>
      <p:sp>
        <p:nvSpPr>
          <p:cNvPr id="5" name="TextBox 4"/>
          <p:cNvSpPr txBox="1"/>
          <p:nvPr/>
        </p:nvSpPr>
        <p:spPr>
          <a:xfrm>
            <a:off x="5824514" y="1974574"/>
            <a:ext cx="3523343" cy="3880961"/>
          </a:xfrm>
          <a:prstGeom prst="roundRect">
            <a:avLst/>
          </a:prstGeom>
          <a:solidFill>
            <a:srgbClr val="00319E"/>
          </a:solidFill>
        </p:spPr>
        <p:txBody>
          <a:bodyPr wrap="square" rtlCol="0">
            <a:spAutoFit/>
          </a:bodyPr>
          <a:lstStyle/>
          <a:p>
            <a:pPr algn="ctr">
              <a:spcBef>
                <a:spcPct val="50000"/>
              </a:spcBef>
              <a:buClr>
                <a:schemeClr val="hlink"/>
              </a:buClr>
            </a:pPr>
            <a:r>
              <a:rPr lang="en-GB" b="1" dirty="0" err="1" smtClean="0">
                <a:solidFill>
                  <a:schemeClr val="bg1"/>
                </a:solidFill>
                <a:latin typeface="Courier New" pitchFamily="49" charset="0"/>
                <a:ea typeface="ＭＳ Ｐゴシック" pitchFamily="34" charset="-128"/>
                <a:cs typeface="Courier New" pitchFamily="49" charset="0"/>
              </a:rPr>
              <a:t>gcc</a:t>
            </a:r>
            <a:r>
              <a:rPr lang="en-GB" b="1" dirty="0" smtClean="0">
                <a:solidFill>
                  <a:schemeClr val="bg1"/>
                </a:solidFill>
                <a:ea typeface="ＭＳ Ｐゴシック" pitchFamily="34" charset="-128"/>
              </a:rPr>
              <a:t> Optimization Levels:</a:t>
            </a:r>
          </a:p>
          <a:p>
            <a:pPr>
              <a:spcBef>
                <a:spcPct val="30000"/>
              </a:spcBef>
              <a:buClr>
                <a:schemeClr val="hlink"/>
              </a:buClr>
              <a:buFont typeface="Arial" pitchFamily="34" charset="0"/>
              <a:buChar char="•"/>
            </a:pPr>
            <a:r>
              <a:rPr lang="en-US" sz="1600" b="1" dirty="0" smtClean="0">
                <a:solidFill>
                  <a:schemeClr val="bg1"/>
                </a:solidFill>
                <a:ea typeface="ＭＳ Ｐゴシック" pitchFamily="34" charset="-128"/>
              </a:rPr>
              <a:t> Off (-O0)</a:t>
            </a:r>
          </a:p>
          <a:p>
            <a:pPr lvl="1">
              <a:spcBef>
                <a:spcPct val="30000"/>
              </a:spcBef>
              <a:buClr>
                <a:schemeClr val="hlink"/>
              </a:buClr>
            </a:pPr>
            <a:r>
              <a:rPr lang="en-US" sz="1400" b="1" dirty="0" smtClean="0">
                <a:solidFill>
                  <a:schemeClr val="bg1"/>
                </a:solidFill>
                <a:ea typeface="ＭＳ Ｐゴシック" pitchFamily="34" charset="-128"/>
              </a:rPr>
              <a:t>-Fast compile</a:t>
            </a:r>
          </a:p>
          <a:p>
            <a:pPr>
              <a:spcBef>
                <a:spcPct val="30000"/>
              </a:spcBef>
              <a:buClr>
                <a:schemeClr val="hlink"/>
              </a:buClr>
              <a:buFont typeface="Arial" pitchFamily="34" charset="0"/>
              <a:buChar char="•"/>
            </a:pPr>
            <a:r>
              <a:rPr lang="en-US" sz="1600" b="1" dirty="0" smtClean="0">
                <a:solidFill>
                  <a:schemeClr val="bg1"/>
                </a:solidFill>
                <a:ea typeface="ＭＳ Ｐゴシック" pitchFamily="34" charset="-128"/>
              </a:rPr>
              <a:t> On and Level 1 (-O -O1)</a:t>
            </a:r>
          </a:p>
          <a:p>
            <a:pPr lvl="1">
              <a:spcBef>
                <a:spcPct val="30000"/>
              </a:spcBef>
              <a:buClr>
                <a:schemeClr val="hlink"/>
              </a:buClr>
            </a:pPr>
            <a:r>
              <a:rPr lang="en-US" sz="1400" b="1" dirty="0" smtClean="0">
                <a:solidFill>
                  <a:schemeClr val="bg1"/>
                </a:solidFill>
                <a:ea typeface="ＭＳ Ｐゴシック" pitchFamily="34" charset="-128"/>
              </a:rPr>
              <a:t>-Speed and size optimization</a:t>
            </a:r>
          </a:p>
          <a:p>
            <a:pPr>
              <a:spcBef>
                <a:spcPct val="30000"/>
              </a:spcBef>
              <a:buClr>
                <a:schemeClr val="hlink"/>
              </a:buClr>
              <a:buFont typeface="Arial" pitchFamily="34" charset="0"/>
              <a:buChar char="•"/>
            </a:pPr>
            <a:r>
              <a:rPr lang="en-US" sz="1600" b="1" dirty="0" smtClean="0">
                <a:solidFill>
                  <a:schemeClr val="bg1"/>
                </a:solidFill>
                <a:ea typeface="ＭＳ Ｐゴシック" pitchFamily="34" charset="-128"/>
              </a:rPr>
              <a:t> Level 2 (-O2)</a:t>
            </a:r>
          </a:p>
          <a:p>
            <a:pPr lvl="1">
              <a:spcBef>
                <a:spcPct val="30000"/>
              </a:spcBef>
              <a:buClr>
                <a:schemeClr val="hlink"/>
              </a:buClr>
            </a:pPr>
            <a:r>
              <a:rPr lang="en-US" sz="1600" b="1" dirty="0" smtClean="0">
                <a:solidFill>
                  <a:schemeClr val="bg1"/>
                </a:solidFill>
                <a:ea typeface="ＭＳ Ｐゴシック" pitchFamily="34" charset="-128"/>
              </a:rPr>
              <a:t>-</a:t>
            </a:r>
            <a:r>
              <a:rPr lang="en-US" sz="1400" b="1" dirty="0" smtClean="0">
                <a:solidFill>
                  <a:schemeClr val="bg1"/>
                </a:solidFill>
                <a:ea typeface="ＭＳ Ｐゴシック" pitchFamily="34" charset="-128"/>
              </a:rPr>
              <a:t>Full optimization without speed-space tradeoff</a:t>
            </a:r>
            <a:endParaRPr lang="en-US" sz="1600" b="1" dirty="0" smtClean="0">
              <a:solidFill>
                <a:schemeClr val="bg1"/>
              </a:solidFill>
              <a:ea typeface="ＭＳ Ｐゴシック" pitchFamily="34" charset="-128"/>
            </a:endParaRPr>
          </a:p>
          <a:p>
            <a:pPr>
              <a:spcBef>
                <a:spcPct val="20000"/>
              </a:spcBef>
              <a:buClr>
                <a:schemeClr val="hlink"/>
              </a:buClr>
              <a:buFont typeface="Arial" pitchFamily="34" charset="0"/>
              <a:buChar char="•"/>
            </a:pPr>
            <a:r>
              <a:rPr lang="en-US" sz="1600" b="1" dirty="0" smtClean="0">
                <a:solidFill>
                  <a:schemeClr val="bg1"/>
                </a:solidFill>
                <a:ea typeface="ＭＳ Ｐゴシック" pitchFamily="34" charset="-128"/>
              </a:rPr>
              <a:t> Level 3 (-O3)</a:t>
            </a:r>
          </a:p>
          <a:p>
            <a:pPr lvl="1">
              <a:spcBef>
                <a:spcPct val="20000"/>
              </a:spcBef>
              <a:buClr>
                <a:schemeClr val="hlink"/>
              </a:buClr>
            </a:pPr>
            <a:r>
              <a:rPr lang="en-US" sz="1400" b="1" dirty="0" smtClean="0">
                <a:solidFill>
                  <a:schemeClr val="bg1"/>
                </a:solidFill>
                <a:ea typeface="ＭＳ Ｐゴシック" pitchFamily="34" charset="-128"/>
              </a:rPr>
              <a:t>-Full optimization, larger size</a:t>
            </a:r>
          </a:p>
          <a:p>
            <a:pPr>
              <a:spcBef>
                <a:spcPct val="20000"/>
              </a:spcBef>
              <a:buClr>
                <a:schemeClr val="hlink"/>
              </a:buClr>
              <a:buFont typeface="Arial" pitchFamily="34" charset="0"/>
              <a:buChar char="•"/>
            </a:pPr>
            <a:r>
              <a:rPr lang="en-US" sz="1600" b="1" dirty="0" smtClean="0">
                <a:solidFill>
                  <a:schemeClr val="bg1"/>
                </a:solidFill>
                <a:ea typeface="ＭＳ Ｐゴシック" pitchFamily="34" charset="-128"/>
              </a:rPr>
              <a:t> Size (-Os)</a:t>
            </a:r>
          </a:p>
          <a:p>
            <a:pPr lvl="1">
              <a:spcBef>
                <a:spcPct val="20000"/>
              </a:spcBef>
              <a:buClr>
                <a:schemeClr val="hlink"/>
              </a:buClr>
            </a:pPr>
            <a:r>
              <a:rPr lang="en-US" sz="1400" b="1" dirty="0" smtClean="0">
                <a:solidFill>
                  <a:schemeClr val="bg1"/>
                </a:solidFill>
                <a:ea typeface="ＭＳ Ｐゴシック" pitchFamily="34" charset="-128"/>
              </a:rPr>
              <a:t>- Optimize space usage</a:t>
            </a:r>
            <a:r>
              <a:rPr lang="en-US" sz="1600" b="1" dirty="0" smtClean="0">
                <a:solidFill>
                  <a:schemeClr val="bg1"/>
                </a:solidFill>
                <a:ea typeface="ＭＳ Ｐゴシック" pitchFamily="34" charset="-128"/>
              </a:rPr>
              <a:t>	</a:t>
            </a:r>
          </a:p>
        </p:txBody>
      </p:sp>
      <p:cxnSp>
        <p:nvCxnSpPr>
          <p:cNvPr id="6" name="Straight Arrow Connector 5"/>
          <p:cNvCxnSpPr>
            <a:stCxn id="5" idx="1"/>
          </p:cNvCxnSpPr>
          <p:nvPr/>
        </p:nvCxnSpPr>
        <p:spPr bwMode="auto">
          <a:xfrm flipH="1">
            <a:off x="4372090" y="3915055"/>
            <a:ext cx="1452424" cy="612713"/>
          </a:xfrm>
          <a:prstGeom prst="straightConnector1">
            <a:avLst/>
          </a:prstGeom>
          <a:solidFill>
            <a:schemeClr val="accent1"/>
          </a:solidFill>
          <a:ln w="38100" cap="flat" cmpd="sng" algn="ctr">
            <a:solidFill>
              <a:srgbClr val="4F8A10"/>
            </a:solidFill>
            <a:prstDash val="solid"/>
            <a:round/>
            <a:headEnd type="none" w="med" len="med"/>
            <a:tailEnd type="arrow"/>
          </a:ln>
          <a:effectLst/>
        </p:spPr>
      </p:cxnSp>
      <p:sp>
        <p:nvSpPr>
          <p:cNvPr id="7" name="Oval 5"/>
          <p:cNvSpPr>
            <a:spLocks noChangeArrowheads="1"/>
          </p:cNvSpPr>
          <p:nvPr/>
        </p:nvSpPr>
        <p:spPr bwMode="auto">
          <a:xfrm>
            <a:off x="886353" y="2135840"/>
            <a:ext cx="1716313" cy="365760"/>
          </a:xfrm>
          <a:prstGeom prst="ellipse">
            <a:avLst/>
          </a:prstGeom>
          <a:noFill/>
          <a:ln w="38100" algn="ctr">
            <a:solidFill>
              <a:srgbClr val="4F8A10"/>
            </a:solidFill>
            <a:round/>
            <a:headEnd/>
            <a:tailEnd/>
          </a:ln>
          <a:effectLst/>
        </p:spPr>
        <p:txBody>
          <a:bodyPr wrap="square" lIns="92075" tIns="46038" rIns="92075" bIns="46038" anchor="ctr">
            <a:spAutoFit/>
          </a:bodyPr>
          <a:lstStyle/>
          <a:p>
            <a:endParaRPr lang="en-US"/>
          </a:p>
        </p:txBody>
      </p:sp>
    </p:spTree>
    <p:extLst>
      <p:ext uri="{BB962C8B-B14F-4D97-AF65-F5344CB8AC3E}">
        <p14:creationId xmlns:p14="http://schemas.microsoft.com/office/powerpoint/2010/main" val="6251254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Embedded Software Considerations</a:t>
            </a:r>
            <a:endParaRPr lang="en-US" dirty="0"/>
          </a:p>
        </p:txBody>
      </p:sp>
      <p:sp>
        <p:nvSpPr>
          <p:cNvPr id="3" name="Content Placeholder 2"/>
          <p:cNvSpPr>
            <a:spLocks noGrp="1"/>
          </p:cNvSpPr>
          <p:nvPr>
            <p:ph idx="1"/>
          </p:nvPr>
        </p:nvSpPr>
        <p:spPr/>
        <p:txBody>
          <a:bodyPr/>
          <a:lstStyle/>
          <a:p>
            <a:r>
              <a:rPr lang="en-US" dirty="0" smtClean="0"/>
              <a:t>Options for Code Footprint Reduction</a:t>
            </a:r>
          </a:p>
          <a:p>
            <a:pPr lvl="1"/>
            <a:r>
              <a:rPr lang="en-US" dirty="0" smtClean="0"/>
              <a:t>Enable Compiler size optimizations</a:t>
            </a:r>
          </a:p>
          <a:p>
            <a:pPr lvl="2"/>
            <a:r>
              <a:rPr lang="en-US" dirty="0" smtClean="0"/>
              <a:t>-</a:t>
            </a:r>
            <a:r>
              <a:rPr lang="en-US" dirty="0" err="1" smtClean="0"/>
              <a:t>Os</a:t>
            </a:r>
            <a:r>
              <a:rPr lang="en-US" dirty="0" smtClean="0"/>
              <a:t> or -03</a:t>
            </a:r>
          </a:p>
          <a:p>
            <a:pPr lvl="1"/>
            <a:r>
              <a:rPr lang="en-US" dirty="0" smtClean="0"/>
              <a:t>Use reduce device driver</a:t>
            </a:r>
          </a:p>
          <a:p>
            <a:pPr lvl="1"/>
            <a:r>
              <a:rPr lang="en-US" dirty="0" smtClean="0"/>
              <a:t>Use ANSI C library</a:t>
            </a:r>
          </a:p>
          <a:p>
            <a:pPr lvl="1"/>
            <a:r>
              <a:rPr lang="en-US" dirty="0" smtClean="0"/>
              <a:t>Remove clean exit</a:t>
            </a:r>
          </a:p>
          <a:p>
            <a:pPr lvl="2"/>
            <a:r>
              <a:rPr lang="en-US" dirty="0" smtClean="0"/>
              <a:t>If code runs forever then you don’t need clean exit</a:t>
            </a:r>
          </a:p>
          <a:p>
            <a:pPr lvl="1"/>
            <a:r>
              <a:rPr lang="en-US" dirty="0" smtClean="0"/>
              <a:t>Disable C++ support</a:t>
            </a:r>
          </a:p>
          <a:p>
            <a:pPr lvl="1"/>
            <a:r>
              <a:rPr lang="en-US" dirty="0" smtClean="0"/>
              <a:t>Enable lightweight device driver API</a:t>
            </a:r>
          </a:p>
          <a:p>
            <a:pPr lvl="2"/>
            <a:r>
              <a:rPr lang="en-US" dirty="0" smtClean="0"/>
              <a:t>Only </a:t>
            </a:r>
            <a:r>
              <a:rPr lang="en-US" dirty="0" err="1" smtClean="0"/>
              <a:t>stdin</a:t>
            </a:r>
            <a:r>
              <a:rPr lang="en-US" dirty="0" smtClean="0"/>
              <a:t>, </a:t>
            </a:r>
            <a:r>
              <a:rPr lang="en-US" dirty="0" err="1" smtClean="0"/>
              <a:t>stdout</a:t>
            </a:r>
            <a:r>
              <a:rPr lang="en-US" dirty="0" smtClean="0"/>
              <a:t> and </a:t>
            </a:r>
            <a:r>
              <a:rPr lang="en-US" dirty="0" err="1" smtClean="0"/>
              <a:t>stderrr</a:t>
            </a:r>
            <a:r>
              <a:rPr lang="en-US" dirty="0" smtClean="0"/>
              <a:t> file descriptor supported</a:t>
            </a:r>
          </a:p>
          <a:p>
            <a:pPr lvl="2"/>
            <a:endParaRPr lang="en-US" dirty="0" smtClean="0"/>
          </a:p>
          <a:p>
            <a:pPr lvl="2"/>
            <a:r>
              <a:rPr lang="en-US" b="1" i="0" dirty="0" smtClean="0">
                <a:solidFill>
                  <a:srgbClr val="0000FF"/>
                </a:solidFill>
                <a:latin typeface="Courier New" pitchFamily="49" charset="0"/>
                <a:cs typeface="Courier New" pitchFamily="49" charset="0"/>
              </a:rPr>
              <a:t>-</a:t>
            </a:r>
            <a:r>
              <a:rPr lang="en-US" b="1" i="0" dirty="0" err="1" smtClean="0">
                <a:solidFill>
                  <a:srgbClr val="0000FF"/>
                </a:solidFill>
                <a:latin typeface="Courier New" pitchFamily="49" charset="0"/>
                <a:cs typeface="Courier New" pitchFamily="49" charset="0"/>
              </a:rPr>
              <a:t>Os</a:t>
            </a:r>
            <a:r>
              <a:rPr lang="en-US" b="1" i="0" dirty="0" smtClean="0">
                <a:solidFill>
                  <a:srgbClr val="0000FF"/>
                </a:solidFill>
                <a:latin typeface="Courier New" pitchFamily="49" charset="0"/>
                <a:cs typeface="Courier New" pitchFamily="49" charset="0"/>
              </a:rPr>
              <a:t> or –O3</a:t>
            </a:r>
          </a:p>
          <a:p>
            <a:pPr lvl="1"/>
            <a:endParaRPr lang="en-US" b="1" i="0" dirty="0" smtClean="0">
              <a:solidFill>
                <a:srgbClr val="0000FF"/>
              </a:solidFill>
              <a:latin typeface="Courier New" pitchFamily="49" charset="0"/>
              <a:cs typeface="Courier New" pitchFamily="49" charset="0"/>
            </a:endParaRPr>
          </a:p>
        </p:txBody>
      </p:sp>
    </p:spTree>
    <p:extLst>
      <p:ext uri="{BB962C8B-B14F-4D97-AF65-F5344CB8AC3E}">
        <p14:creationId xmlns:p14="http://schemas.microsoft.com/office/powerpoint/2010/main" val="347130843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Embedded Software Considerations</a:t>
            </a:r>
            <a:endParaRPr lang="en-US" dirty="0"/>
          </a:p>
        </p:txBody>
      </p:sp>
      <p:sp>
        <p:nvSpPr>
          <p:cNvPr id="3" name="Content Placeholder 2"/>
          <p:cNvSpPr>
            <a:spLocks noGrp="1"/>
          </p:cNvSpPr>
          <p:nvPr>
            <p:ph idx="1"/>
          </p:nvPr>
        </p:nvSpPr>
        <p:spPr/>
        <p:txBody>
          <a:bodyPr/>
          <a:lstStyle/>
          <a:p>
            <a:r>
              <a:rPr lang="en-US" dirty="0" smtClean="0"/>
              <a:t>Good Practices</a:t>
            </a:r>
          </a:p>
          <a:p>
            <a:pPr lvl="1"/>
            <a:r>
              <a:rPr lang="en-US" dirty="0" smtClean="0"/>
              <a:t>Use volatile for registers and user input accesses</a:t>
            </a:r>
          </a:p>
          <a:p>
            <a:pPr lvl="1"/>
            <a:r>
              <a:rPr lang="en-US" dirty="0" smtClean="0"/>
              <a:t>Allocate memory in advance</a:t>
            </a:r>
          </a:p>
          <a:p>
            <a:pPr lvl="2"/>
            <a:r>
              <a:rPr lang="en-US" dirty="0" smtClean="0"/>
              <a:t>Good to bound memory required for application</a:t>
            </a:r>
          </a:p>
          <a:p>
            <a:pPr lvl="3"/>
            <a:r>
              <a:rPr lang="en-US" dirty="0" smtClean="0"/>
              <a:t>Define fixed arrays to hold data</a:t>
            </a:r>
          </a:p>
          <a:p>
            <a:pPr lvl="3"/>
            <a:r>
              <a:rPr lang="en-US" dirty="0" smtClean="0"/>
              <a:t>Avoid using </a:t>
            </a:r>
            <a:r>
              <a:rPr lang="en-US" b="1" dirty="0" err="1" smtClean="0"/>
              <a:t>malloc</a:t>
            </a:r>
            <a:r>
              <a:rPr lang="en-US" dirty="0" smtClean="0"/>
              <a:t> to allocate memory</a:t>
            </a:r>
          </a:p>
          <a:p>
            <a:pPr lvl="1"/>
            <a:r>
              <a:rPr lang="en-US" dirty="0" smtClean="0"/>
              <a:t>Control pointers offsets</a:t>
            </a:r>
          </a:p>
          <a:p>
            <a:pPr lvl="2"/>
            <a:r>
              <a:rPr lang="en-US" dirty="0" smtClean="0"/>
              <a:t>Check if offsets are in bounds</a:t>
            </a:r>
          </a:p>
          <a:p>
            <a:pPr lvl="2"/>
            <a:r>
              <a:rPr lang="en-US" dirty="0" smtClean="0"/>
              <a:t>Arrays help perform checks</a:t>
            </a:r>
          </a:p>
          <a:p>
            <a:pPr lvl="1"/>
            <a:r>
              <a:rPr lang="en-US" dirty="0" smtClean="0"/>
              <a:t>Place constants on left when performing check</a:t>
            </a:r>
          </a:p>
          <a:p>
            <a:pPr lvl="2"/>
            <a:r>
              <a:rPr lang="en-US" dirty="0" smtClean="0"/>
              <a:t>Ex: </a:t>
            </a:r>
          </a:p>
          <a:p>
            <a:pPr lvl="3">
              <a:buNone/>
            </a:pPr>
            <a:r>
              <a:rPr lang="en-US" b="1" i="0" dirty="0" smtClean="0">
                <a:solidFill>
                  <a:srgbClr val="0000FF"/>
                </a:solidFill>
                <a:latin typeface="Courier New" pitchFamily="49" charset="0"/>
                <a:cs typeface="Courier New" pitchFamily="49" charset="0"/>
              </a:rPr>
              <a:t>if (MAX_VALUE == variable)</a:t>
            </a:r>
          </a:p>
          <a:p>
            <a:pPr lvl="3">
              <a:buNone/>
            </a:pPr>
            <a:r>
              <a:rPr lang="en-US" dirty="0" smtClean="0"/>
              <a:t>Instead of </a:t>
            </a:r>
          </a:p>
          <a:p>
            <a:pPr lvl="3">
              <a:buNone/>
            </a:pPr>
            <a:r>
              <a:rPr lang="en-US" b="1" i="0" dirty="0" smtClean="0">
                <a:solidFill>
                  <a:srgbClr val="0000FF"/>
                </a:solidFill>
                <a:latin typeface="Courier New" pitchFamily="49" charset="0"/>
                <a:cs typeface="Courier New" pitchFamily="49" charset="0"/>
              </a:rPr>
              <a:t>if (variable == MAX_VALUE)</a:t>
            </a:r>
          </a:p>
        </p:txBody>
      </p:sp>
    </p:spTree>
    <p:extLst>
      <p:ext uri="{BB962C8B-B14F-4D97-AF65-F5344CB8AC3E}">
        <p14:creationId xmlns:p14="http://schemas.microsoft.com/office/powerpoint/2010/main" val="2022139681"/>
      </p:ext>
    </p:extLst>
  </p:cSld>
  <p:clrMapOvr>
    <a:masterClrMapping/>
  </p:clrMapOvr>
  <p:timing>
    <p:tnLst>
      <p:par>
        <p:cTn id="1" dur="indefinite" restart="never" nodeType="tmRoot"/>
      </p:par>
    </p:tnLst>
  </p:timing>
</p:sld>
</file>

<file path=ppt/theme/theme1.xml><?xml version="1.0" encoding="utf-8"?>
<a:theme xmlns:a="http://schemas.openxmlformats.org/drawingml/2006/main" name="R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RIT" id="{97C221C2-C4D1-4045-949D-729FDFABAAE9}" vid="{D6F8B45F-E2E7-43CA-9B29-0AE1C6552E0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RIT</Template>
  <TotalTime>5063</TotalTime>
  <Words>1945</Words>
  <Application>Microsoft Office PowerPoint</Application>
  <PresentationFormat>On-screen Show (4:3)</PresentationFormat>
  <Paragraphs>361</Paragraphs>
  <Slides>35</Slides>
  <Notes>8</Notes>
  <HiddenSlides>4</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4" baseType="lpstr">
      <vt:lpstr>ＭＳ Ｐゴシック</vt:lpstr>
      <vt:lpstr>ＭＳ Ｐゴシック</vt:lpstr>
      <vt:lpstr>Arial</vt:lpstr>
      <vt:lpstr>Calibri</vt:lpstr>
      <vt:lpstr>Courier New</vt:lpstr>
      <vt:lpstr>Georgia</vt:lpstr>
      <vt:lpstr>Wingdings</vt:lpstr>
      <vt:lpstr>RIT</vt:lpstr>
      <vt:lpstr>Visio</vt:lpstr>
      <vt:lpstr>Embedded Software Design</vt:lpstr>
      <vt:lpstr>Reminders </vt:lpstr>
      <vt:lpstr>Follow Up</vt:lpstr>
      <vt:lpstr>Follow Up</vt:lpstr>
      <vt:lpstr>Two Types of SW Development</vt:lpstr>
      <vt:lpstr>Embedded Software Development</vt:lpstr>
      <vt:lpstr>Embedded Software Development</vt:lpstr>
      <vt:lpstr>Embedded Application Stack</vt:lpstr>
      <vt:lpstr>Application Stack w/RTOS</vt:lpstr>
      <vt:lpstr>Device Drivers</vt:lpstr>
      <vt:lpstr>Hardware Abstraction Layer (HAL)</vt:lpstr>
      <vt:lpstr>HAL Architecture and Services</vt:lpstr>
      <vt:lpstr>Layers of NIOS II HAL-Based System</vt:lpstr>
      <vt:lpstr>Levels of Languages</vt:lpstr>
      <vt:lpstr>Levels of Languages</vt:lpstr>
      <vt:lpstr>Language Level Summary</vt:lpstr>
      <vt:lpstr>Tools and Resultant Files</vt:lpstr>
      <vt:lpstr>Tools and Resultant Files</vt:lpstr>
      <vt:lpstr>Linker Tool</vt:lpstr>
      <vt:lpstr>Software Design Flow Example</vt:lpstr>
      <vt:lpstr>Object File</vt:lpstr>
      <vt:lpstr>Object Files</vt:lpstr>
      <vt:lpstr>Object Files</vt:lpstr>
      <vt:lpstr>PowerPoint Presentation</vt:lpstr>
      <vt:lpstr>Object File</vt:lpstr>
      <vt:lpstr>Object File</vt:lpstr>
      <vt:lpstr>Map File</vt:lpstr>
      <vt:lpstr>Embedded Software Considerations</vt:lpstr>
      <vt:lpstr>Embedded Software Considerations</vt:lpstr>
      <vt:lpstr>Embedded Software Considerations</vt:lpstr>
      <vt:lpstr>Embedded Software Considerations</vt:lpstr>
      <vt:lpstr>Embedded Software Considerations</vt:lpstr>
      <vt:lpstr>Embedded Software Considerations</vt:lpstr>
      <vt:lpstr>Embedded Software Considerations</vt:lpstr>
      <vt:lpstr>Embedded Software Considerations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Audio Basics</dc:title>
  <dc:creator>Jeanne Christman</dc:creator>
  <cp:lastModifiedBy>Holly Dickens</cp:lastModifiedBy>
  <cp:revision>132</cp:revision>
  <cp:lastPrinted>2018-04-10T18:17:01Z</cp:lastPrinted>
  <dcterms:created xsi:type="dcterms:W3CDTF">2006-08-16T00:00:00Z</dcterms:created>
  <dcterms:modified xsi:type="dcterms:W3CDTF">2024-09-04T19:32:13Z</dcterms:modified>
</cp:coreProperties>
</file>