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31"/>
  </p:notesMasterIdLst>
  <p:handoutMasterIdLst>
    <p:handoutMasterId r:id="rId32"/>
  </p:handoutMasterIdLst>
  <p:sldIdLst>
    <p:sldId id="1124" r:id="rId2"/>
    <p:sldId id="1141" r:id="rId3"/>
    <p:sldId id="1142" r:id="rId4"/>
    <p:sldId id="949" r:id="rId5"/>
    <p:sldId id="952" r:id="rId6"/>
    <p:sldId id="950" r:id="rId7"/>
    <p:sldId id="953" r:id="rId8"/>
    <p:sldId id="1010" r:id="rId9"/>
    <p:sldId id="1011" r:id="rId10"/>
    <p:sldId id="963" r:id="rId11"/>
    <p:sldId id="1125" r:id="rId12"/>
    <p:sldId id="1126" r:id="rId13"/>
    <p:sldId id="1127" r:id="rId14"/>
    <p:sldId id="1128" r:id="rId15"/>
    <p:sldId id="1130" r:id="rId16"/>
    <p:sldId id="1131" r:id="rId17"/>
    <p:sldId id="1132" r:id="rId18"/>
    <p:sldId id="1133" r:id="rId19"/>
    <p:sldId id="1134" r:id="rId20"/>
    <p:sldId id="1129" r:id="rId21"/>
    <p:sldId id="1138" r:id="rId22"/>
    <p:sldId id="1135" r:id="rId23"/>
    <p:sldId id="1136" r:id="rId24"/>
    <p:sldId id="668" r:id="rId25"/>
    <p:sldId id="1137" r:id="rId26"/>
    <p:sldId id="1139" r:id="rId27"/>
    <p:sldId id="745" r:id="rId28"/>
    <p:sldId id="671" r:id="rId29"/>
    <p:sldId id="1140" r:id="rId3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B2B2B2"/>
    <a:srgbClr val="CC6600"/>
    <a:srgbClr val="CCCCFF"/>
    <a:srgbClr val="CCFFCC"/>
    <a:srgbClr val="66FFCC"/>
    <a:srgbClr val="00CC99"/>
    <a:srgbClr val="00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85246" autoAdjust="0"/>
  </p:normalViewPr>
  <p:slideViewPr>
    <p:cSldViewPr>
      <p:cViewPr varScale="1">
        <p:scale>
          <a:sx n="57" d="100"/>
          <a:sy n="57" d="100"/>
        </p:scale>
        <p:origin x="132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31968"/>
    </p:cViewPr>
  </p:sorterViewPr>
  <p:notesViewPr>
    <p:cSldViewPr>
      <p:cViewPr varScale="1">
        <p:scale>
          <a:sx n="82" d="100"/>
          <a:sy n="82" d="100"/>
        </p:scale>
        <p:origin x="-3096" y="-90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t" anchorCtr="0" compatLnSpc="1">
            <a:prstTxWarp prst="textNoShape">
              <a:avLst/>
            </a:prstTxWarp>
          </a:bodyPr>
          <a:lstStyle>
            <a:lvl1pPr defTabSz="967057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t" anchorCtr="0" compatLnSpc="1">
            <a:prstTxWarp prst="textNoShape">
              <a:avLst/>
            </a:prstTxWarp>
          </a:bodyPr>
          <a:lstStyle>
            <a:lvl1pPr algn="r" defTabSz="967057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b" anchorCtr="0" compatLnSpc="1">
            <a:prstTxWarp prst="textNoShape">
              <a:avLst/>
            </a:prstTxWarp>
          </a:bodyPr>
          <a:lstStyle>
            <a:lvl1pPr defTabSz="967057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b" anchorCtr="0" compatLnSpc="1">
            <a:prstTxWarp prst="textNoShape">
              <a:avLst/>
            </a:prstTxWarp>
          </a:bodyPr>
          <a:lstStyle>
            <a:lvl1pPr algn="r" defTabSz="967057">
              <a:defRPr sz="1300"/>
            </a:lvl1pPr>
          </a:lstStyle>
          <a:p>
            <a:pPr>
              <a:defRPr/>
            </a:pPr>
            <a:fld id="{8C23C7EB-A72F-435F-ADB1-B5522938E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1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2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7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3112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437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37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B491F88-34A7-42A3-900E-675E90E1B5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665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76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31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31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1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41488"/>
            <a:ext cx="8229600" cy="9366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678112"/>
            <a:ext cx="8534400" cy="22748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21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4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342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1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192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858963"/>
            <a:ext cx="4040188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92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8963"/>
            <a:ext cx="4041775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7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6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84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2413" cy="685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1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19202"/>
            <a:ext cx="82296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661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513026"/>
          </a:solidFill>
          <a:latin typeface="Georgia"/>
          <a:ea typeface="ＭＳ Ｐゴシック" pitchFamily="-65" charset="-128"/>
          <a:cs typeface="Georgi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b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800" b="1" i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</a:br>
            <a:r>
              <a:rPr 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NIOS II Processor</a:t>
            </a:r>
            <a:endParaRPr lang="en-US" dirty="0" smtClean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81000" y="3124200"/>
            <a:ext cx="8534400" cy="22748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13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Quiz due on Sunday </a:t>
            </a:r>
          </a:p>
          <a:p>
            <a:pPr lvl="1"/>
            <a:r>
              <a:rPr lang="en-US" dirty="0" smtClean="0"/>
              <a:t>Assembly, NIOSII, and Embedded SW lectures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No demo this week on </a:t>
            </a:r>
            <a:r>
              <a:rPr lang="en-US" dirty="0" smtClean="0">
                <a:solidFill>
                  <a:srgbClr val="FF0000"/>
                </a:solidFill>
              </a:rPr>
              <a:t>Friday – Class Cancelled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Lab 1 due</a:t>
            </a:r>
          </a:p>
          <a:p>
            <a:r>
              <a:rPr lang="en-US" dirty="0" smtClean="0"/>
              <a:t>Lab 2 prelab due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2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Last Weeks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caller saved register? </a:t>
            </a:r>
          </a:p>
          <a:p>
            <a:pPr lvl="1"/>
            <a:r>
              <a:rPr lang="en-US" dirty="0" smtClean="0"/>
              <a:t>Volatile registers used to hold temporary values that need do not need to be preserved between calls </a:t>
            </a:r>
          </a:p>
          <a:p>
            <a:pPr lvl="1"/>
            <a:r>
              <a:rPr lang="en-US" dirty="0" smtClean="0"/>
              <a:t>Call refers to a procedural access </a:t>
            </a:r>
          </a:p>
          <a:p>
            <a:pPr lvl="1"/>
            <a:r>
              <a:rPr lang="en-US" dirty="0" err="1" smtClean="0"/>
              <a:t>Callee</a:t>
            </a:r>
            <a:r>
              <a:rPr lang="en-US" dirty="0" smtClean="0"/>
              <a:t> saved registers are non-volatile and must be saved if a function needs to overwrite the value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Can a </a:t>
            </a:r>
            <a:r>
              <a:rPr lang="en-US" dirty="0" err="1" smtClean="0"/>
              <a:t>stw</a:t>
            </a:r>
            <a:r>
              <a:rPr lang="en-US" dirty="0" smtClean="0"/>
              <a:t> offset be a register? No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419600"/>
            <a:ext cx="76485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0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rocessor Types - CISC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153400" cy="478061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CISC Processor Architecture </a:t>
            </a:r>
          </a:p>
          <a:p>
            <a:pPr lvl="1"/>
            <a:r>
              <a:rPr lang="en-US" dirty="0" smtClean="0"/>
              <a:t>CISC 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Complex Instruction Set Computer </a:t>
            </a:r>
          </a:p>
          <a:p>
            <a:pPr lvl="2"/>
            <a:r>
              <a:rPr lang="en-US" dirty="0" smtClean="0"/>
              <a:t>Processors that are easy to program and make efficient use of memory.</a:t>
            </a:r>
          </a:p>
          <a:p>
            <a:pPr lvl="2"/>
            <a:r>
              <a:rPr lang="en-US" dirty="0"/>
              <a:t>E</a:t>
            </a:r>
            <a:r>
              <a:rPr lang="en-US" dirty="0" smtClean="0"/>
              <a:t>arliest machines were programmed in assembly language and memory was slow and expensive</a:t>
            </a:r>
          </a:p>
          <a:p>
            <a:pPr lvl="3"/>
            <a:r>
              <a:rPr lang="en-US" dirty="0" smtClean="0"/>
              <a:t>Big programs require a lot of memory $$$$</a:t>
            </a:r>
          </a:p>
          <a:p>
            <a:pPr lvl="1"/>
            <a:r>
              <a:rPr lang="en-US" altLang="zh-CN" dirty="0" smtClean="0"/>
              <a:t>CISC developed to make compiler development simpler</a:t>
            </a:r>
          </a:p>
          <a:p>
            <a:pPr lvl="2"/>
            <a:r>
              <a:rPr lang="en-US" altLang="zh-CN" dirty="0" smtClean="0"/>
              <a:t>Shifts burden of generating machine instructions to the processor</a:t>
            </a:r>
          </a:p>
          <a:p>
            <a:pPr lvl="2"/>
            <a:r>
              <a:rPr lang="en-US" altLang="zh-CN" dirty="0" smtClean="0"/>
              <a:t>Ex: Instead of compiler writing long machine instructions to calculate a square-root 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en-US" altLang="zh-CN" dirty="0" smtClean="0"/>
              <a:t>ability was built-in CISC processor </a:t>
            </a:r>
          </a:p>
          <a:p>
            <a:pPr lvl="2"/>
            <a:r>
              <a:rPr lang="en-US" dirty="0" smtClean="0"/>
              <a:t>Instructions require multiple clock cycles to execute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dirty="0" smtClean="0"/>
              <a:t>Intel 80x86 </a:t>
            </a:r>
          </a:p>
          <a:p>
            <a:pPr lvl="2"/>
            <a:r>
              <a:rPr lang="en-US" dirty="0" smtClean="0"/>
              <a:t>Motorola 68K series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CISC Processors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704667" cy="4018616"/>
          </a:xfrm>
        </p:spPr>
        <p:txBody>
          <a:bodyPr/>
          <a:lstStyle/>
          <a:p>
            <a:r>
              <a:rPr lang="en-US" dirty="0" smtClean="0"/>
              <a:t>CISC Instruction Sets</a:t>
            </a:r>
          </a:p>
          <a:p>
            <a:pPr lvl="1"/>
            <a:r>
              <a:rPr lang="en-US" dirty="0" smtClean="0"/>
              <a:t>More complex instructions</a:t>
            </a:r>
          </a:p>
          <a:p>
            <a:pPr lvl="2"/>
            <a:r>
              <a:rPr lang="en-US" dirty="0" smtClean="0"/>
              <a:t>Instruction fit into multiple words</a:t>
            </a:r>
          </a:p>
          <a:p>
            <a:pPr lvl="2"/>
            <a:r>
              <a:rPr lang="en-US" dirty="0" smtClean="0"/>
              <a:t>More complex hardware</a:t>
            </a:r>
          </a:p>
          <a:p>
            <a:pPr lvl="2"/>
            <a:r>
              <a:rPr lang="en-US" dirty="0" smtClean="0"/>
              <a:t>Shorter programs</a:t>
            </a:r>
          </a:p>
          <a:p>
            <a:pPr lvl="1"/>
            <a:r>
              <a:rPr lang="en-US" dirty="0" smtClean="0"/>
              <a:t>Complex address modes supported</a:t>
            </a:r>
          </a:p>
          <a:p>
            <a:pPr lvl="1"/>
            <a:r>
              <a:rPr lang="en-US" dirty="0" smtClean="0"/>
              <a:t>Memory-to-memory transfer supported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Processor Types - RISC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1" y="1219201"/>
            <a:ext cx="8153400" cy="478061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RISC Processor Architecture </a:t>
            </a:r>
          </a:p>
          <a:p>
            <a:pPr lvl="1"/>
            <a:r>
              <a:rPr lang="en-US" dirty="0" smtClean="0"/>
              <a:t>RISC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Reduced Instruction Set Computer</a:t>
            </a:r>
          </a:p>
          <a:p>
            <a:pPr lvl="2"/>
            <a:r>
              <a:rPr lang="en-US" dirty="0" smtClean="0"/>
              <a:t>Processor architecture that uses small, highly-optimized set of instructions</a:t>
            </a:r>
          </a:p>
          <a:p>
            <a:pPr lvl="1"/>
            <a:r>
              <a:rPr lang="en-US" altLang="zh-CN" dirty="0" smtClean="0"/>
              <a:t>RISC Characteristics</a:t>
            </a:r>
          </a:p>
          <a:p>
            <a:pPr lvl="2"/>
            <a:r>
              <a:rPr lang="en-US" i="1" dirty="0" smtClean="0"/>
              <a:t>one cycle execution time</a:t>
            </a:r>
            <a:endParaRPr lang="en-US" dirty="0" smtClean="0"/>
          </a:p>
          <a:p>
            <a:pPr lvl="3"/>
            <a:r>
              <a:rPr lang="en-US" dirty="0" smtClean="0"/>
              <a:t>RISC processors have a CPI (clock per instruction executed)</a:t>
            </a:r>
          </a:p>
          <a:p>
            <a:pPr lvl="2"/>
            <a:r>
              <a:rPr lang="en-US" dirty="0" smtClean="0"/>
              <a:t>Pipelining</a:t>
            </a:r>
          </a:p>
          <a:p>
            <a:pPr lvl="3"/>
            <a:r>
              <a:rPr lang="en-US" dirty="0" smtClean="0"/>
              <a:t>Technique for simultaneous execution of instructions</a:t>
            </a:r>
          </a:p>
          <a:p>
            <a:pPr lvl="2"/>
            <a:r>
              <a:rPr lang="en-US" dirty="0" smtClean="0"/>
              <a:t>Large number of registers</a:t>
            </a:r>
          </a:p>
          <a:p>
            <a:pPr lvl="3"/>
            <a:r>
              <a:rPr lang="en-US" dirty="0" smtClean="0"/>
              <a:t>Prevent large interactions with memory 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dirty="0" smtClean="0"/>
              <a:t>ARM</a:t>
            </a:r>
          </a:p>
          <a:p>
            <a:pPr lvl="2"/>
            <a:r>
              <a:rPr lang="en-US" dirty="0" smtClean="0"/>
              <a:t>Nios II</a:t>
            </a:r>
          </a:p>
          <a:p>
            <a:pPr lvl="2"/>
            <a:r>
              <a:rPr lang="en-US" dirty="0" smtClean="0"/>
              <a:t>PowerPC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RISC Processors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158" y="1371600"/>
            <a:ext cx="7844642" cy="4267200"/>
          </a:xfrm>
        </p:spPr>
        <p:txBody>
          <a:bodyPr>
            <a:normAutofit/>
          </a:bodyPr>
          <a:lstStyle/>
          <a:p>
            <a:r>
              <a:rPr lang="en-US" dirty="0" smtClean="0"/>
              <a:t>RISC Instruction Sets</a:t>
            </a:r>
          </a:p>
          <a:p>
            <a:pPr lvl="1"/>
            <a:r>
              <a:rPr lang="en-US" dirty="0" smtClean="0"/>
              <a:t>Simpler instructions</a:t>
            </a:r>
          </a:p>
          <a:p>
            <a:pPr lvl="2"/>
            <a:r>
              <a:rPr lang="en-US" dirty="0" smtClean="0"/>
              <a:t>Instruction fits into single word</a:t>
            </a:r>
          </a:p>
          <a:p>
            <a:pPr lvl="2"/>
            <a:r>
              <a:rPr lang="en-US" dirty="0" smtClean="0"/>
              <a:t>Simpler hardware</a:t>
            </a:r>
          </a:p>
          <a:p>
            <a:pPr lvl="2"/>
            <a:r>
              <a:rPr lang="en-US" dirty="0" smtClean="0"/>
              <a:t>Faster instruction execution </a:t>
            </a:r>
          </a:p>
          <a:p>
            <a:pPr lvl="2"/>
            <a:r>
              <a:rPr lang="en-US" dirty="0" smtClean="0"/>
              <a:t>Longer programs</a:t>
            </a:r>
          </a:p>
          <a:p>
            <a:pPr lvl="1"/>
            <a:r>
              <a:rPr lang="en-US" dirty="0" smtClean="0"/>
              <a:t>Simpler address modes</a:t>
            </a:r>
          </a:p>
          <a:p>
            <a:pPr lvl="1"/>
            <a:r>
              <a:rPr lang="en-US" dirty="0" smtClean="0"/>
              <a:t>Load/Store architecture used</a:t>
            </a:r>
          </a:p>
          <a:p>
            <a:pPr lvl="2"/>
            <a:r>
              <a:rPr lang="en-US" dirty="0" smtClean="0"/>
              <a:t>Memory only access via load/store instructions</a:t>
            </a:r>
          </a:p>
          <a:p>
            <a:pPr lvl="2"/>
            <a:r>
              <a:rPr lang="en-US" dirty="0" smtClean="0"/>
              <a:t>Arithmetic/logic operations work on register</a:t>
            </a:r>
          </a:p>
          <a:p>
            <a:pPr lvl="2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86366" y="-381000"/>
            <a:ext cx="7704667" cy="1981200"/>
          </a:xfrm>
        </p:spPr>
        <p:txBody>
          <a:bodyPr/>
          <a:lstStyle/>
          <a:p>
            <a:r>
              <a:rPr lang="en-US" dirty="0" smtClean="0"/>
              <a:t>Processor Types</a:t>
            </a:r>
          </a:p>
        </p:txBody>
      </p:sp>
      <p:graphicFrame>
        <p:nvGraphicFramePr>
          <p:cNvPr id="4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106170"/>
              </p:ext>
            </p:extLst>
          </p:nvPr>
        </p:nvGraphicFramePr>
        <p:xfrm>
          <a:off x="692943" y="938096"/>
          <a:ext cx="8291512" cy="4075431"/>
        </p:xfrm>
        <a:graphic>
          <a:graphicData uri="http://schemas.openxmlformats.org/drawingml/2006/table">
            <a:tbl>
              <a:tblPr/>
              <a:tblGrid>
                <a:gridCol w="406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CISC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RISC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Emphasis on hardware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800100" marR="0" lvl="1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Software simple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Emphasis on software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800100" marR="0" lvl="1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Hardware simple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Includes multi-clock,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complex instructions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Single-clock,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reduced instruction only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Memory-to-memory: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"LOAD" and "STORE"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incorporated in instructions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Register to register: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"LOAD" and "STORE"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are independent instructions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Small code sizes,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high cycles per second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Low cycles per second,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large code sizes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Transistors used for storing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complex instructions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Spends more transistors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on memory registers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" y="4999672"/>
            <a:ext cx="8610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RISC systems shorten execution time by reducing the </a:t>
            </a:r>
            <a:r>
              <a:rPr lang="en-US" i="1" dirty="0" smtClean="0"/>
              <a:t>clock cycles per instruction (i.e. simple instructions take less time </a:t>
            </a:r>
            <a:r>
              <a:rPr lang="en-US" dirty="0" smtClean="0"/>
              <a:t>to interpret)</a:t>
            </a:r>
          </a:p>
          <a:p>
            <a:endParaRPr lang="en-US" dirty="0" smtClean="0"/>
          </a:p>
          <a:p>
            <a:r>
              <a:rPr lang="en-US" dirty="0" smtClean="0"/>
              <a:t>CISC systems shorten execution time by reducing the </a:t>
            </a:r>
            <a:r>
              <a:rPr lang="en-US" i="1" dirty="0" smtClean="0"/>
              <a:t>number of instructions per program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Processor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CISC and RISC Processor Architecture</a:t>
            </a:r>
          </a:p>
          <a:p>
            <a:pPr lvl="1"/>
            <a:r>
              <a:rPr lang="en-US" dirty="0" smtClean="0"/>
              <a:t>Line between RISC and CISC blurring</a:t>
            </a:r>
          </a:p>
          <a:p>
            <a:pPr lvl="2"/>
            <a:r>
              <a:rPr lang="en-US" dirty="0" smtClean="0"/>
              <a:t>CISC processor borrowing goodness from RISC</a:t>
            </a:r>
          </a:p>
          <a:p>
            <a:pPr lvl="3"/>
            <a:r>
              <a:rPr lang="en-US" dirty="0" smtClean="0"/>
              <a:t>Ex: Pipeline introduced into CISC </a:t>
            </a:r>
          </a:p>
          <a:p>
            <a:pPr lvl="2"/>
            <a:r>
              <a:rPr lang="en-US" dirty="0" smtClean="0"/>
              <a:t>RISC processor borrowing goodness from CISC</a:t>
            </a:r>
          </a:p>
          <a:p>
            <a:pPr lvl="3"/>
            <a:r>
              <a:rPr lang="en-US" dirty="0" smtClean="0"/>
              <a:t>Ex: More complex addressing added into RISC </a:t>
            </a:r>
          </a:p>
          <a:p>
            <a:pPr lvl="3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Processor Overview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1534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What is the Nios II Processor?</a:t>
            </a:r>
          </a:p>
          <a:p>
            <a:pPr lvl="1"/>
            <a:r>
              <a:rPr lang="en-US" dirty="0" smtClean="0"/>
              <a:t>Soft-core processor developed by Altera (now Intel)</a:t>
            </a:r>
          </a:p>
          <a:p>
            <a:pPr lvl="2"/>
            <a:r>
              <a:rPr lang="en-US" dirty="0" smtClean="0"/>
              <a:t>Soft core design </a:t>
            </a:r>
            <a:r>
              <a:rPr lang="en-US" dirty="0" smtClean="0">
                <a:sym typeface="Wingdings" pitchFamily="2" charset="2"/>
              </a:rPr>
              <a:t> not fixed in silicon</a:t>
            </a:r>
            <a:endParaRPr lang="en-US" dirty="0" smtClean="0"/>
          </a:p>
          <a:p>
            <a:pPr lvl="2"/>
            <a:r>
              <a:rPr lang="en-US" dirty="0" smtClean="0"/>
              <a:t>Soft core allows customizing of processor and peripherals</a:t>
            </a:r>
          </a:p>
          <a:p>
            <a:pPr lvl="3"/>
            <a:r>
              <a:rPr lang="en-US" dirty="0" smtClean="0"/>
              <a:t>Add processor features as required</a:t>
            </a:r>
          </a:p>
          <a:p>
            <a:pPr lvl="3"/>
            <a:r>
              <a:rPr lang="en-US" dirty="0" smtClean="0"/>
              <a:t>Remove unused processor features</a:t>
            </a:r>
          </a:p>
          <a:p>
            <a:pPr lvl="3"/>
            <a:r>
              <a:rPr lang="en-US" dirty="0" smtClean="0"/>
              <a:t>Create custom instructions</a:t>
            </a:r>
          </a:p>
          <a:p>
            <a:pPr lvl="1"/>
            <a:r>
              <a:rPr lang="en-US" dirty="0" smtClean="0"/>
              <a:t>Nios II is second </a:t>
            </a:r>
            <a:r>
              <a:rPr lang="en-US" dirty="0"/>
              <a:t>generation of </a:t>
            </a:r>
            <a:r>
              <a:rPr lang="en-US" dirty="0" smtClean="0"/>
              <a:t> software processor</a:t>
            </a:r>
            <a:endParaRPr lang="en-US" dirty="0"/>
          </a:p>
          <a:p>
            <a:pPr lvl="1"/>
            <a:r>
              <a:rPr lang="en-US" dirty="0" smtClean="0"/>
              <a:t>32-bit RISC Processor</a:t>
            </a:r>
          </a:p>
          <a:p>
            <a:pPr lvl="2"/>
            <a:r>
              <a:rPr lang="en-US" dirty="0" smtClean="0"/>
              <a:t>RISC </a:t>
            </a:r>
            <a:r>
              <a:rPr lang="en-US" dirty="0" smtClean="0">
                <a:sym typeface="Wingdings" pitchFamily="2" charset="2"/>
              </a:rPr>
              <a:t></a:t>
            </a:r>
            <a:r>
              <a:rPr lang="en-US" dirty="0" smtClean="0"/>
              <a:t>Simple instructions provide higher performance </a:t>
            </a:r>
          </a:p>
          <a:p>
            <a:pPr lvl="3"/>
            <a:r>
              <a:rPr lang="en-US" dirty="0" smtClean="0"/>
              <a:t>If instructions are simple enough to execute very quickly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General-purpose RISC processor core</a:t>
            </a:r>
          </a:p>
          <a:p>
            <a:pPr lvl="1"/>
            <a:r>
              <a:rPr lang="en-US" dirty="0" smtClean="0"/>
              <a:t>32-bit instruction set, data path and address space</a:t>
            </a:r>
          </a:p>
          <a:p>
            <a:pPr lvl="1"/>
            <a:r>
              <a:rPr lang="en-US" dirty="0" smtClean="0"/>
              <a:t>32 general-purpose registers</a:t>
            </a:r>
          </a:p>
          <a:p>
            <a:pPr lvl="1"/>
            <a:r>
              <a:rPr lang="en-US" dirty="0" smtClean="0"/>
              <a:t>Optional shadow register sets – useful for context switching and multitasking systems (RTOS)</a:t>
            </a:r>
          </a:p>
          <a:p>
            <a:pPr lvl="1"/>
            <a:r>
              <a:rPr lang="en-US" dirty="0" smtClean="0"/>
              <a:t>32 interrupt sources</a:t>
            </a:r>
          </a:p>
          <a:p>
            <a:pPr lvl="1"/>
            <a:r>
              <a:rPr lang="en-US" dirty="0" smtClean="0"/>
              <a:t>External interrupt controller interface for more interrupt sources</a:t>
            </a:r>
          </a:p>
          <a:p>
            <a:pPr lvl="1"/>
            <a:r>
              <a:rPr lang="en-US" dirty="0" smtClean="0"/>
              <a:t>Single instruction 32 x 32 multiply and divide producing a 32 bit result</a:t>
            </a:r>
          </a:p>
          <a:p>
            <a:pPr lvl="1"/>
            <a:r>
              <a:rPr lang="en-US" dirty="0" smtClean="0"/>
              <a:t>Dedicated instructions for computing 64-bit and 128-bit products of multiplication</a:t>
            </a:r>
          </a:p>
          <a:p>
            <a:pPr lvl="1"/>
            <a:r>
              <a:rPr lang="en-US" dirty="0" smtClean="0"/>
              <a:t>Floating-point instructions for single-precision floating-point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4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Basics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Single-instruction barrel shifter</a:t>
            </a:r>
          </a:p>
          <a:p>
            <a:pPr lvl="1"/>
            <a:r>
              <a:rPr lang="en-US" dirty="0" smtClean="0"/>
              <a:t>Access to a variety of on-chip peripherals, and interfaces to off-chip memories and peripherals</a:t>
            </a:r>
          </a:p>
          <a:p>
            <a:pPr lvl="1"/>
            <a:r>
              <a:rPr lang="en-US" dirty="0" smtClean="0"/>
              <a:t>Optional memory management unit (MMU) to support operating systems that require MMU</a:t>
            </a:r>
          </a:p>
          <a:p>
            <a:pPr lvl="1"/>
            <a:r>
              <a:rPr lang="en-US" dirty="0" smtClean="0"/>
              <a:t>Optional memory protection unit (MPU)</a:t>
            </a:r>
          </a:p>
          <a:p>
            <a:pPr lvl="1"/>
            <a:r>
              <a:rPr lang="en-US" dirty="0" smtClean="0"/>
              <a:t>Instruction set architecture (ISA) compatible across all NIOS II processor systems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5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Processor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 NIOS II processor system is equivalent to a microcontroller that includes a processor, memory and a combination of peripherals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08" y="1828800"/>
            <a:ext cx="7332783" cy="46673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2286000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 system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47800" y="2286000"/>
            <a:ext cx="122341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Processor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668208" y="2631190"/>
            <a:ext cx="273202" cy="697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Left Brace 8"/>
          <p:cNvSpPr/>
          <p:nvPr/>
        </p:nvSpPr>
        <p:spPr>
          <a:xfrm>
            <a:off x="990600" y="3328658"/>
            <a:ext cx="457200" cy="2919742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4140" y="4465363"/>
            <a:ext cx="976101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Off-chip</a:t>
            </a:r>
          </a:p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41410" y="5925234"/>
            <a:ext cx="976101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On-chip</a:t>
            </a:r>
          </a:p>
          <a:p>
            <a:r>
              <a:rPr lang="en-US" dirty="0" smtClean="0"/>
              <a:t>memory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H="1" flipV="1">
            <a:off x="3429460" y="5111694"/>
            <a:ext cx="1" cy="813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ight Brace 15"/>
          <p:cNvSpPr/>
          <p:nvPr/>
        </p:nvSpPr>
        <p:spPr>
          <a:xfrm>
            <a:off x="6685778" y="4465363"/>
            <a:ext cx="172222" cy="178303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871561" y="5033715"/>
            <a:ext cx="856325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Input/</a:t>
            </a:r>
          </a:p>
          <a:p>
            <a:r>
              <a:rPr lang="en-US" dirty="0" smtClean="0"/>
              <a:t>Output</a:t>
            </a:r>
          </a:p>
        </p:txBody>
      </p:sp>
      <p:cxnSp>
        <p:nvCxnSpPr>
          <p:cNvPr id="19" name="Straight Arrow Connector 18"/>
          <p:cNvCxnSpPr>
            <a:stCxn id="17" idx="1"/>
          </p:cNvCxnSpPr>
          <p:nvPr/>
        </p:nvCxnSpPr>
        <p:spPr>
          <a:xfrm flipH="1">
            <a:off x="6858000" y="5356881"/>
            <a:ext cx="10135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Right Brace 19"/>
          <p:cNvSpPr/>
          <p:nvPr/>
        </p:nvSpPr>
        <p:spPr>
          <a:xfrm>
            <a:off x="6477000" y="2979924"/>
            <a:ext cx="381000" cy="148543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900408" y="3399477"/>
            <a:ext cx="123489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Peripherals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2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NIOS II architecture defines the following functional units:</a:t>
            </a:r>
          </a:p>
          <a:p>
            <a:pPr lvl="1"/>
            <a:r>
              <a:rPr lang="en-US" dirty="0" smtClean="0"/>
              <a:t>Register file</a:t>
            </a:r>
          </a:p>
          <a:p>
            <a:pPr lvl="1"/>
            <a:r>
              <a:rPr lang="en-US" dirty="0" smtClean="0"/>
              <a:t>Arithmetic logic unit (ALU)</a:t>
            </a:r>
          </a:p>
          <a:p>
            <a:pPr lvl="1"/>
            <a:r>
              <a:rPr lang="en-US" dirty="0" smtClean="0"/>
              <a:t>Interface to custom instruction logic</a:t>
            </a:r>
          </a:p>
          <a:p>
            <a:pPr lvl="1"/>
            <a:r>
              <a:rPr lang="en-US" dirty="0" smtClean="0"/>
              <a:t>Exception controller</a:t>
            </a:r>
          </a:p>
          <a:p>
            <a:pPr lvl="1"/>
            <a:r>
              <a:rPr lang="en-US" dirty="0" smtClean="0"/>
              <a:t>Internal or external interrupt controller</a:t>
            </a:r>
          </a:p>
          <a:p>
            <a:pPr lvl="1"/>
            <a:r>
              <a:rPr lang="en-US" dirty="0" smtClean="0"/>
              <a:t>Instruction bus</a:t>
            </a:r>
          </a:p>
          <a:p>
            <a:pPr lvl="1"/>
            <a:r>
              <a:rPr lang="en-US" dirty="0" smtClean="0"/>
              <a:t>Data bus</a:t>
            </a:r>
          </a:p>
          <a:p>
            <a:pPr lvl="1"/>
            <a:r>
              <a:rPr lang="en-US" dirty="0" smtClean="0"/>
              <a:t>Memory management unit (MMU)</a:t>
            </a:r>
          </a:p>
          <a:p>
            <a:pPr lvl="1"/>
            <a:r>
              <a:rPr lang="en-US" dirty="0" smtClean="0"/>
              <a:t>Memory protection unit (MPU)</a:t>
            </a:r>
          </a:p>
          <a:p>
            <a:pPr lvl="1"/>
            <a:r>
              <a:rPr lang="en-US" dirty="0" smtClean="0"/>
              <a:t>Instruction and data cache memories</a:t>
            </a:r>
          </a:p>
          <a:p>
            <a:pPr lvl="1"/>
            <a:r>
              <a:rPr lang="en-US" dirty="0" smtClean="0"/>
              <a:t>Tightly-coupled memory interfaces for instruction and data</a:t>
            </a:r>
          </a:p>
          <a:p>
            <a:pPr lvl="1"/>
            <a:r>
              <a:rPr lang="en-US" dirty="0" smtClean="0"/>
              <a:t>JTAG debug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5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38"/>
          <a:stretch/>
        </p:blipFill>
        <p:spPr>
          <a:xfrm>
            <a:off x="762000" y="1143000"/>
            <a:ext cx="7379695" cy="51509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004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functional units of the NIOS II architecture form the foundation for the NIOS II instruction set</a:t>
            </a:r>
          </a:p>
          <a:p>
            <a:pPr lvl="1"/>
            <a:r>
              <a:rPr lang="en-US" dirty="0" smtClean="0"/>
              <a:t>This does not indicate that any unit is implemented in hardware</a:t>
            </a:r>
          </a:p>
          <a:p>
            <a:pPr lvl="1"/>
            <a:r>
              <a:rPr lang="en-US" dirty="0" smtClean="0"/>
              <a:t>The NIOS II architecture describes an instruction set, not a particular hardware implementation</a:t>
            </a:r>
          </a:p>
          <a:p>
            <a:pPr lvl="1"/>
            <a:r>
              <a:rPr lang="en-US" dirty="0" smtClean="0"/>
              <a:t>A functional unit can be implemented in hardware, emulated in software or omitted entirely</a:t>
            </a:r>
          </a:p>
          <a:p>
            <a:pPr marL="514350" indent="-457200"/>
            <a:r>
              <a:rPr lang="en-US" sz="2400" dirty="0" smtClean="0"/>
              <a:t>A NIOS II implementation is a set of design choices embodied by a particular NIOS II processor core</a:t>
            </a:r>
          </a:p>
          <a:p>
            <a:pPr marL="914400" lvl="1" indent="-457200"/>
            <a:r>
              <a:rPr lang="en-US" dirty="0" smtClean="0"/>
              <a:t>Each implementation achieves specific objectives such as smaller core size or higher performance</a:t>
            </a:r>
          </a:p>
          <a:p>
            <a:pPr marL="914400" lvl="1" indent="-457200"/>
            <a:r>
              <a:rPr lang="en-US" dirty="0" smtClean="0"/>
              <a:t>Allows the NIOS II architecture to adapt to the needs of different target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8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Processor 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952999"/>
          </a:xfrm>
        </p:spPr>
        <p:txBody>
          <a:bodyPr/>
          <a:lstStyle/>
          <a:p>
            <a:r>
              <a:rPr lang="en-US" sz="2400" dirty="0" smtClean="0"/>
              <a:t>Implementation variables generally fit one of three trade-off patterns:</a:t>
            </a:r>
          </a:p>
          <a:p>
            <a:pPr lvl="1"/>
            <a:r>
              <a:rPr lang="en-US" sz="1800" dirty="0" smtClean="0"/>
              <a:t>More or less features</a:t>
            </a:r>
          </a:p>
          <a:p>
            <a:pPr lvl="2"/>
            <a:r>
              <a:rPr lang="en-US" sz="1600" dirty="0" smtClean="0"/>
              <a:t>Example: To fine-tune performance, you can increase or decrease the amount of instruction cache memory. A larger cache increases execution speed of large programs, while a smaller cache conserves on-chip memory resources</a:t>
            </a:r>
          </a:p>
          <a:p>
            <a:pPr lvl="1"/>
            <a:r>
              <a:rPr lang="en-US" sz="1800" dirty="0" smtClean="0"/>
              <a:t>Inclusion or exclusion of a feature</a:t>
            </a:r>
          </a:p>
          <a:p>
            <a:pPr lvl="2"/>
            <a:r>
              <a:rPr lang="en-US" sz="1600" dirty="0" smtClean="0"/>
              <a:t>Example: To reduce cost, you can choose to omit the JTAG debug module. This decision conserves on-chip logic and memory resources, but it eliminates the ability to use a software debugger to debug applications.</a:t>
            </a:r>
          </a:p>
          <a:p>
            <a:pPr lvl="1"/>
            <a:r>
              <a:rPr lang="en-US" sz="1800" dirty="0" smtClean="0"/>
              <a:t>Hardware implementation or software emulation of a feature</a:t>
            </a:r>
          </a:p>
          <a:p>
            <a:pPr lvl="2"/>
            <a:r>
              <a:rPr lang="en-US" sz="1600" dirty="0" smtClean="0"/>
              <a:t>Example: For applications that rarely perform complex arithmetic, you can choose for the division instruction to be emulated in software. Removing the divide hardware conserves on-chip resources but increases the execution time of division operations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01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and I/O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flexible nature of the NIOS II memory and I/O organization are the most notable difference between NIOS II processor systems and traditional microcontrollers</a:t>
            </a:r>
          </a:p>
          <a:p>
            <a:r>
              <a:rPr lang="en-US" dirty="0" smtClean="0"/>
              <a:t>Because NIOS II processor systems are configurable, the memories and peripherals vary from system to system</a:t>
            </a:r>
          </a:p>
          <a:p>
            <a:pPr lvl="1"/>
            <a:r>
              <a:rPr lang="en-US" dirty="0" smtClean="0"/>
              <a:t>As a result, the memory and I/O organizations varies from system to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8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and I/O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NIOS II core uses one or more of the following to provide memory and I/O access:</a:t>
            </a:r>
          </a:p>
          <a:p>
            <a:pPr lvl="1"/>
            <a:r>
              <a:rPr lang="en-US" sz="1600" dirty="0" smtClean="0"/>
              <a:t>Instruction master port </a:t>
            </a:r>
            <a:r>
              <a:rPr lang="en-US" sz="1600" b="0" dirty="0" smtClean="0"/>
              <a:t>– An Avalon Memory-Mapped (Avalon-MM) master port that connects to instruction memory via system interconnect fabric</a:t>
            </a:r>
          </a:p>
          <a:p>
            <a:pPr lvl="1"/>
            <a:r>
              <a:rPr lang="en-US" sz="1600" dirty="0" smtClean="0"/>
              <a:t>Instruction cache – </a:t>
            </a:r>
            <a:r>
              <a:rPr lang="en-US" sz="1600" b="0" dirty="0" smtClean="0"/>
              <a:t>Fast cache memory internal to the NIOS II core</a:t>
            </a:r>
          </a:p>
          <a:p>
            <a:pPr lvl="1"/>
            <a:r>
              <a:rPr lang="en-US" sz="1600" dirty="0" smtClean="0"/>
              <a:t>Data master port </a:t>
            </a:r>
            <a:r>
              <a:rPr lang="en-US" sz="1600" b="0" dirty="0" smtClean="0"/>
              <a:t>– An Avalon-MM master port that connects to data memory and peripherals via system interconnect fabric</a:t>
            </a:r>
          </a:p>
          <a:p>
            <a:pPr lvl="1"/>
            <a:r>
              <a:rPr lang="en-US" sz="1600" dirty="0" smtClean="0"/>
              <a:t>Data cache </a:t>
            </a:r>
            <a:r>
              <a:rPr lang="en-US" sz="1600" b="0" dirty="0" smtClean="0"/>
              <a:t>– Fast cache memory internal to the NIOS II core</a:t>
            </a:r>
          </a:p>
          <a:p>
            <a:pPr lvl="1"/>
            <a:r>
              <a:rPr lang="en-US" sz="1600" dirty="0" smtClean="0"/>
              <a:t>Tightly coupled instruction or data memory port </a:t>
            </a:r>
            <a:r>
              <a:rPr lang="en-US" sz="1600" b="0" dirty="0" smtClean="0"/>
              <a:t>– interface to fast on-chip memory outside the NIOS II core</a:t>
            </a:r>
          </a:p>
          <a:p>
            <a:r>
              <a:rPr lang="en-US" sz="2400" dirty="0" smtClean="0"/>
              <a:t>The NIOS II architecture hides the hardware details from the programmer so programmers can </a:t>
            </a:r>
            <a:r>
              <a:rPr lang="en-US" sz="2400" i="1" dirty="0" smtClean="0"/>
              <a:t>usually</a:t>
            </a:r>
            <a:r>
              <a:rPr lang="en-US" sz="2400" dirty="0" smtClean="0"/>
              <a:t> develop applications without specific knowledge of the hardware implementation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627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and </a:t>
            </a:r>
            <a:r>
              <a:rPr lang="en-US" smtClean="0"/>
              <a:t>I/O Organization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263" y="1219200"/>
            <a:ext cx="6015473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4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and I/O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NIOS II architecture does not specify anything about the existence of memory and peripherals; the quantity, type, and connection of memory and peripherals are system-dependent</a:t>
            </a:r>
          </a:p>
          <a:p>
            <a:pPr lvl="1"/>
            <a:r>
              <a:rPr lang="en-US" dirty="0" smtClean="0"/>
              <a:t>Typically, NIOS II processor systems contain a mix of fast on-chip memory and slower off-chip memory</a:t>
            </a:r>
          </a:p>
          <a:p>
            <a:pPr lvl="1"/>
            <a:r>
              <a:rPr lang="en-US" dirty="0" smtClean="0"/>
              <a:t>Peripherals typically reside on-chip, although interfaces to off-chip peripherals also exist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62000"/>
          </a:xfrm>
        </p:spPr>
        <p:txBody>
          <a:bodyPr/>
          <a:lstStyle/>
          <a:p>
            <a:r>
              <a:rPr lang="en-US" dirty="0" smtClean="0"/>
              <a:t>Two Types of Processor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2999"/>
          </a:xfrm>
        </p:spPr>
        <p:txBody>
          <a:bodyPr/>
          <a:lstStyle/>
          <a:p>
            <a:r>
              <a:rPr lang="en-US" dirty="0"/>
              <a:t>Harvard</a:t>
            </a:r>
          </a:p>
          <a:p>
            <a:pPr lvl="1"/>
            <a:r>
              <a:rPr lang="en-US" dirty="0"/>
              <a:t>Has physically separate signals and storage for code and data memory</a:t>
            </a:r>
          </a:p>
          <a:p>
            <a:pPr lvl="1"/>
            <a:r>
              <a:rPr lang="en-US" dirty="0"/>
              <a:t>Two data buses and two address buses</a:t>
            </a:r>
          </a:p>
          <a:p>
            <a:pPr lvl="1"/>
            <a:r>
              <a:rPr lang="en-US" dirty="0"/>
              <a:t>Instructions can be fetched simultaneously with data being fetched</a:t>
            </a:r>
          </a:p>
          <a:p>
            <a:r>
              <a:rPr lang="en-US" dirty="0" err="1"/>
              <a:t>VonNeumann</a:t>
            </a:r>
            <a:endParaRPr lang="en-US" dirty="0"/>
          </a:p>
          <a:p>
            <a:pPr lvl="1"/>
            <a:r>
              <a:rPr lang="en-US" dirty="0"/>
              <a:t>Shared signals and memory for code and data</a:t>
            </a:r>
          </a:p>
          <a:p>
            <a:pPr lvl="1"/>
            <a:r>
              <a:rPr lang="en-US" dirty="0"/>
              <a:t>One data bus and one address bus</a:t>
            </a:r>
          </a:p>
          <a:p>
            <a:pPr lvl="1"/>
            <a:r>
              <a:rPr lang="en-US" dirty="0"/>
              <a:t>Program can be modified by itself</a:t>
            </a:r>
          </a:p>
        </p:txBody>
      </p:sp>
    </p:spTree>
    <p:extLst>
      <p:ext uri="{BB962C8B-B14F-4D97-AF65-F5344CB8AC3E}">
        <p14:creationId xmlns:p14="http://schemas.microsoft.com/office/powerpoint/2010/main" val="380125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62000"/>
          </a:xfrm>
        </p:spPr>
        <p:txBody>
          <a:bodyPr/>
          <a:lstStyle/>
          <a:p>
            <a:r>
              <a:rPr lang="en-US" dirty="0" smtClean="0"/>
              <a:t>Two Types of Processor Architectures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0151"/>
            <a:ext cx="7202659" cy="4351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14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and Data Buses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The NIOS II architecture supports separate instruction and data buses, classifying it as a </a:t>
            </a:r>
            <a:r>
              <a:rPr lang="en-US" dirty="0" smtClean="0">
                <a:solidFill>
                  <a:srgbClr val="C00000"/>
                </a:solidFill>
              </a:rPr>
              <a:t>Harvard Architecture</a:t>
            </a:r>
          </a:p>
          <a:p>
            <a:pPr lvl="1"/>
            <a:r>
              <a:rPr lang="en-US" dirty="0" smtClean="0"/>
              <a:t>Both the instruction and data buses are implemented as Avalon-MM master ports that adhere to the Avalon-MM interface specification</a:t>
            </a:r>
          </a:p>
          <a:p>
            <a:pPr lvl="1"/>
            <a:r>
              <a:rPr lang="en-US" dirty="0" smtClean="0"/>
              <a:t>The data master port connects to both memory and peripheral components, while the instruction master port connects only to memory components</a:t>
            </a:r>
          </a:p>
          <a:p>
            <a:pPr lvl="2"/>
            <a:r>
              <a:rPr lang="en-US" dirty="0" smtClean="0"/>
              <a:t>Known as </a:t>
            </a:r>
            <a:r>
              <a:rPr lang="en-US" i="1" dirty="0" smtClean="0"/>
              <a:t>memory-mapped I/O </a:t>
            </a:r>
            <a:r>
              <a:rPr lang="en-US" dirty="0" smtClean="0"/>
              <a:t>– both the memory and peripherals are mapped into the address space of the data master port </a:t>
            </a:r>
          </a:p>
          <a:p>
            <a:pPr lvl="2"/>
            <a:r>
              <a:rPr lang="en-US" dirty="0" smtClean="0"/>
              <a:t>Use pointers to addresses in programs to access both memory and 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Types of </a:t>
            </a:r>
            <a:r>
              <a:rPr lang="en-US" smtClean="0"/>
              <a:t>Data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Endian</a:t>
            </a:r>
            <a:r>
              <a:rPr lang="en-US" dirty="0" smtClean="0"/>
              <a:t> describes the order in which bytes of data are stored in memory</a:t>
            </a:r>
            <a:endParaRPr lang="en-US" dirty="0"/>
          </a:p>
        </p:txBody>
      </p:sp>
      <p:pic>
        <p:nvPicPr>
          <p:cNvPr id="1026" name="Picture 2" descr="Image result for big endi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62200"/>
            <a:ext cx="76200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63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NIOS II architecture is </a:t>
            </a:r>
            <a:r>
              <a:rPr lang="en-US" i="1" dirty="0" smtClean="0"/>
              <a:t>little endian</a:t>
            </a:r>
          </a:p>
          <a:p>
            <a:pPr lvl="1"/>
            <a:r>
              <a:rPr lang="en-US" dirty="0" smtClean="0"/>
              <a:t>Words and </a:t>
            </a:r>
            <a:r>
              <a:rPr lang="en-US" dirty="0" err="1" smtClean="0"/>
              <a:t>halfwords</a:t>
            </a:r>
            <a:r>
              <a:rPr lang="en-US" dirty="0" smtClean="0"/>
              <a:t> are stored in memory with the more-significant bytes at higher addresses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Words in NIOS II are 32 bits</a:t>
            </a:r>
          </a:p>
          <a:p>
            <a:pPr lvl="1"/>
            <a:r>
              <a:rPr lang="en-US" dirty="0" smtClean="0"/>
              <a:t>In ESD 1, when in doubt, the answer is 32!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09063"/>
              </p:ext>
            </p:extLst>
          </p:nvPr>
        </p:nvGraphicFramePr>
        <p:xfrm>
          <a:off x="1600200" y="2590800"/>
          <a:ext cx="6096000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6195291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263757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573174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56814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31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 smtClean="0"/>
                        <a:t>                       0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670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       N + 3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       N</a:t>
                      </a:r>
                      <a:r>
                        <a:rPr lang="en-US" sz="2000" baseline="0" dirty="0" smtClean="0">
                          <a:solidFill>
                            <a:srgbClr val="FF0000"/>
                          </a:solidFill>
                        </a:rPr>
                        <a:t> + 2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       N + 1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            N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49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94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072" y="567545"/>
            <a:ext cx="82296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Nios II Processor Overview (Classic)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Three levels of Performance</a:t>
            </a:r>
          </a:p>
          <a:p>
            <a:pPr lvl="1" eaLnBrk="1" hangingPunct="1"/>
            <a:r>
              <a:rPr lang="en-US" dirty="0" smtClean="0"/>
              <a:t>Allows design scale as requirements change</a:t>
            </a:r>
          </a:p>
          <a:p>
            <a:pPr eaLnBrk="1" hangingPunct="1"/>
            <a:endParaRPr lang="en-US" dirty="0" smtClean="0"/>
          </a:p>
        </p:txBody>
      </p:sp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209800"/>
            <a:ext cx="731088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2296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Nios II Processor Overview (Classic)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Three level of Performance</a:t>
            </a:r>
          </a:p>
          <a:p>
            <a:pPr lvl="1" eaLnBrk="1" hangingPunct="1"/>
            <a:r>
              <a:rPr lang="en-US" dirty="0" smtClean="0"/>
              <a:t>Performance &amp; Size</a:t>
            </a:r>
          </a:p>
          <a:p>
            <a:pPr lvl="2" eaLnBrk="1" hangingPunct="1"/>
            <a:r>
              <a:rPr lang="en-US" dirty="0" smtClean="0"/>
              <a:t>Performance varies by factor of 9</a:t>
            </a:r>
          </a:p>
          <a:p>
            <a:pPr lvl="2" eaLnBrk="1" hangingPunct="1"/>
            <a:r>
              <a:rPr lang="en-US" dirty="0" smtClean="0"/>
              <a:t>Size varies by factor of 3</a:t>
            </a:r>
          </a:p>
          <a:p>
            <a:pPr lvl="1" eaLnBrk="1" hangingPunct="1"/>
            <a:endParaRPr lang="en-US" dirty="0" smtClean="0"/>
          </a:p>
        </p:txBody>
      </p:sp>
      <p:pic>
        <p:nvPicPr>
          <p:cNvPr id="127078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6431" y="2743200"/>
            <a:ext cx="6324600" cy="387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NIOS II Processor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version of Platform Designer suggests not using classic</a:t>
            </a:r>
          </a:p>
          <a:p>
            <a:r>
              <a:rPr lang="en-US" dirty="0" smtClean="0"/>
              <a:t>We will choose between NIOS II/e and NIOS II/f</a:t>
            </a:r>
            <a:endParaRPr lang="en-US" dirty="0"/>
          </a:p>
        </p:txBody>
      </p:sp>
      <p:pic>
        <p:nvPicPr>
          <p:cNvPr id="3074" name="Picture 2" descr="Image result for NIOS II/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83"/>
          <a:stretch/>
        </p:blipFill>
        <p:spPr bwMode="auto">
          <a:xfrm>
            <a:off x="2566193" y="2667000"/>
            <a:ext cx="5900738" cy="398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276600" y="3352801"/>
            <a:ext cx="1143000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1818" y="3124200"/>
            <a:ext cx="19565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We will be using NIOSII/e this semester, but the default is NIOSII/f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Be sure to choose the correct processor!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84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IT" id="{97C221C2-C4D1-4045-949D-729FDFABAAE9}" vid="{D6F8B45F-E2E7-43CA-9B29-0AE1C6552E0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16339</TotalTime>
  <Words>1613</Words>
  <Application>Microsoft Office PowerPoint</Application>
  <PresentationFormat>On-screen Show (4:3)</PresentationFormat>
  <Paragraphs>226</Paragraphs>
  <Slides>29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ＭＳ Ｐゴシック</vt:lpstr>
      <vt:lpstr>Arial</vt:lpstr>
      <vt:lpstr>Calibri</vt:lpstr>
      <vt:lpstr>Georgia</vt:lpstr>
      <vt:lpstr>Verdana</vt:lpstr>
      <vt:lpstr>Wingdings</vt:lpstr>
      <vt:lpstr>RIT</vt:lpstr>
      <vt:lpstr> NIOS II Processor</vt:lpstr>
      <vt:lpstr>Reminders </vt:lpstr>
      <vt:lpstr>Last Weeks Questions</vt:lpstr>
      <vt:lpstr>Processor Types - CISC</vt:lpstr>
      <vt:lpstr>CISC Processors</vt:lpstr>
      <vt:lpstr>Processor Types - RISC</vt:lpstr>
      <vt:lpstr>RISC Processors</vt:lpstr>
      <vt:lpstr>Processor Types</vt:lpstr>
      <vt:lpstr>Processor Types</vt:lpstr>
      <vt:lpstr>Nios II Processor Overview</vt:lpstr>
      <vt:lpstr>NIOS II Basics</vt:lpstr>
      <vt:lpstr>NIOS II Basics (con’t)</vt:lpstr>
      <vt:lpstr>NIOS II Processor System</vt:lpstr>
      <vt:lpstr>NIOS II Architecture</vt:lpstr>
      <vt:lpstr>NIOS II Architecture</vt:lpstr>
      <vt:lpstr>NIOS II Architecture</vt:lpstr>
      <vt:lpstr>NIOS II Processor Tradeoffs</vt:lpstr>
      <vt:lpstr>Memory and I/O Organization</vt:lpstr>
      <vt:lpstr>Memory and I/O Organization</vt:lpstr>
      <vt:lpstr>Memory and I/O Organization</vt:lpstr>
      <vt:lpstr>Memory and I/O Organization</vt:lpstr>
      <vt:lpstr>Two Types of Processor Architectures</vt:lpstr>
      <vt:lpstr>Two Types of Processor Architectures</vt:lpstr>
      <vt:lpstr>Instruction and Data Buses</vt:lpstr>
      <vt:lpstr>Two Types of Data Storage</vt:lpstr>
      <vt:lpstr>Data Storage</vt:lpstr>
      <vt:lpstr>Nios II Processor Overview (Classic)</vt:lpstr>
      <vt:lpstr>Nios II Processor Overview (Classic)</vt:lpstr>
      <vt:lpstr>NIOS II Processor Overview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(ESD)  0618-561</dc:title>
  <dc:creator>Bruce Link</dc:creator>
  <cp:lastModifiedBy>Holly Dickens</cp:lastModifiedBy>
  <cp:revision>1611</cp:revision>
  <cp:lastPrinted>2018-04-03T18:15:03Z</cp:lastPrinted>
  <dcterms:created xsi:type="dcterms:W3CDTF">2004-11-24T20:26:08Z</dcterms:created>
  <dcterms:modified xsi:type="dcterms:W3CDTF">2024-09-04T19:31:37Z</dcterms:modified>
</cp:coreProperties>
</file>