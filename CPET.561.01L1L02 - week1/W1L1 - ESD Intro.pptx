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3" r:id="rId1"/>
  </p:sldMasterIdLst>
  <p:notesMasterIdLst>
    <p:notesMasterId r:id="rId37"/>
  </p:notesMasterIdLst>
  <p:handoutMasterIdLst>
    <p:handoutMasterId r:id="rId38"/>
  </p:handoutMasterIdLst>
  <p:sldIdLst>
    <p:sldId id="257" r:id="rId2"/>
    <p:sldId id="982" r:id="rId3"/>
    <p:sldId id="983" r:id="rId4"/>
    <p:sldId id="971" r:id="rId5"/>
    <p:sldId id="972" r:id="rId6"/>
    <p:sldId id="973" r:id="rId7"/>
    <p:sldId id="974" r:id="rId8"/>
    <p:sldId id="975" r:id="rId9"/>
    <p:sldId id="976" r:id="rId10"/>
    <p:sldId id="977" r:id="rId11"/>
    <p:sldId id="978" r:id="rId12"/>
    <p:sldId id="979" r:id="rId13"/>
    <p:sldId id="970" r:id="rId14"/>
    <p:sldId id="965" r:id="rId15"/>
    <p:sldId id="968" r:id="rId16"/>
    <p:sldId id="966" r:id="rId17"/>
    <p:sldId id="969" r:id="rId18"/>
    <p:sldId id="980" r:id="rId19"/>
    <p:sldId id="981" r:id="rId20"/>
    <p:sldId id="759" r:id="rId21"/>
    <p:sldId id="262" r:id="rId22"/>
    <p:sldId id="263" r:id="rId23"/>
    <p:sldId id="439" r:id="rId24"/>
    <p:sldId id="440" r:id="rId25"/>
    <p:sldId id="938" r:id="rId26"/>
    <p:sldId id="939" r:id="rId27"/>
    <p:sldId id="940" r:id="rId28"/>
    <p:sldId id="941" r:id="rId29"/>
    <p:sldId id="942" r:id="rId30"/>
    <p:sldId id="945" r:id="rId31"/>
    <p:sldId id="944" r:id="rId32"/>
    <p:sldId id="946" r:id="rId33"/>
    <p:sldId id="947" r:id="rId34"/>
    <p:sldId id="662" r:id="rId35"/>
    <p:sldId id="360" r:id="rId36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5">
          <p15:clr>
            <a:srgbClr val="A4A3A4"/>
          </p15:clr>
        </p15:guide>
        <p15:guide id="2" pos="230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B2B2B2"/>
    <a:srgbClr val="CC6600"/>
    <a:srgbClr val="CCCCFF"/>
    <a:srgbClr val="CCFFCC"/>
    <a:srgbClr val="66FFCC"/>
    <a:srgbClr val="00CC99"/>
    <a:srgbClr val="00FFCC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03" autoAdjust="0"/>
    <p:restoredTop sz="93979" autoAdjust="0"/>
  </p:normalViewPr>
  <p:slideViewPr>
    <p:cSldViewPr>
      <p:cViewPr varScale="1">
        <p:scale>
          <a:sx n="58" d="100"/>
          <a:sy n="58" d="100"/>
        </p:scale>
        <p:origin x="36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31968"/>
    </p:cViewPr>
  </p:sorterViewPr>
  <p:notesViewPr>
    <p:cSldViewPr>
      <p:cViewPr varScale="1">
        <p:scale>
          <a:sx n="82" d="100"/>
          <a:sy n="82" d="100"/>
        </p:scale>
        <p:origin x="-3096" y="-90"/>
      </p:cViewPr>
      <p:guideLst>
        <p:guide orient="horz" pos="3025"/>
        <p:guide pos="230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0" tIns="48326" rIns="96650" bIns="48326" numCol="1" anchor="t" anchorCtr="0" compatLnSpc="1">
            <a:prstTxWarp prst="textNoShape">
              <a:avLst/>
            </a:prstTxWarp>
          </a:bodyPr>
          <a:lstStyle>
            <a:lvl1pPr defTabSz="967057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1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0" tIns="48326" rIns="96650" bIns="48326" numCol="1" anchor="t" anchorCtr="0" compatLnSpc="1">
            <a:prstTxWarp prst="textNoShape">
              <a:avLst/>
            </a:prstTxWarp>
          </a:bodyPr>
          <a:lstStyle>
            <a:lvl1pPr algn="r" defTabSz="967057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18601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0" tIns="48326" rIns="96650" bIns="48326" numCol="1" anchor="b" anchorCtr="0" compatLnSpc="1">
            <a:prstTxWarp prst="textNoShape">
              <a:avLst/>
            </a:prstTxWarp>
          </a:bodyPr>
          <a:lstStyle>
            <a:lvl1pPr defTabSz="967057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18601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0" tIns="48326" rIns="96650" bIns="48326" numCol="1" anchor="b" anchorCtr="0" compatLnSpc="1">
            <a:prstTxWarp prst="textNoShape">
              <a:avLst/>
            </a:prstTxWarp>
          </a:bodyPr>
          <a:lstStyle>
            <a:lvl1pPr algn="r" defTabSz="967057">
              <a:defRPr sz="1300"/>
            </a:lvl1pPr>
          </a:lstStyle>
          <a:p>
            <a:pPr>
              <a:defRPr/>
            </a:pPr>
            <a:fld id="{8C23C7EB-A72F-435F-ADB1-B5522938E7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61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371" tIns="48186" rIns="96371" bIns="48186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37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1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371" tIns="48186" rIns="96371" bIns="48186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3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19138"/>
            <a:ext cx="4802188" cy="36020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37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3112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371" tIns="48186" rIns="96371" bIns="481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437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18601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371" tIns="48186" rIns="96371" bIns="48186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37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18601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371" tIns="48186" rIns="96371" bIns="48186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1B491F88-34A7-42A3-900E-675E90E1B5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06656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491F88-34A7-42A3-900E-675E90E1B5EC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5051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491F88-34A7-42A3-900E-675E90E1B5EC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5767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dirty="0" smtClean="0">
                <a:latin typeface="Tahoma" pitchFamily="34" charset="0"/>
                <a:cs typeface="Tahoma" pitchFamily="34" charset="0"/>
              </a:rPr>
              <a:t>What is a Software Architecture?</a:t>
            </a:r>
          </a:p>
          <a:p>
            <a:r>
              <a:rPr lang="en-US" altLang="en-US" dirty="0" smtClean="0"/>
              <a:t>IEEE 1471</a:t>
            </a:r>
          </a:p>
          <a:p>
            <a:pPr lvl="1"/>
            <a:r>
              <a:rPr lang="en-US" altLang="en-US" dirty="0" smtClean="0"/>
              <a:t>Architecture is the fundamental organization of a system embodied in its components, their relationship to each other, and to the environment, and the principles guiding its design and evolution.</a:t>
            </a:r>
          </a:p>
          <a:p>
            <a:r>
              <a:rPr lang="en-US" altLang="en-US" dirty="0" smtClean="0"/>
              <a:t>High Level Structure</a:t>
            </a:r>
          </a:p>
          <a:p>
            <a:pPr lvl="1"/>
            <a:r>
              <a:rPr lang="en-US" altLang="en-US" dirty="0" smtClean="0"/>
              <a:t>No implementation details!</a:t>
            </a:r>
          </a:p>
          <a:p>
            <a:pPr lvl="1"/>
            <a:r>
              <a:rPr lang="en-US" altLang="en-US" dirty="0" smtClean="0"/>
              <a:t>Language agnostic</a:t>
            </a:r>
          </a:p>
          <a:p>
            <a:r>
              <a:rPr lang="en-US" altLang="en-US" dirty="0" smtClean="0"/>
              <a:t>The core pieces of a software architecture</a:t>
            </a:r>
          </a:p>
          <a:p>
            <a:pPr lvl="1"/>
            <a:r>
              <a:rPr lang="en-US" altLang="en-US" dirty="0" smtClean="0"/>
              <a:t>Identifying system components</a:t>
            </a:r>
          </a:p>
          <a:p>
            <a:pPr lvl="1"/>
            <a:r>
              <a:rPr lang="en-US" altLang="en-US" dirty="0" smtClean="0"/>
              <a:t>Understand how components interact with </a:t>
            </a:r>
          </a:p>
          <a:p>
            <a:pPr lvl="2"/>
            <a:r>
              <a:rPr lang="en-US" altLang="en-US" dirty="0" smtClean="0"/>
              <a:t>Other components</a:t>
            </a:r>
          </a:p>
          <a:p>
            <a:pPr lvl="2"/>
            <a:r>
              <a:rPr lang="en-US" altLang="en-US" dirty="0" smtClean="0"/>
              <a:t>Their environment</a:t>
            </a:r>
          </a:p>
          <a:p>
            <a:pPr lvl="1"/>
            <a:r>
              <a:rPr lang="en-US" altLang="en-US" dirty="0" smtClean="0"/>
              <a:t>Organizing the components into a system that is</a:t>
            </a:r>
          </a:p>
          <a:p>
            <a:pPr lvl="2"/>
            <a:r>
              <a:rPr lang="en-US" altLang="en-US" dirty="0" smtClean="0"/>
              <a:t>Understandable</a:t>
            </a:r>
          </a:p>
          <a:p>
            <a:pPr lvl="2"/>
            <a:r>
              <a:rPr lang="en-US" altLang="en-US" dirty="0" smtClean="0"/>
              <a:t>Modular</a:t>
            </a:r>
          </a:p>
          <a:p>
            <a:pPr lvl="2"/>
            <a:r>
              <a:rPr lang="en-US" altLang="en-US" dirty="0" smtClean="0"/>
              <a:t>Maintainable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491F88-34A7-42A3-900E-675E90E1B5EC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618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dirty="0" smtClean="0"/>
              <a:t>Why use a software architecture?</a:t>
            </a:r>
          </a:p>
          <a:p>
            <a:pPr lvl="1"/>
            <a:r>
              <a:rPr lang="en-US" altLang="en-US" dirty="0" smtClean="0"/>
              <a:t>Define the elements in the design</a:t>
            </a:r>
          </a:p>
          <a:p>
            <a:pPr lvl="1"/>
            <a:r>
              <a:rPr lang="en-US" altLang="en-US" dirty="0" smtClean="0"/>
              <a:t>Understand relationship of the components</a:t>
            </a:r>
          </a:p>
          <a:p>
            <a:pPr lvl="1"/>
            <a:r>
              <a:rPr lang="en-US" altLang="en-US" dirty="0" smtClean="0"/>
              <a:t>Describe the structure and behavior of the system</a:t>
            </a:r>
          </a:p>
          <a:p>
            <a:pPr lvl="1"/>
            <a:r>
              <a:rPr lang="en-US" altLang="en-US" dirty="0" smtClean="0"/>
              <a:t>Identify engineering decisions</a:t>
            </a:r>
          </a:p>
          <a:p>
            <a:pPr lvl="1"/>
            <a:r>
              <a:rPr lang="en-US" altLang="en-US" dirty="0" smtClean="0"/>
              <a:t>Review and hash out the design before implementation</a:t>
            </a:r>
          </a:p>
          <a:p>
            <a:pPr lvl="1"/>
            <a:r>
              <a:rPr lang="en-US" altLang="en-US" dirty="0" smtClean="0"/>
              <a:t>Identify holes in the requirements and implementation</a:t>
            </a:r>
          </a:p>
          <a:p>
            <a:pPr lvl="2"/>
            <a:endParaRPr lang="en-US" altLang="en-US" dirty="0" smtClean="0"/>
          </a:p>
          <a:p>
            <a:r>
              <a:rPr lang="en-US" altLang="en-US" dirty="0" smtClean="0"/>
              <a:t>How does one create a software architecture?</a:t>
            </a:r>
          </a:p>
          <a:p>
            <a:pPr lvl="1"/>
            <a:r>
              <a:rPr lang="en-US" altLang="en-US" dirty="0" smtClean="0"/>
              <a:t>Component Lists – just a simple list</a:t>
            </a:r>
            <a:r>
              <a:rPr lang="en-US" altLang="en-US" baseline="0" dirty="0" smtClean="0"/>
              <a:t> of components needed (timer, PWM, ADC, PIO, </a:t>
            </a:r>
            <a:r>
              <a:rPr lang="en-US" altLang="en-US" baseline="0" dirty="0" err="1" smtClean="0"/>
              <a:t>etc</a:t>
            </a:r>
            <a:r>
              <a:rPr lang="en-US" altLang="en-US" baseline="0" dirty="0" smtClean="0"/>
              <a:t>)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Component Layer Architecture – Group components into Application vs driver</a:t>
            </a:r>
          </a:p>
          <a:p>
            <a:pPr lvl="1"/>
            <a:r>
              <a:rPr lang="en-US" altLang="en-US" dirty="0" smtClean="0"/>
              <a:t>Flow Charts</a:t>
            </a:r>
          </a:p>
          <a:p>
            <a:pPr lvl="1"/>
            <a:r>
              <a:rPr lang="en-US" altLang="en-US" dirty="0" smtClean="0"/>
              <a:t>Sequence Diagrams – shows interaction between objects</a:t>
            </a:r>
            <a:r>
              <a:rPr lang="en-US" altLang="en-US" baseline="0" dirty="0" smtClean="0"/>
              <a:t> (messages or data transfers)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State Machines</a:t>
            </a:r>
          </a:p>
          <a:p>
            <a:pPr lvl="1"/>
            <a:r>
              <a:rPr lang="en-US" altLang="en-US" dirty="0" smtClean="0"/>
              <a:t>State Charts – Define state of object during entire life; event driven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491F88-34A7-42A3-900E-675E90E1B5EC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5122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491F88-34A7-42A3-900E-675E90E1B5EC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6201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280E1A8-FB69-44DF-9F6A-3D9266C98049}" type="slidenum">
              <a:rPr lang="en-US" smtClean="0"/>
              <a:pPr/>
              <a:t>24</a:t>
            </a:fld>
            <a:endParaRPr lang="en-US" smtClean="0"/>
          </a:p>
        </p:txBody>
      </p:sp>
      <p:sp>
        <p:nvSpPr>
          <p:cNvPr id="275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5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5003785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280E1A8-FB69-44DF-9F6A-3D9266C98049}" type="slidenum">
              <a:rPr lang="en-US" smtClean="0"/>
              <a:pPr/>
              <a:t>25</a:t>
            </a:fld>
            <a:endParaRPr lang="en-US" smtClean="0"/>
          </a:p>
        </p:txBody>
      </p:sp>
      <p:sp>
        <p:nvSpPr>
          <p:cNvPr id="275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5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2355597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280E1A8-FB69-44DF-9F6A-3D9266C98049}" type="slidenum">
              <a:rPr lang="en-US" smtClean="0"/>
              <a:pPr/>
              <a:t>26</a:t>
            </a:fld>
            <a:endParaRPr lang="en-US" smtClean="0"/>
          </a:p>
        </p:txBody>
      </p:sp>
      <p:sp>
        <p:nvSpPr>
          <p:cNvPr id="275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5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1921075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280E1A8-FB69-44DF-9F6A-3D9266C98049}" type="slidenum">
              <a:rPr lang="en-US" smtClean="0"/>
              <a:pPr/>
              <a:t>27</a:t>
            </a:fld>
            <a:endParaRPr lang="en-US" smtClean="0"/>
          </a:p>
        </p:txBody>
      </p:sp>
      <p:sp>
        <p:nvSpPr>
          <p:cNvPr id="275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5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/>
            <a:r>
              <a:rPr lang="en-US" altLang="en-US" dirty="0" smtClean="0"/>
              <a:t>Define Requirements</a:t>
            </a:r>
          </a:p>
          <a:p>
            <a:pPr lvl="1"/>
            <a:r>
              <a:rPr lang="en-US" altLang="en-US" dirty="0" smtClean="0"/>
              <a:t>Hard Real-Time Constraints</a:t>
            </a:r>
          </a:p>
          <a:p>
            <a:pPr lvl="1"/>
            <a:r>
              <a:rPr lang="en-US" altLang="en-US" dirty="0" smtClean="0"/>
              <a:t>Soft Real-Time Constraints</a:t>
            </a:r>
          </a:p>
          <a:p>
            <a:pPr lvl="1"/>
            <a:r>
              <a:rPr lang="en-US" altLang="en-US" dirty="0" smtClean="0"/>
              <a:t>Sensors and hardware interfaces</a:t>
            </a:r>
          </a:p>
          <a:p>
            <a:pPr lvl="1"/>
            <a:r>
              <a:rPr lang="en-US" altLang="en-US" dirty="0" smtClean="0"/>
              <a:t>System Timing</a:t>
            </a:r>
          </a:p>
          <a:p>
            <a:pPr lvl="1"/>
            <a:r>
              <a:rPr lang="en-US" altLang="en-US" dirty="0" smtClean="0"/>
              <a:t>Human interactions</a:t>
            </a:r>
          </a:p>
          <a:p>
            <a:pPr lvl="1"/>
            <a:r>
              <a:rPr lang="en-US" altLang="en-US" dirty="0" smtClean="0"/>
              <a:t>Identify synchronous events</a:t>
            </a:r>
          </a:p>
          <a:p>
            <a:pPr lvl="1"/>
            <a:r>
              <a:rPr lang="en-US" altLang="en-US" dirty="0" smtClean="0"/>
              <a:t>Identify asynchronous events</a:t>
            </a:r>
          </a:p>
        </p:txBody>
      </p:sp>
    </p:spTree>
    <p:extLst>
      <p:ext uri="{BB962C8B-B14F-4D97-AF65-F5344CB8AC3E}">
        <p14:creationId xmlns:p14="http://schemas.microsoft.com/office/powerpoint/2010/main" val="32212257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280E1A8-FB69-44DF-9F6A-3D9266C98049}" type="slidenum">
              <a:rPr lang="en-US" smtClean="0"/>
              <a:pPr/>
              <a:t>28</a:t>
            </a:fld>
            <a:endParaRPr lang="en-US" smtClean="0"/>
          </a:p>
        </p:txBody>
      </p:sp>
      <p:sp>
        <p:nvSpPr>
          <p:cNvPr id="275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5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267707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280E1A8-FB69-44DF-9F6A-3D9266C98049}" type="slidenum">
              <a:rPr lang="en-US" smtClean="0"/>
              <a:pPr/>
              <a:t>29</a:t>
            </a:fld>
            <a:endParaRPr lang="en-US" smtClean="0"/>
          </a:p>
        </p:txBody>
      </p:sp>
      <p:sp>
        <p:nvSpPr>
          <p:cNvPr id="275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5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1901268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280E1A8-FB69-44DF-9F6A-3D9266C98049}" type="slidenum">
              <a:rPr lang="en-US" smtClean="0"/>
              <a:pPr/>
              <a:t>30</a:t>
            </a:fld>
            <a:endParaRPr lang="en-US" smtClean="0"/>
          </a:p>
        </p:txBody>
      </p:sp>
      <p:sp>
        <p:nvSpPr>
          <p:cNvPr id="275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5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 smtClean="0"/>
              <a:t>Phase 1 is the most critical for the success of the embedded design. A lot of the time should be allocated here to make your get the design correct.</a:t>
            </a:r>
          </a:p>
          <a:p>
            <a:pPr eaLnBrk="1" hangingPunct="1"/>
            <a:endParaRPr lang="en-US" dirty="0" smtClean="0"/>
          </a:p>
          <a:p>
            <a:pPr eaLnBrk="1" hangingPunct="1"/>
            <a:r>
              <a:rPr lang="en-US" dirty="0" smtClean="0"/>
              <a:t>Phase 1 Can be partitioned into 6 Steps:</a:t>
            </a:r>
          </a:p>
          <a:p>
            <a:pPr lvl="1" eaLnBrk="1" hangingPunct="1"/>
            <a:r>
              <a:rPr lang="en-US" dirty="0" smtClean="0"/>
              <a:t>Step 1: Product Concept is created. This is</a:t>
            </a:r>
            <a:r>
              <a:rPr lang="en-US" baseline="0" dirty="0" smtClean="0"/>
              <a:t> represented by the lab handout the outlines the concept of the lab.</a:t>
            </a:r>
          </a:p>
          <a:p>
            <a:pPr lvl="1" eaLnBrk="1" hangingPunct="1"/>
            <a:r>
              <a:rPr lang="en-US" baseline="0" dirty="0" smtClean="0"/>
              <a:t>Step 2:.</a:t>
            </a:r>
          </a:p>
          <a:p>
            <a:pPr lvl="1" eaLnBrk="1" hangingPunct="1"/>
            <a:r>
              <a:rPr lang="en-US" dirty="0" smtClean="0"/>
              <a:t>Step</a:t>
            </a:r>
            <a:r>
              <a:rPr lang="en-US" baseline="0" dirty="0" smtClean="0"/>
              <a:t> 3: Sketch out an architecture that implements design. Identify all the major components define interaction between components.</a:t>
            </a:r>
          </a:p>
          <a:p>
            <a:pPr lvl="1" eaLnBrk="1" hangingPunct="1"/>
            <a:r>
              <a:rPr lang="en-US" baseline="0" dirty="0" smtClean="0"/>
              <a:t>Step 4: Review the architecture. Apply various use cases to the architecture and ask others for feedback.</a:t>
            </a:r>
          </a:p>
          <a:p>
            <a:pPr lvl="1" eaLnBrk="1" hangingPunct="1"/>
            <a:r>
              <a:rPr lang="en-US" dirty="0" smtClean="0"/>
              <a:t>Step 5: Ask yourself</a:t>
            </a:r>
            <a:r>
              <a:rPr lang="en-US" baseline="0" dirty="0" smtClean="0"/>
              <a:t> does the design satisfies all the requirements and met customer expectations!</a:t>
            </a:r>
            <a:endParaRPr lang="en-US" dirty="0" smtClean="0"/>
          </a:p>
          <a:p>
            <a:pPr lvl="1" eaLnBrk="1" hangingPunct="1"/>
            <a:r>
              <a:rPr lang="en-US" dirty="0" smtClean="0"/>
              <a:t>Step</a:t>
            </a:r>
            <a:r>
              <a:rPr lang="en-US" baseline="0" dirty="0" smtClean="0"/>
              <a:t> 6</a:t>
            </a:r>
            <a:r>
              <a:rPr lang="en-US" dirty="0" smtClean="0"/>
              <a:t>: If architecture</a:t>
            </a:r>
            <a:r>
              <a:rPr lang="en-US" baseline="0" dirty="0" smtClean="0"/>
              <a:t> fails to satisfy all the requirements or met customer expectations then find out why and modify the design.</a:t>
            </a:r>
            <a:endParaRPr lang="en-US" dirty="0" smtClean="0"/>
          </a:p>
          <a:p>
            <a:pPr lvl="1" eaLnBrk="1" hangingPunct="1"/>
            <a:r>
              <a:rPr lang="en-US" dirty="0" smtClean="0"/>
              <a:t>Stage 4: If architecture</a:t>
            </a:r>
            <a:r>
              <a:rPr lang="en-US" baseline="0" dirty="0" smtClean="0"/>
              <a:t> satisfy all the requirements and met customer expectations then start designing.</a:t>
            </a:r>
            <a:endParaRPr lang="en-US" dirty="0" smtClean="0"/>
          </a:p>
          <a:p>
            <a:pPr lvl="1" eaLnBrk="1" hangingPunct="1"/>
            <a:r>
              <a:rPr lang="en-US" dirty="0" smtClean="0"/>
              <a:t>Stage 5: Documenting the architecture</a:t>
            </a:r>
          </a:p>
          <a:p>
            <a:pPr lvl="1" eaLnBrk="1" hangingPunct="1"/>
            <a:r>
              <a:rPr lang="en-US" dirty="0" smtClean="0"/>
              <a:t>Stage 6: Analyzing and reviewing architecture</a:t>
            </a:r>
          </a:p>
        </p:txBody>
      </p:sp>
    </p:spTree>
    <p:extLst>
      <p:ext uri="{BB962C8B-B14F-4D97-AF65-F5344CB8AC3E}">
        <p14:creationId xmlns:p14="http://schemas.microsoft.com/office/powerpoint/2010/main" val="33777180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280E1A8-FB69-44DF-9F6A-3D9266C98049}" type="slidenum">
              <a:rPr lang="en-US" smtClean="0"/>
              <a:pPr/>
              <a:t>31</a:t>
            </a:fld>
            <a:endParaRPr lang="en-US" smtClean="0"/>
          </a:p>
        </p:txBody>
      </p:sp>
      <p:sp>
        <p:nvSpPr>
          <p:cNvPr id="275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5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8583237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280E1A8-FB69-44DF-9F6A-3D9266C98049}" type="slidenum">
              <a:rPr lang="en-US" smtClean="0"/>
              <a:pPr/>
              <a:t>32</a:t>
            </a:fld>
            <a:endParaRPr lang="en-US" smtClean="0"/>
          </a:p>
        </p:txBody>
      </p:sp>
      <p:sp>
        <p:nvSpPr>
          <p:cNvPr id="275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5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8581853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280E1A8-FB69-44DF-9F6A-3D9266C98049}" type="slidenum">
              <a:rPr lang="en-US" smtClean="0"/>
              <a:pPr/>
              <a:t>33</a:t>
            </a:fld>
            <a:endParaRPr lang="en-US" smtClean="0"/>
          </a:p>
        </p:txBody>
      </p:sp>
      <p:sp>
        <p:nvSpPr>
          <p:cNvPr id="275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5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6919944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491F88-34A7-42A3-900E-675E90E1B5EC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224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741488"/>
            <a:ext cx="8229600" cy="9366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2678112"/>
            <a:ext cx="8534400" cy="227488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4985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0207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259459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19201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1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5605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219200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1858963"/>
            <a:ext cx="4040188" cy="42672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219200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58963"/>
            <a:ext cx="4041775" cy="42672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4737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15055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378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2413" cy="685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75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457201"/>
            <a:ext cx="8229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 dirty="0" smtClean="0"/>
          </a:p>
        </p:txBody>
      </p:sp>
      <p:sp>
        <p:nvSpPr>
          <p:cNvPr id="307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19202"/>
            <a:ext cx="8229600" cy="4952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5" name="Rectangle 23"/>
          <p:cNvSpPr>
            <a:spLocks noChangeArrowheads="1"/>
          </p:cNvSpPr>
          <p:nvPr userDrawn="1"/>
        </p:nvSpPr>
        <p:spPr bwMode="auto">
          <a:xfrm>
            <a:off x="5954713" y="6448425"/>
            <a:ext cx="2909888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488" tIns="46038" rIns="90488" bIns="46038">
            <a:spAutoFit/>
          </a:bodyPr>
          <a:lstStyle/>
          <a:p>
            <a:pPr algn="r">
              <a:defRPr/>
            </a:pPr>
            <a:r>
              <a:rPr lang="en-US" sz="900" dirty="0">
                <a:solidFill>
                  <a:schemeClr val="bg2"/>
                </a:solidFill>
                <a:latin typeface="Calibri" panose="020F0502020204030204" pitchFamily="34" charset="0"/>
                <a:cs typeface="Aparajita" pitchFamily="34" charset="0"/>
              </a:rPr>
              <a:t>0618-561 </a:t>
            </a:r>
            <a:r>
              <a:rPr lang="en-US" sz="900" dirty="0" smtClean="0">
                <a:solidFill>
                  <a:schemeClr val="bg2"/>
                </a:solidFill>
                <a:latin typeface="Calibri" panose="020F0502020204030204" pitchFamily="34" charset="0"/>
                <a:cs typeface="Aparajita" pitchFamily="34" charset="0"/>
              </a:rPr>
              <a:t>ESD-I</a:t>
            </a:r>
          </a:p>
          <a:p>
            <a:pPr algn="r">
              <a:defRPr/>
            </a:pPr>
            <a:r>
              <a:rPr lang="en-US" sz="900" dirty="0" smtClean="0">
                <a:solidFill>
                  <a:schemeClr val="bg2"/>
                </a:solidFill>
                <a:latin typeface="Calibri" panose="020F0502020204030204" pitchFamily="34" charset="0"/>
                <a:cs typeface="Aparajita" pitchFamily="34" charset="0"/>
              </a:rPr>
              <a:t>Page </a:t>
            </a:r>
            <a:fld id="{4A72A2CC-3767-4B73-A694-B7E9FB5443C2}" type="slidenum">
              <a:rPr lang="en-US" sz="900" smtClean="0">
                <a:solidFill>
                  <a:schemeClr val="bg2"/>
                </a:solidFill>
                <a:latin typeface="Calibri" panose="020F0502020204030204" pitchFamily="34" charset="0"/>
                <a:cs typeface="Aparajita" pitchFamily="34" charset="0"/>
              </a:rPr>
              <a:t>‹#›</a:t>
            </a:fld>
            <a:endParaRPr lang="en-US" sz="900" dirty="0" smtClean="0">
              <a:solidFill>
                <a:schemeClr val="bg2"/>
              </a:solidFill>
              <a:latin typeface="Calibri" panose="020F0502020204030204" pitchFamily="34" charset="0"/>
              <a:cs typeface="Aparajit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3693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4" r:id="rId1"/>
    <p:sldLayoutId id="2147483875" r:id="rId2"/>
    <p:sldLayoutId id="2147483876" r:id="rId3"/>
    <p:sldLayoutId id="2147483877" r:id="rId4"/>
    <p:sldLayoutId id="2147483878" r:id="rId5"/>
    <p:sldLayoutId id="2147483879" r:id="rId6"/>
    <p:sldLayoutId id="2147483880" r:id="rId7"/>
  </p:sldLayoutIdLst>
  <p:timing>
    <p:tnLst>
      <p:par>
        <p:cTn id="1" dur="indefinite" restart="never" nodeType="tmRoot"/>
      </p:par>
    </p:tnLst>
  </p:timing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3600" kern="1200">
          <a:solidFill>
            <a:srgbClr val="513026"/>
          </a:solidFill>
          <a:latin typeface="Georgia"/>
          <a:ea typeface="ＭＳ Ｐゴシック" pitchFamily="-65" charset="-128"/>
          <a:cs typeface="Georgia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513026"/>
          </a:solidFill>
          <a:latin typeface="Georgia" pitchFamily="-65" charset="0"/>
          <a:ea typeface="ＭＳ Ｐゴシック" pitchFamily="-65" charset="-128"/>
          <a:cs typeface="Georgia" pitchFamily="18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513026"/>
          </a:solidFill>
          <a:latin typeface="Georgia" pitchFamily="-65" charset="0"/>
          <a:ea typeface="ＭＳ Ｐゴシック" pitchFamily="-65" charset="-128"/>
          <a:cs typeface="Georgia" pitchFamily="18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513026"/>
          </a:solidFill>
          <a:latin typeface="Georgia" pitchFamily="-65" charset="0"/>
          <a:ea typeface="ＭＳ Ｐゴシック" pitchFamily="-65" charset="-128"/>
          <a:cs typeface="Georgia" pitchFamily="18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513026"/>
          </a:solidFill>
          <a:latin typeface="Georgia" pitchFamily="-65" charset="0"/>
          <a:ea typeface="ＭＳ Ｐゴシック" pitchFamily="-65" charset="-128"/>
          <a:cs typeface="Georgia" pitchFamily="18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513026"/>
          </a:solidFill>
          <a:latin typeface="Georgia" pitchFamily="-65" charset="0"/>
          <a:ea typeface="ＭＳ Ｐゴシック" pitchFamily="-65" charset="-128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513026"/>
          </a:solidFill>
          <a:latin typeface="Georgia" pitchFamily="-65" charset="0"/>
          <a:ea typeface="ＭＳ Ｐゴシック" pitchFamily="-65" charset="-128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513026"/>
          </a:solidFill>
          <a:latin typeface="Georgia" pitchFamily="-65" charset="0"/>
          <a:ea typeface="ＭＳ Ｐゴシック" pitchFamily="-65" charset="-128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513026"/>
          </a:solidFill>
          <a:latin typeface="Georgia" pitchFamily="-65" charset="0"/>
          <a:ea typeface="ＭＳ Ｐゴシック" pitchFamily="-65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Arial"/>
          <a:ea typeface="ＭＳ Ｐゴシック" pitchFamily="-65" charset="-128"/>
          <a:cs typeface="Arial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b="1" kern="1200">
          <a:solidFill>
            <a:schemeClr val="tx1"/>
          </a:solidFill>
          <a:latin typeface="Arial"/>
          <a:ea typeface="ＭＳ Ｐゴシック" pitchFamily="-65" charset="-128"/>
          <a:cs typeface="Arial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ＭＳ Ｐゴシック" pitchFamily="-65" charset="-128"/>
          <a:cs typeface="Arial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1800" b="1" i="1" kern="1200">
          <a:solidFill>
            <a:schemeClr val="tx1"/>
          </a:solidFill>
          <a:latin typeface="Arial"/>
          <a:ea typeface="ＭＳ Ｐゴシック" pitchFamily="-65" charset="-128"/>
          <a:cs typeface="Arial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1600" kern="1200">
          <a:solidFill>
            <a:schemeClr val="tx1"/>
          </a:solidFill>
          <a:latin typeface="Arial"/>
          <a:ea typeface="ＭＳ Ｐゴシック" pitchFamily="-65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2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3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4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5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6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7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8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9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0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4.e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/>
            </a:r>
            <a:br>
              <a:rPr lang="en-US" sz="4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</a:br>
            <a:r>
              <a:rPr lang="en-US" sz="4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Embedded Systems Introduction</a:t>
            </a:r>
            <a:r>
              <a:rPr lang="en-US" b="0" dirty="0" smtClean="0">
                <a:solidFill>
                  <a:schemeClr val="tx1"/>
                </a:solidFill>
              </a:rPr>
              <a:t/>
            </a:r>
            <a:br>
              <a:rPr lang="en-US" b="0" dirty="0" smtClean="0">
                <a:solidFill>
                  <a:schemeClr val="tx1"/>
                </a:solidFill>
              </a:rPr>
            </a:br>
            <a:r>
              <a:rPr lang="en-US" b="0" dirty="0" smtClean="0">
                <a:solidFill>
                  <a:schemeClr val="tx1"/>
                </a:solidFill>
              </a:rPr>
              <a:t/>
            </a:r>
            <a:br>
              <a:rPr lang="en-US" b="0" dirty="0" smtClean="0">
                <a:solidFill>
                  <a:schemeClr val="tx1"/>
                </a:solidFill>
              </a:rPr>
            </a:br>
            <a:endParaRPr lang="en-US" dirty="0" smtClean="0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381000" y="3124200"/>
            <a:ext cx="8534400" cy="2274888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Reminders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Class Mon/Wed/Fri</a:t>
            </a:r>
          </a:p>
          <a:p>
            <a:pPr lvl="1"/>
            <a:r>
              <a:rPr lang="en-US" dirty="0" smtClean="0"/>
              <a:t>Mon / Wed in person </a:t>
            </a:r>
            <a:r>
              <a:rPr lang="en-US" dirty="0" smtClean="0"/>
              <a:t>WAL A420 </a:t>
            </a:r>
            <a:r>
              <a:rPr lang="en-US" dirty="0" smtClean="0"/>
              <a:t>9 – 9:50am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Friday is ONLINE 9 – 9:50am</a:t>
            </a:r>
          </a:p>
          <a:p>
            <a:pPr lvl="2"/>
            <a:r>
              <a:rPr lang="en-US" dirty="0" smtClean="0">
                <a:solidFill>
                  <a:srgbClr val="FF0000"/>
                </a:solidFill>
              </a:rPr>
              <a:t>These will be working group sessions </a:t>
            </a:r>
          </a:p>
          <a:p>
            <a:pPr lvl="2"/>
            <a:r>
              <a:rPr lang="en-US" dirty="0" smtClean="0">
                <a:solidFill>
                  <a:srgbClr val="FF0000"/>
                </a:solidFill>
              </a:rPr>
              <a:t>If you have completed the demo or lab for that given day ahead of time attendance is not required. </a:t>
            </a:r>
            <a:endParaRPr lang="en-US" dirty="0" smtClean="0"/>
          </a:p>
          <a:p>
            <a:pPr lvl="1"/>
            <a:r>
              <a:rPr lang="en-US" dirty="0" smtClean="0"/>
              <a:t>Obtain DE1-SoC board </a:t>
            </a:r>
          </a:p>
          <a:p>
            <a:pPr lvl="2"/>
            <a:r>
              <a:rPr lang="en-US" dirty="0" smtClean="0"/>
              <a:t>Follow instructions in announcements</a:t>
            </a:r>
          </a:p>
          <a:p>
            <a:pPr lvl="1"/>
            <a:r>
              <a:rPr lang="en-US" dirty="0" smtClean="0"/>
              <a:t>Download </a:t>
            </a:r>
            <a:r>
              <a:rPr lang="en-US" dirty="0" err="1" smtClean="0"/>
              <a:t>Quartus</a:t>
            </a:r>
            <a:r>
              <a:rPr lang="en-US" dirty="0" smtClean="0"/>
              <a:t> Prime Lite 18.1</a:t>
            </a:r>
          </a:p>
          <a:p>
            <a:pPr lvl="2"/>
            <a:r>
              <a:rPr lang="en-US" dirty="0" smtClean="0"/>
              <a:t>Be sure it is 18.1 or you will have a tool variation from the labs</a:t>
            </a:r>
          </a:p>
          <a:p>
            <a:r>
              <a:rPr lang="en-US" dirty="0" smtClean="0"/>
              <a:t>Review Syllabus and Schedule</a:t>
            </a:r>
          </a:p>
          <a:p>
            <a:pPr lvl="1"/>
            <a:r>
              <a:rPr lang="en-US" dirty="0" err="1" smtClean="0"/>
              <a:t>myCourses</a:t>
            </a:r>
            <a:r>
              <a:rPr lang="en-US" dirty="0" smtClean="0"/>
              <a:t> overview</a:t>
            </a:r>
          </a:p>
        </p:txBody>
      </p:sp>
    </p:spTree>
    <p:extLst>
      <p:ext uri="{BB962C8B-B14F-4D97-AF65-F5344CB8AC3E}">
        <p14:creationId xmlns:p14="http://schemas.microsoft.com/office/powerpoint/2010/main" val="3641620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Schedule This </a:t>
            </a:r>
            <a:r>
              <a:rPr lang="en-US" dirty="0"/>
              <a:t>S</a:t>
            </a:r>
            <a:r>
              <a:rPr lang="en-US" dirty="0" smtClean="0"/>
              <a:t>emester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Complete first Quiz – Due </a:t>
            </a:r>
            <a:r>
              <a:rPr lang="en-US" b="1" u="sng" dirty="0" smtClean="0"/>
              <a:t>Sunday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Quizzes section of </a:t>
            </a:r>
            <a:r>
              <a:rPr lang="en-US" dirty="0" err="1" smtClean="0"/>
              <a:t>myCourses</a:t>
            </a:r>
            <a:endParaRPr lang="en-US" dirty="0" smtClean="0"/>
          </a:p>
          <a:p>
            <a:pPr lvl="1"/>
            <a:r>
              <a:rPr lang="en-US" dirty="0" smtClean="0"/>
              <a:t>Each week quizzes will cover material from lecture</a:t>
            </a:r>
          </a:p>
          <a:p>
            <a:pPr lvl="1"/>
            <a:r>
              <a:rPr lang="en-US" dirty="0" smtClean="0"/>
              <a:t>Typically 10 questions, 15 minutes </a:t>
            </a:r>
          </a:p>
          <a:p>
            <a:pPr lvl="2"/>
            <a:r>
              <a:rPr lang="en-US" dirty="0" smtClean="0"/>
              <a:t>Be sure to review weeks material before you take the quiz!</a:t>
            </a:r>
          </a:p>
          <a:p>
            <a:r>
              <a:rPr lang="en-US" dirty="0" smtClean="0"/>
              <a:t>Complete first Demo assignment – Due </a:t>
            </a:r>
            <a:r>
              <a:rPr lang="en-US" b="1" u="sng" dirty="0" smtClean="0"/>
              <a:t>Friday</a:t>
            </a:r>
          </a:p>
          <a:p>
            <a:pPr lvl="1"/>
            <a:r>
              <a:rPr lang="en-US" dirty="0" smtClean="0"/>
              <a:t>Dropbox video or documentation on </a:t>
            </a:r>
            <a:r>
              <a:rPr lang="en-US" dirty="0" err="1" smtClean="0"/>
              <a:t>myCourses</a:t>
            </a:r>
            <a:endParaRPr lang="en-US" dirty="0" smtClean="0"/>
          </a:p>
          <a:p>
            <a:r>
              <a:rPr lang="en-US" dirty="0" smtClean="0"/>
              <a:t>Lab due dates posted in schedule</a:t>
            </a:r>
          </a:p>
          <a:p>
            <a:pPr lvl="1"/>
            <a:r>
              <a:rPr lang="en-US" dirty="0" smtClean="0"/>
              <a:t>No reports </a:t>
            </a:r>
          </a:p>
          <a:p>
            <a:pPr lvl="1"/>
            <a:r>
              <a:rPr lang="en-US" dirty="0" smtClean="0"/>
              <a:t>Zip entire project for reproduction </a:t>
            </a:r>
          </a:p>
          <a:p>
            <a:pPr lvl="1"/>
            <a:r>
              <a:rPr lang="en-US" dirty="0" smtClean="0"/>
              <a:t>Paper signoffs </a:t>
            </a:r>
            <a:endParaRPr lang="en-US" dirty="0"/>
          </a:p>
          <a:p>
            <a:pPr lvl="1"/>
            <a:r>
              <a:rPr lang="en-US" dirty="0" smtClean="0"/>
              <a:t>TA: </a:t>
            </a:r>
            <a:r>
              <a:rPr lang="en-US" dirty="0" smtClean="0"/>
              <a:t>Santi Sanchez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522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an Embedded System?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 smtClean="0"/>
              <a:t>Any system that includes a programmable computer, but is not itself a general purpose computer</a:t>
            </a:r>
          </a:p>
          <a:p>
            <a:pPr marL="457200" indent="-457200">
              <a:buFont typeface="+mj-lt"/>
              <a:buAutoNum type="arabicPeriod"/>
            </a:pP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A microprocessor-based system that is built to control a function or a range of functions and is not designed to be programmed by the end user</a:t>
            </a:r>
          </a:p>
          <a:p>
            <a:pPr marL="457200" indent="-457200">
              <a:buFont typeface="+mj-lt"/>
              <a:buAutoNum type="arabicPeriod"/>
            </a:pP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A system designed to perform one specific task and is optimized for that application</a:t>
            </a:r>
          </a:p>
          <a:p>
            <a:pPr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968146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81000"/>
            <a:ext cx="7498080" cy="1143000"/>
          </a:xfrm>
        </p:spPr>
        <p:txBody>
          <a:bodyPr/>
          <a:lstStyle/>
          <a:p>
            <a:r>
              <a:rPr lang="en-US" dirty="0" smtClean="0"/>
              <a:t>Problems With Given Definition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524000"/>
            <a:ext cx="8229600" cy="3988526"/>
          </a:xfrm>
        </p:spPr>
        <p:txBody>
          <a:bodyPr/>
          <a:lstStyle/>
          <a:p>
            <a:r>
              <a:rPr lang="en-US" dirty="0" smtClean="0"/>
              <a:t>Field is outgrowing traditional descriptions as technology advances and cost of implementation of various hardware and software components decreases.</a:t>
            </a:r>
          </a:p>
          <a:p>
            <a:r>
              <a:rPr lang="en-US" dirty="0" smtClean="0"/>
              <a:t>Devices such as smart phones designed to do a variety of functions and run a variety of applications.</a:t>
            </a:r>
          </a:p>
          <a:p>
            <a:r>
              <a:rPr lang="en-US" dirty="0" smtClean="0"/>
              <a:t>Where does the </a:t>
            </a:r>
            <a:r>
              <a:rPr lang="en-US" dirty="0" err="1" smtClean="0"/>
              <a:t>iPad</a:t>
            </a:r>
            <a:r>
              <a:rPr lang="en-US" dirty="0" smtClean="0"/>
              <a:t> fit in?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676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7682" y="685800"/>
            <a:ext cx="8509389" cy="762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How Do Embedded Systems Differ From PCs?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493792" y="1394619"/>
            <a:ext cx="4040188" cy="639762"/>
          </a:xfrm>
        </p:spPr>
        <p:txBody>
          <a:bodyPr>
            <a:normAutofit/>
          </a:bodyPr>
          <a:lstStyle/>
          <a:p>
            <a:pPr algn="ctr"/>
            <a:r>
              <a:rPr lang="en-US" sz="2800" dirty="0" smtClean="0"/>
              <a:t>Embedded System</a:t>
            </a:r>
            <a:endParaRPr lang="en-US" sz="2800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32189" y="2209800"/>
            <a:ext cx="4040188" cy="4267201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Specific application that is known at design time</a:t>
            </a:r>
          </a:p>
          <a:p>
            <a:r>
              <a:rPr lang="en-US" dirty="0" smtClean="0"/>
              <a:t>Not programmable by end user</a:t>
            </a:r>
          </a:p>
          <a:p>
            <a:r>
              <a:rPr lang="en-US" dirty="0" smtClean="0"/>
              <a:t>Optimized for fixed run-time requirements</a:t>
            </a:r>
          </a:p>
          <a:p>
            <a:r>
              <a:rPr lang="en-US" dirty="0" smtClean="0"/>
              <a:t>Criteria</a:t>
            </a:r>
          </a:p>
          <a:p>
            <a:pPr lvl="1"/>
            <a:r>
              <a:rPr lang="en-US" dirty="0" smtClean="0"/>
              <a:t>Cost</a:t>
            </a:r>
          </a:p>
          <a:p>
            <a:pPr lvl="1"/>
            <a:r>
              <a:rPr lang="en-US" dirty="0" smtClean="0"/>
              <a:t>Reliability</a:t>
            </a:r>
          </a:p>
          <a:p>
            <a:pPr lvl="1"/>
            <a:r>
              <a:rPr lang="en-US" dirty="0" smtClean="0"/>
              <a:t>Power consumption</a:t>
            </a:r>
          </a:p>
          <a:p>
            <a:pPr lvl="1"/>
            <a:r>
              <a:rPr lang="en-US" dirty="0" smtClean="0"/>
              <a:t>size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>
          <a:xfrm>
            <a:off x="4672946" y="1394619"/>
            <a:ext cx="4041775" cy="639762"/>
          </a:xfrm>
        </p:spPr>
        <p:txBody>
          <a:bodyPr>
            <a:normAutofit/>
          </a:bodyPr>
          <a:lstStyle/>
          <a:p>
            <a:pPr algn="ctr"/>
            <a:r>
              <a:rPr lang="en-US" sz="2800" dirty="0" smtClean="0"/>
              <a:t>PC</a:t>
            </a:r>
            <a:endParaRPr lang="en-US" sz="2800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>
          <a:xfrm>
            <a:off x="4800600" y="2209799"/>
            <a:ext cx="4041775" cy="4267201"/>
          </a:xfrm>
        </p:spPr>
        <p:txBody>
          <a:bodyPr/>
          <a:lstStyle/>
          <a:p>
            <a:r>
              <a:rPr lang="en-US" sz="2200" dirty="0" smtClean="0"/>
              <a:t>Broad class of applications</a:t>
            </a:r>
          </a:p>
          <a:p>
            <a:endParaRPr lang="en-US" sz="2200" dirty="0" smtClean="0"/>
          </a:p>
          <a:p>
            <a:r>
              <a:rPr lang="en-US" sz="2200" dirty="0" smtClean="0"/>
              <a:t>Programmable by end user</a:t>
            </a:r>
          </a:p>
          <a:p>
            <a:endParaRPr lang="en-US" sz="2200" dirty="0" smtClean="0"/>
          </a:p>
          <a:p>
            <a:r>
              <a:rPr lang="en-US" sz="2200" dirty="0" smtClean="0"/>
              <a:t>Faster is better</a:t>
            </a:r>
          </a:p>
          <a:p>
            <a:r>
              <a:rPr lang="en-US" sz="2200" dirty="0" smtClean="0"/>
              <a:t>Criteria</a:t>
            </a:r>
          </a:p>
          <a:p>
            <a:pPr lvl="1"/>
            <a:r>
              <a:rPr lang="en-US" sz="1900" dirty="0" smtClean="0"/>
              <a:t>Cost</a:t>
            </a:r>
          </a:p>
          <a:p>
            <a:pPr lvl="1"/>
            <a:r>
              <a:rPr lang="en-US" sz="1900" dirty="0" smtClean="0"/>
              <a:t>Average speed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590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04800"/>
            <a:ext cx="749808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Components of an Embedded System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2505075" y="2157412"/>
            <a:ext cx="4133850" cy="3076575"/>
          </a:xfrm>
        </p:spPr>
      </p:pic>
      <p:sp>
        <p:nvSpPr>
          <p:cNvPr id="6" name="TextBox 5"/>
          <p:cNvSpPr txBox="1"/>
          <p:nvPr/>
        </p:nvSpPr>
        <p:spPr>
          <a:xfrm>
            <a:off x="4764387" y="2180436"/>
            <a:ext cx="11392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 smtClean="0">
                <a:solidFill>
                  <a:srgbClr val="FF0000"/>
                </a:solidFill>
              </a:rPr>
              <a:t>Data Memory</a:t>
            </a:r>
          </a:p>
          <a:p>
            <a:r>
              <a:rPr lang="en-US" sz="1400" i="1" dirty="0" smtClean="0">
                <a:solidFill>
                  <a:srgbClr val="FF0000"/>
                </a:solidFill>
              </a:rPr>
              <a:t>(Volatile)</a:t>
            </a:r>
            <a:endParaRPr lang="en-US" sz="1400" i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75541" y="2164497"/>
            <a:ext cx="13611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 smtClean="0">
                <a:solidFill>
                  <a:srgbClr val="FF0000"/>
                </a:solidFill>
              </a:rPr>
              <a:t>Program Memory</a:t>
            </a:r>
          </a:p>
          <a:p>
            <a:r>
              <a:rPr lang="en-US" sz="1400" i="1" dirty="0" smtClean="0">
                <a:solidFill>
                  <a:srgbClr val="FF0000"/>
                </a:solidFill>
              </a:rPr>
              <a:t>(Non-volatile)</a:t>
            </a:r>
            <a:endParaRPr lang="en-US" sz="1400" i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800" y="3276600"/>
            <a:ext cx="12434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 smtClean="0">
                <a:solidFill>
                  <a:srgbClr val="FF0000"/>
                </a:solidFill>
              </a:rPr>
              <a:t>Micro-processor</a:t>
            </a:r>
            <a:endParaRPr lang="en-US" sz="1400" i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76800" y="4949234"/>
            <a:ext cx="1059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 err="1" smtClean="0">
                <a:solidFill>
                  <a:srgbClr val="FF0000"/>
                </a:solidFill>
              </a:rPr>
              <a:t>Input/Output</a:t>
            </a:r>
            <a:endParaRPr lang="en-US" sz="1400" i="1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0" y="4800600"/>
            <a:ext cx="15119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Processor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I/O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343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4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34354" y="1221221"/>
            <a:ext cx="7162800" cy="494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Left Brace 27"/>
          <p:cNvSpPr/>
          <p:nvPr/>
        </p:nvSpPr>
        <p:spPr>
          <a:xfrm flipH="1">
            <a:off x="7190763" y="1574299"/>
            <a:ext cx="254542" cy="205379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7468750" y="2123751"/>
            <a:ext cx="9132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cap="small" dirty="0" smtClean="0">
                <a:solidFill>
                  <a:srgbClr val="FF6C13"/>
                </a:solidFill>
              </a:rPr>
              <a:t>top</a:t>
            </a:r>
          </a:p>
          <a:p>
            <a:pPr>
              <a:defRPr/>
            </a:pPr>
            <a:r>
              <a:rPr lang="en-US" sz="2400" cap="small" dirty="0" smtClean="0">
                <a:solidFill>
                  <a:srgbClr val="FF6C13"/>
                </a:solidFill>
              </a:rPr>
              <a:t>view</a:t>
            </a:r>
            <a:endParaRPr lang="en-US" sz="2400" cap="small" dirty="0">
              <a:solidFill>
                <a:srgbClr val="FF6C13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293382" y="4502489"/>
            <a:ext cx="12410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cap="small" dirty="0" smtClean="0">
                <a:solidFill>
                  <a:srgbClr val="FF6C13"/>
                </a:solidFill>
              </a:rPr>
              <a:t>bottom</a:t>
            </a:r>
          </a:p>
          <a:p>
            <a:pPr algn="ctr">
              <a:defRPr/>
            </a:pPr>
            <a:r>
              <a:rPr lang="en-US" sz="2400" cap="small" dirty="0" smtClean="0">
                <a:solidFill>
                  <a:srgbClr val="FF6C13"/>
                </a:solidFill>
              </a:rPr>
              <a:t>view</a:t>
            </a:r>
            <a:endParaRPr lang="en-US" sz="2400" cap="small" dirty="0">
              <a:solidFill>
                <a:srgbClr val="FF6C13"/>
              </a:solidFill>
            </a:endParaRPr>
          </a:p>
        </p:txBody>
      </p:sp>
      <p:sp>
        <p:nvSpPr>
          <p:cNvPr id="31" name="Left Brace 30"/>
          <p:cNvSpPr/>
          <p:nvPr/>
        </p:nvSpPr>
        <p:spPr>
          <a:xfrm flipH="1">
            <a:off x="7179089" y="4142525"/>
            <a:ext cx="254542" cy="205379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4"/>
          <p:cNvSpPr>
            <a:spLocks noChangeArrowheads="1"/>
          </p:cNvSpPr>
          <p:nvPr/>
        </p:nvSpPr>
        <p:spPr bwMode="auto">
          <a:xfrm>
            <a:off x="2437734" y="5788352"/>
            <a:ext cx="129702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FF6C13"/>
                </a:solidFill>
              </a:rPr>
              <a:t>256G </a:t>
            </a:r>
            <a:r>
              <a:rPr lang="en-US" sz="2000" b="1" dirty="0" smtClean="0">
                <a:solidFill>
                  <a:srgbClr val="FF6C13"/>
                </a:solidFill>
              </a:rPr>
              <a:t>x8</a:t>
            </a:r>
          </a:p>
          <a:p>
            <a:pPr algn="ctr"/>
            <a:r>
              <a:rPr lang="en-US" sz="2000" b="1" dirty="0" smtClean="0">
                <a:solidFill>
                  <a:srgbClr val="FF6C13"/>
                </a:solidFill>
              </a:rPr>
              <a:t>Flash</a:t>
            </a:r>
            <a:endParaRPr lang="en-US" sz="2000" b="1" dirty="0">
              <a:solidFill>
                <a:srgbClr val="FF6C13"/>
              </a:solidFill>
            </a:endParaRPr>
          </a:p>
        </p:txBody>
      </p:sp>
      <p:cxnSp>
        <p:nvCxnSpPr>
          <p:cNvPr id="33" name="Straight Arrow Connector 6"/>
          <p:cNvCxnSpPr>
            <a:cxnSpLocks noChangeShapeType="1"/>
          </p:cNvCxnSpPr>
          <p:nvPr/>
        </p:nvCxnSpPr>
        <p:spPr bwMode="auto">
          <a:xfrm flipV="1">
            <a:off x="2883883" y="4221822"/>
            <a:ext cx="1104754" cy="1238931"/>
          </a:xfrm>
          <a:prstGeom prst="straightConnector1">
            <a:avLst/>
          </a:prstGeom>
          <a:noFill/>
          <a:ln w="28575" algn="ctr">
            <a:solidFill>
              <a:schemeClr val="accent1">
                <a:lumMod val="75000"/>
              </a:schemeClr>
            </a:solidFill>
            <a:round/>
            <a:headEnd/>
            <a:tailEnd type="stealth" w="lg" len="lg"/>
          </a:ln>
        </p:spPr>
      </p:cxnSp>
      <p:sp>
        <p:nvSpPr>
          <p:cNvPr id="34" name="Rectangle 10"/>
          <p:cNvSpPr>
            <a:spLocks noChangeArrowheads="1"/>
          </p:cNvSpPr>
          <p:nvPr/>
        </p:nvSpPr>
        <p:spPr bwMode="auto">
          <a:xfrm>
            <a:off x="3893634" y="5532692"/>
            <a:ext cx="186974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FF6C13"/>
                </a:solidFill>
              </a:rPr>
              <a:t>Touch</a:t>
            </a:r>
          </a:p>
          <a:p>
            <a:pPr algn="ctr"/>
            <a:r>
              <a:rPr lang="en-US" sz="2000" b="1" dirty="0" smtClean="0">
                <a:solidFill>
                  <a:srgbClr val="FF6C13"/>
                </a:solidFill>
              </a:rPr>
              <a:t>Screen</a:t>
            </a:r>
          </a:p>
          <a:p>
            <a:pPr algn="ctr"/>
            <a:r>
              <a:rPr lang="en-US" sz="2000" b="1" dirty="0" smtClean="0">
                <a:solidFill>
                  <a:srgbClr val="FF6C13"/>
                </a:solidFill>
              </a:rPr>
              <a:t>Controller</a:t>
            </a:r>
            <a:endParaRPr lang="en-US" sz="2000" b="1" dirty="0">
              <a:solidFill>
                <a:srgbClr val="FF6C13"/>
              </a:solidFill>
            </a:endParaRPr>
          </a:p>
        </p:txBody>
      </p:sp>
      <p:cxnSp>
        <p:nvCxnSpPr>
          <p:cNvPr id="35" name="Straight Arrow Connector 12"/>
          <p:cNvCxnSpPr>
            <a:cxnSpLocks noChangeShapeType="1"/>
          </p:cNvCxnSpPr>
          <p:nvPr/>
        </p:nvCxnSpPr>
        <p:spPr bwMode="auto">
          <a:xfrm flipV="1">
            <a:off x="4667806" y="4256288"/>
            <a:ext cx="782475" cy="1030203"/>
          </a:xfrm>
          <a:prstGeom prst="straightConnector1">
            <a:avLst/>
          </a:prstGeom>
          <a:noFill/>
          <a:ln w="28575" algn="ctr">
            <a:solidFill>
              <a:schemeClr val="accent1">
                <a:lumMod val="75000"/>
              </a:schemeClr>
            </a:solidFill>
            <a:round/>
            <a:headEnd/>
            <a:tailEnd type="stealth" w="lg" len="lg"/>
          </a:ln>
        </p:spPr>
      </p:cxnSp>
      <p:cxnSp>
        <p:nvCxnSpPr>
          <p:cNvPr id="36" name="Straight Arrow Connector 25"/>
          <p:cNvCxnSpPr>
            <a:cxnSpLocks noChangeShapeType="1"/>
          </p:cNvCxnSpPr>
          <p:nvPr/>
        </p:nvCxnSpPr>
        <p:spPr bwMode="auto">
          <a:xfrm flipV="1">
            <a:off x="1717755" y="4142525"/>
            <a:ext cx="635282" cy="1238931"/>
          </a:xfrm>
          <a:prstGeom prst="straightConnector1">
            <a:avLst/>
          </a:prstGeom>
          <a:noFill/>
          <a:ln w="28575" algn="ctr">
            <a:solidFill>
              <a:schemeClr val="accent1">
                <a:lumMod val="75000"/>
              </a:schemeClr>
            </a:solidFill>
            <a:round/>
            <a:headEnd/>
            <a:tailEnd type="stealth" w="lg" len="lg"/>
          </a:ln>
        </p:spPr>
      </p:cxnSp>
      <p:sp>
        <p:nvSpPr>
          <p:cNvPr id="37" name="Rectangle 28"/>
          <p:cNvSpPr>
            <a:spLocks noChangeArrowheads="1"/>
          </p:cNvSpPr>
          <p:nvPr/>
        </p:nvSpPr>
        <p:spPr bwMode="auto">
          <a:xfrm>
            <a:off x="761334" y="5842376"/>
            <a:ext cx="1781791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FF6C13"/>
                </a:solidFill>
              </a:rPr>
              <a:t>128 M-Bit SDRAM</a:t>
            </a:r>
            <a:endParaRPr lang="en-US" sz="2000" b="1" dirty="0">
              <a:solidFill>
                <a:srgbClr val="FF6C13"/>
              </a:solidFill>
            </a:endParaRPr>
          </a:p>
        </p:txBody>
      </p:sp>
      <p:sp>
        <p:nvSpPr>
          <p:cNvPr id="38" name="Rectangle 5"/>
          <p:cNvSpPr>
            <a:spLocks noChangeArrowheads="1"/>
          </p:cNvSpPr>
          <p:nvPr/>
        </p:nvSpPr>
        <p:spPr bwMode="auto">
          <a:xfrm>
            <a:off x="4148878" y="1644815"/>
            <a:ext cx="1865056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FF6C13"/>
                </a:solidFill>
              </a:rPr>
              <a:t>ARM </a:t>
            </a:r>
            <a:r>
              <a:rPr lang="en-US" sz="2000" b="1" dirty="0" smtClean="0">
                <a:solidFill>
                  <a:srgbClr val="FF6C13"/>
                </a:solidFill>
              </a:rPr>
              <a:t>Processor</a:t>
            </a:r>
            <a:endParaRPr lang="en-US" sz="2000" b="1" dirty="0">
              <a:solidFill>
                <a:srgbClr val="FF6C13"/>
              </a:solidFill>
            </a:endParaRPr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4368542" y="2067429"/>
            <a:ext cx="322930" cy="496410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headEnd type="none" w="med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 rot="20372665">
            <a:off x="4746423" y="5072597"/>
            <a:ext cx="954531" cy="386467"/>
          </a:xfrm>
          <a:prstGeom prst="roundRect">
            <a:avLst/>
          </a:prstGeom>
          <a:solidFill>
            <a:schemeClr val="accent1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ysClr val="windowText" lastClr="000000"/>
                </a:solidFill>
              </a:rPr>
              <a:t>I/O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41" name="Rounded Rectangle 40"/>
          <p:cNvSpPr/>
          <p:nvPr/>
        </p:nvSpPr>
        <p:spPr>
          <a:xfrm rot="20372665">
            <a:off x="3004425" y="5287766"/>
            <a:ext cx="954531" cy="386467"/>
          </a:xfrm>
          <a:prstGeom prst="roundRect">
            <a:avLst/>
          </a:prstGeom>
          <a:solidFill>
            <a:schemeClr val="accent1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ysClr val="windowText" lastClr="000000"/>
                </a:solidFill>
              </a:rPr>
              <a:t>ROM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42" name="Rounded Rectangle 41"/>
          <p:cNvSpPr/>
          <p:nvPr/>
        </p:nvSpPr>
        <p:spPr>
          <a:xfrm rot="20372665">
            <a:off x="1548610" y="5324032"/>
            <a:ext cx="954531" cy="386467"/>
          </a:xfrm>
          <a:prstGeom prst="roundRect">
            <a:avLst/>
          </a:prstGeom>
          <a:solidFill>
            <a:schemeClr val="accent1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ysClr val="windowText" lastClr="000000"/>
                </a:solidFill>
              </a:rPr>
              <a:t>RAM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43" name="Rounded Rectangle 42"/>
          <p:cNvSpPr/>
          <p:nvPr/>
        </p:nvSpPr>
        <p:spPr>
          <a:xfrm rot="20372665">
            <a:off x="3676059" y="1680038"/>
            <a:ext cx="954531" cy="386467"/>
          </a:xfrm>
          <a:prstGeom prst="roundRect">
            <a:avLst/>
          </a:prstGeom>
          <a:solidFill>
            <a:schemeClr val="accent1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ysClr val="windowText" lastClr="000000"/>
                </a:solidFill>
              </a:rPr>
              <a:t>CPU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597" y="525085"/>
            <a:ext cx="749808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Components of an Embedded System (iPhone 4)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75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 animBg="1"/>
      <p:bldP spid="42" grpId="0" animBg="1"/>
      <p:bldP spid="4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749808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Characteristics of Embedded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7498080" cy="5029200"/>
          </a:xfrm>
        </p:spPr>
        <p:txBody>
          <a:bodyPr/>
          <a:lstStyle/>
          <a:p>
            <a:pPr marL="596646" indent="-514350">
              <a:buFont typeface="+mj-lt"/>
              <a:buAutoNum type="arabicPeriod"/>
            </a:pPr>
            <a:r>
              <a:rPr lang="en-US" dirty="0"/>
              <a:t>Must be dependable:</a:t>
            </a:r>
          </a:p>
          <a:p>
            <a:pPr marL="870966" lvl="1" indent="-514350"/>
            <a:r>
              <a:rPr lang="en-US" dirty="0"/>
              <a:t>H</a:t>
            </a:r>
            <a:r>
              <a:rPr lang="en-US" dirty="0" smtClean="0"/>
              <a:t>igher </a:t>
            </a:r>
            <a:r>
              <a:rPr lang="en-US" dirty="0"/>
              <a:t>quality and reliability requirements than other types of computer systems</a:t>
            </a:r>
          </a:p>
          <a:p>
            <a:pPr marL="870966" lvl="1" indent="-514350"/>
            <a:r>
              <a:rPr lang="en-US" dirty="0" smtClean="0"/>
              <a:t>Control critical functions</a:t>
            </a:r>
          </a:p>
          <a:p>
            <a:pPr marL="1117854" lvl="2" indent="-514350"/>
            <a:r>
              <a:rPr lang="en-US" dirty="0" smtClean="0"/>
              <a:t>medical applications</a:t>
            </a:r>
          </a:p>
          <a:p>
            <a:pPr marL="1117854" lvl="2" indent="-514350"/>
            <a:r>
              <a:rPr lang="en-US" dirty="0" smtClean="0"/>
              <a:t>automobile </a:t>
            </a:r>
            <a:r>
              <a:rPr lang="en-US" dirty="0"/>
              <a:t>safety </a:t>
            </a:r>
            <a:r>
              <a:rPr lang="en-US" dirty="0" smtClean="0"/>
              <a:t>features</a:t>
            </a:r>
          </a:p>
          <a:p>
            <a:pPr marL="1117854" lvl="2" indent="-514350"/>
            <a:r>
              <a:rPr lang="en-US" dirty="0" smtClean="0"/>
              <a:t>security measures</a:t>
            </a:r>
          </a:p>
          <a:p>
            <a:pPr marL="1117854" lvl="2" indent="-514350"/>
            <a:r>
              <a:rPr lang="en-US" dirty="0" smtClean="0"/>
              <a:t>military applications</a:t>
            </a:r>
          </a:p>
          <a:p>
            <a:pPr marL="1117854" lvl="2" indent="-514350"/>
            <a:r>
              <a:rPr lang="en-US" dirty="0" smtClean="0"/>
              <a:t>and more ….</a:t>
            </a:r>
            <a:endParaRPr lang="en-US" dirty="0"/>
          </a:p>
          <a:p>
            <a:pPr marL="82296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3124200"/>
            <a:ext cx="350520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978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457200"/>
            <a:ext cx="749808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Characteristics of Embedded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0"/>
            <a:ext cx="7498080" cy="5257800"/>
          </a:xfrm>
        </p:spPr>
        <p:txBody>
          <a:bodyPr/>
          <a:lstStyle/>
          <a:p>
            <a:pPr marL="596646" indent="-514350">
              <a:buFont typeface="+mj-lt"/>
              <a:buAutoNum type="arabicPeriod" startAt="2"/>
            </a:pPr>
            <a:r>
              <a:rPr lang="en-US" dirty="0"/>
              <a:t>Must be efficient:</a:t>
            </a:r>
          </a:p>
          <a:p>
            <a:pPr marL="870966" lvl="1" indent="-514350"/>
            <a:r>
              <a:rPr lang="en-US" dirty="0"/>
              <a:t>Consumers are demanding</a:t>
            </a:r>
          </a:p>
          <a:p>
            <a:pPr marL="870966" lvl="1" indent="-514350"/>
            <a:r>
              <a:rPr lang="en-US" dirty="0"/>
              <a:t>Mass-market items must have low manufacturing costs </a:t>
            </a:r>
          </a:p>
          <a:p>
            <a:pPr marL="870966" lvl="1" indent="-514350"/>
            <a:r>
              <a:rPr lang="en-US" dirty="0"/>
              <a:t>So… systems need to be</a:t>
            </a:r>
          </a:p>
          <a:p>
            <a:pPr marL="1117854" lvl="2" indent="-514350"/>
            <a:r>
              <a:rPr lang="en-US" dirty="0"/>
              <a:t>Energy efficient – many are battery powered</a:t>
            </a:r>
          </a:p>
          <a:p>
            <a:pPr marL="1117854" lvl="2" indent="-514350"/>
            <a:r>
              <a:rPr lang="en-US" dirty="0"/>
              <a:t>Code-size efficient – memory size is limited to keep device small</a:t>
            </a:r>
          </a:p>
          <a:p>
            <a:pPr marL="1117854" lvl="2" indent="-514350"/>
            <a:r>
              <a:rPr lang="en-US" dirty="0"/>
              <a:t>Weight efficient</a:t>
            </a:r>
          </a:p>
          <a:p>
            <a:pPr marL="1117854" lvl="2" indent="-514350"/>
            <a:r>
              <a:rPr lang="en-US" dirty="0" smtClean="0"/>
              <a:t>Cost efficient</a:t>
            </a:r>
            <a:endParaRPr lang="en-US" dirty="0"/>
          </a:p>
        </p:txBody>
      </p:sp>
      <p:pic>
        <p:nvPicPr>
          <p:cNvPr id="2774018" name="Picture 2" descr="Image result for fitbi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3200400"/>
            <a:ext cx="1666875" cy="2521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3993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609600"/>
            <a:ext cx="8229600" cy="7620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Characteristics of Embedded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71600"/>
            <a:ext cx="8229600" cy="4952999"/>
          </a:xfrm>
        </p:spPr>
        <p:txBody>
          <a:bodyPr/>
          <a:lstStyle/>
          <a:p>
            <a:pPr marL="596646" indent="-514350">
              <a:buFont typeface="+mj-lt"/>
              <a:buAutoNum type="arabicPeriod" startAt="3"/>
            </a:pPr>
            <a:r>
              <a:rPr lang="en-US" dirty="0"/>
              <a:t>Must meet real-time constraints:</a:t>
            </a:r>
          </a:p>
          <a:p>
            <a:pPr marL="813816" lvl="1" indent="-457200"/>
            <a:r>
              <a:rPr lang="en-US" dirty="0"/>
              <a:t>A real-time system must react to stimuli </a:t>
            </a:r>
            <a:r>
              <a:rPr lang="en-US" dirty="0" smtClean="0"/>
              <a:t>immediately</a:t>
            </a:r>
          </a:p>
          <a:p>
            <a:pPr marL="813816" lvl="1" indent="-457200"/>
            <a:r>
              <a:rPr lang="en-US" dirty="0" smtClean="0"/>
              <a:t>Must </a:t>
            </a:r>
            <a:r>
              <a:rPr lang="en-US" dirty="0"/>
              <a:t>finish operations by deadlines</a:t>
            </a:r>
          </a:p>
          <a:p>
            <a:pPr marL="1117854" lvl="2" indent="-514350"/>
            <a:r>
              <a:rPr lang="en-US" dirty="0"/>
              <a:t>Hard constraint: missing deadline causes failure</a:t>
            </a:r>
          </a:p>
          <a:p>
            <a:pPr marL="1117854" lvl="2" indent="-514350"/>
            <a:r>
              <a:rPr lang="en-US" dirty="0"/>
              <a:t>Soft constraint: missing deadline results in degraded </a:t>
            </a:r>
            <a:r>
              <a:rPr lang="en-US" dirty="0" smtClean="0"/>
              <a:t>performance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3581400"/>
            <a:ext cx="2971800" cy="2122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936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623446"/>
            <a:ext cx="8229600" cy="7620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Characteristics of Embedded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424634"/>
            <a:ext cx="8229600" cy="4952999"/>
          </a:xfrm>
        </p:spPr>
        <p:txBody>
          <a:bodyPr>
            <a:normAutofit/>
          </a:bodyPr>
          <a:lstStyle/>
          <a:p>
            <a:pPr marL="596646" indent="-514350">
              <a:buFont typeface="+mj-lt"/>
              <a:buAutoNum type="arabicPeriod" startAt="4"/>
            </a:pPr>
            <a:r>
              <a:rPr lang="en-US" dirty="0"/>
              <a:t>Must meet time-to-market constraints</a:t>
            </a:r>
          </a:p>
          <a:p>
            <a:pPr marL="870966" lvl="1" indent="-514350"/>
            <a:r>
              <a:rPr lang="en-US" dirty="0"/>
              <a:t>Typically 6 to 8 months</a:t>
            </a:r>
          </a:p>
          <a:p>
            <a:pPr marL="870966" lvl="1" indent="-514350">
              <a:buFont typeface="+mj-lt"/>
              <a:buAutoNum type="arabicPeriod" startAt="4"/>
            </a:pPr>
            <a:endParaRPr lang="en-US" dirty="0"/>
          </a:p>
          <a:p>
            <a:pPr marL="870966" lvl="1" indent="-514350">
              <a:buFont typeface="+mj-lt"/>
              <a:buAutoNum type="arabicPeriod" startAt="4"/>
            </a:pPr>
            <a:endParaRPr lang="en-US" dirty="0"/>
          </a:p>
          <a:p>
            <a:pPr marL="870966" lvl="1" indent="-514350">
              <a:buFont typeface="+mj-lt"/>
              <a:buAutoNum type="arabicPeriod" startAt="4"/>
            </a:pPr>
            <a:endParaRPr lang="en-US" dirty="0"/>
          </a:p>
          <a:p>
            <a:pPr marL="870966" lvl="1" indent="-514350">
              <a:buFont typeface="+mj-lt"/>
              <a:buAutoNum type="arabicPeriod" startAt="4"/>
            </a:pPr>
            <a:endParaRPr lang="en-US" dirty="0"/>
          </a:p>
          <a:p>
            <a:pPr marL="870966" lvl="1" indent="-514350">
              <a:buFont typeface="+mj-lt"/>
              <a:buAutoNum type="arabicPeriod" startAt="4"/>
            </a:pPr>
            <a:endParaRPr lang="en-US" dirty="0"/>
          </a:p>
          <a:p>
            <a:pPr marL="870966" lvl="1" indent="-514350">
              <a:buFont typeface="+mj-lt"/>
              <a:buAutoNum type="arabicPeriod" startAt="4"/>
            </a:pPr>
            <a:endParaRPr lang="en-US" dirty="0"/>
          </a:p>
          <a:p>
            <a:pPr marL="870966" lvl="1" indent="-514350">
              <a:buFont typeface="+mj-lt"/>
              <a:buAutoNum type="arabicPeriod" startAt="4"/>
            </a:pPr>
            <a:endParaRPr lang="en-US" dirty="0"/>
          </a:p>
          <a:p>
            <a:pPr marL="870966" lvl="1" indent="-514350">
              <a:buFont typeface="+mj-lt"/>
              <a:buAutoNum type="arabicPeriod" startAt="4"/>
            </a:pPr>
            <a:endParaRPr lang="en-US" dirty="0"/>
          </a:p>
          <a:p>
            <a:pPr marL="82296" indent="0">
              <a:buNone/>
            </a:pP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1844001" y="2599509"/>
            <a:ext cx="4515369" cy="2224258"/>
            <a:chOff x="1844001" y="2599509"/>
            <a:chExt cx="4515369" cy="2224258"/>
          </a:xfrm>
        </p:grpSpPr>
        <p:cxnSp>
          <p:nvCxnSpPr>
            <p:cNvPr id="5" name="Straight Arrow Connector 4"/>
            <p:cNvCxnSpPr/>
            <p:nvPr/>
          </p:nvCxnSpPr>
          <p:spPr>
            <a:xfrm rot="5400000" flipH="1" flipV="1">
              <a:off x="1352006" y="3572692"/>
              <a:ext cx="1959428" cy="1306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/>
            <p:cNvCxnSpPr/>
            <p:nvPr/>
          </p:nvCxnSpPr>
          <p:spPr>
            <a:xfrm>
              <a:off x="2325189" y="4572000"/>
              <a:ext cx="3331028" cy="5225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5695406" y="4454435"/>
              <a:ext cx="6639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Time</a:t>
              </a:r>
              <a:endParaRPr lang="en-US" dirty="0"/>
            </a:p>
          </p:txBody>
        </p:sp>
        <p:sp>
          <p:nvSpPr>
            <p:cNvPr id="8" name="TextBox 7"/>
            <p:cNvSpPr txBox="1"/>
            <p:nvPr/>
          </p:nvSpPr>
          <p:spPr>
            <a:xfrm rot="16200000">
              <a:off x="1136467" y="3383281"/>
              <a:ext cx="17843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Possible Revenue</a:t>
              </a:r>
              <a:endParaRPr lang="en-US" dirty="0"/>
            </a:p>
          </p:txBody>
        </p:sp>
        <p:sp>
          <p:nvSpPr>
            <p:cNvPr id="9" name="Freeform 8"/>
            <p:cNvSpPr/>
            <p:nvPr/>
          </p:nvSpPr>
          <p:spPr>
            <a:xfrm>
              <a:off x="3239589" y="2743200"/>
              <a:ext cx="1593668" cy="1436914"/>
            </a:xfrm>
            <a:custGeom>
              <a:avLst/>
              <a:gdLst>
                <a:gd name="connsiteX0" fmla="*/ 0 w 1593668"/>
                <a:gd name="connsiteY0" fmla="*/ 1713411 h 1726474"/>
                <a:gd name="connsiteX1" fmla="*/ 783771 w 1593668"/>
                <a:gd name="connsiteY1" fmla="*/ 2177 h 1726474"/>
                <a:gd name="connsiteX2" fmla="*/ 1593668 w 1593668"/>
                <a:gd name="connsiteY2" fmla="*/ 1726474 h 1726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93668" h="1726474">
                  <a:moveTo>
                    <a:pt x="0" y="1713411"/>
                  </a:moveTo>
                  <a:cubicBezTo>
                    <a:pt x="259080" y="856705"/>
                    <a:pt x="518160" y="0"/>
                    <a:pt x="783771" y="2177"/>
                  </a:cubicBezTo>
                  <a:cubicBezTo>
                    <a:pt x="1049382" y="4354"/>
                    <a:pt x="1321525" y="865414"/>
                    <a:pt x="1593668" y="1726474"/>
                  </a:cubicBezTo>
                </a:path>
              </a:pathLst>
            </a:cu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/>
            <p:cNvCxnSpPr/>
            <p:nvPr/>
          </p:nvCxnSpPr>
          <p:spPr>
            <a:xfrm>
              <a:off x="3226525" y="4260683"/>
              <a:ext cx="1593668" cy="10872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3200400" y="4310743"/>
              <a:ext cx="16952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Market Window</a:t>
              </a:r>
              <a:endParaRPr lang="en-US" dirty="0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2547257" y="4167051"/>
              <a:ext cx="692332" cy="287383"/>
            </a:xfrm>
            <a:custGeom>
              <a:avLst/>
              <a:gdLst>
                <a:gd name="connsiteX0" fmla="*/ 0 w 692332"/>
                <a:gd name="connsiteY0" fmla="*/ 287383 h 287383"/>
                <a:gd name="connsiteX1" fmla="*/ 274320 w 692332"/>
                <a:gd name="connsiteY1" fmla="*/ 274320 h 287383"/>
                <a:gd name="connsiteX2" fmla="*/ 339634 w 692332"/>
                <a:gd name="connsiteY2" fmla="*/ 261258 h 287383"/>
                <a:gd name="connsiteX3" fmla="*/ 431074 w 692332"/>
                <a:gd name="connsiteY3" fmla="*/ 222069 h 287383"/>
                <a:gd name="connsiteX4" fmla="*/ 509452 w 692332"/>
                <a:gd name="connsiteY4" fmla="*/ 182880 h 287383"/>
                <a:gd name="connsiteX5" fmla="*/ 548640 w 692332"/>
                <a:gd name="connsiteY5" fmla="*/ 143692 h 287383"/>
                <a:gd name="connsiteX6" fmla="*/ 587829 w 692332"/>
                <a:gd name="connsiteY6" fmla="*/ 117566 h 287383"/>
                <a:gd name="connsiteX7" fmla="*/ 653143 w 692332"/>
                <a:gd name="connsiteY7" fmla="*/ 52252 h 287383"/>
                <a:gd name="connsiteX8" fmla="*/ 692332 w 692332"/>
                <a:gd name="connsiteY8" fmla="*/ 0 h 287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2332" h="287383">
                  <a:moveTo>
                    <a:pt x="0" y="287383"/>
                  </a:moveTo>
                  <a:cubicBezTo>
                    <a:pt x="91440" y="283029"/>
                    <a:pt x="183046" y="281341"/>
                    <a:pt x="274320" y="274320"/>
                  </a:cubicBezTo>
                  <a:cubicBezTo>
                    <a:pt x="296457" y="272617"/>
                    <a:pt x="318094" y="266643"/>
                    <a:pt x="339634" y="261258"/>
                  </a:cubicBezTo>
                  <a:cubicBezTo>
                    <a:pt x="372201" y="253116"/>
                    <a:pt x="401997" y="238685"/>
                    <a:pt x="431074" y="222069"/>
                  </a:cubicBezTo>
                  <a:cubicBezTo>
                    <a:pt x="501977" y="181553"/>
                    <a:pt x="437603" y="206830"/>
                    <a:pt x="509452" y="182880"/>
                  </a:cubicBezTo>
                  <a:cubicBezTo>
                    <a:pt x="522515" y="169817"/>
                    <a:pt x="534448" y="155518"/>
                    <a:pt x="548640" y="143692"/>
                  </a:cubicBezTo>
                  <a:cubicBezTo>
                    <a:pt x="560701" y="133641"/>
                    <a:pt x="576728" y="128667"/>
                    <a:pt x="587829" y="117566"/>
                  </a:cubicBezTo>
                  <a:cubicBezTo>
                    <a:pt x="674915" y="30480"/>
                    <a:pt x="548637" y="121922"/>
                    <a:pt x="653143" y="52252"/>
                  </a:cubicBezTo>
                  <a:cubicBezTo>
                    <a:pt x="682685" y="7939"/>
                    <a:pt x="668168" y="24164"/>
                    <a:pt x="692332" y="0"/>
                  </a:cubicBezTo>
                </a:path>
              </a:pathLst>
            </a:cu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12"/>
            <p:cNvSpPr/>
            <p:nvPr/>
          </p:nvSpPr>
          <p:spPr>
            <a:xfrm flipH="1">
              <a:off x="4828902" y="4175760"/>
              <a:ext cx="692332" cy="287383"/>
            </a:xfrm>
            <a:custGeom>
              <a:avLst/>
              <a:gdLst>
                <a:gd name="connsiteX0" fmla="*/ 0 w 692332"/>
                <a:gd name="connsiteY0" fmla="*/ 287383 h 287383"/>
                <a:gd name="connsiteX1" fmla="*/ 274320 w 692332"/>
                <a:gd name="connsiteY1" fmla="*/ 274320 h 287383"/>
                <a:gd name="connsiteX2" fmla="*/ 339634 w 692332"/>
                <a:gd name="connsiteY2" fmla="*/ 261258 h 287383"/>
                <a:gd name="connsiteX3" fmla="*/ 431074 w 692332"/>
                <a:gd name="connsiteY3" fmla="*/ 222069 h 287383"/>
                <a:gd name="connsiteX4" fmla="*/ 509452 w 692332"/>
                <a:gd name="connsiteY4" fmla="*/ 182880 h 287383"/>
                <a:gd name="connsiteX5" fmla="*/ 548640 w 692332"/>
                <a:gd name="connsiteY5" fmla="*/ 143692 h 287383"/>
                <a:gd name="connsiteX6" fmla="*/ 587829 w 692332"/>
                <a:gd name="connsiteY6" fmla="*/ 117566 h 287383"/>
                <a:gd name="connsiteX7" fmla="*/ 653143 w 692332"/>
                <a:gd name="connsiteY7" fmla="*/ 52252 h 287383"/>
                <a:gd name="connsiteX8" fmla="*/ 692332 w 692332"/>
                <a:gd name="connsiteY8" fmla="*/ 0 h 287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2332" h="287383">
                  <a:moveTo>
                    <a:pt x="0" y="287383"/>
                  </a:moveTo>
                  <a:cubicBezTo>
                    <a:pt x="91440" y="283029"/>
                    <a:pt x="183046" y="281341"/>
                    <a:pt x="274320" y="274320"/>
                  </a:cubicBezTo>
                  <a:cubicBezTo>
                    <a:pt x="296457" y="272617"/>
                    <a:pt x="318094" y="266643"/>
                    <a:pt x="339634" y="261258"/>
                  </a:cubicBezTo>
                  <a:cubicBezTo>
                    <a:pt x="372201" y="253116"/>
                    <a:pt x="401997" y="238685"/>
                    <a:pt x="431074" y="222069"/>
                  </a:cubicBezTo>
                  <a:cubicBezTo>
                    <a:pt x="501977" y="181553"/>
                    <a:pt x="437603" y="206830"/>
                    <a:pt x="509452" y="182880"/>
                  </a:cubicBezTo>
                  <a:cubicBezTo>
                    <a:pt x="522515" y="169817"/>
                    <a:pt x="534448" y="155518"/>
                    <a:pt x="548640" y="143692"/>
                  </a:cubicBezTo>
                  <a:cubicBezTo>
                    <a:pt x="560701" y="133641"/>
                    <a:pt x="576728" y="128667"/>
                    <a:pt x="587829" y="117566"/>
                  </a:cubicBezTo>
                  <a:cubicBezTo>
                    <a:pt x="674915" y="30480"/>
                    <a:pt x="548637" y="121922"/>
                    <a:pt x="653143" y="52252"/>
                  </a:cubicBezTo>
                  <a:cubicBezTo>
                    <a:pt x="682685" y="7939"/>
                    <a:pt x="668168" y="24164"/>
                    <a:pt x="692332" y="0"/>
                  </a:cubicBezTo>
                </a:path>
              </a:pathLst>
            </a:cu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27" name="Picture 3" descr="C:\Users\jxciee\AppData\Local\Microsoft\Windows\Temporary Internet Files\Content.IE5\LUWM6015\MC900439965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2896405"/>
            <a:ext cx="1816100" cy="3567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1234" y="5029200"/>
            <a:ext cx="1822049" cy="165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03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-76200"/>
            <a:ext cx="6942667" cy="1896291"/>
          </a:xfrm>
        </p:spPr>
        <p:txBody>
          <a:bodyPr/>
          <a:lstStyle/>
          <a:p>
            <a:pPr eaLnBrk="1" hangingPunct="1"/>
            <a:r>
              <a:rPr lang="en-US" dirty="0" smtClean="0"/>
              <a:t>Embedded System Technologies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447800"/>
            <a:ext cx="8077200" cy="48006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dirty="0" smtClean="0"/>
              <a:t>Current Technologies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Microprocessor based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 smtClean="0"/>
              <a:t>Available in 8-bit, 16-bit, or 32-bit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 smtClean="0"/>
              <a:t>Ex: Intel 80x86, Pentium, PowerPC, ARM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Microcontroller based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 smtClean="0"/>
              <a:t>Specialized processor that include on-chip memory, D2A, A2D, </a:t>
            </a:r>
            <a:r>
              <a:rPr lang="en-US" dirty="0" err="1" smtClean="0"/>
              <a:t>etc</a:t>
            </a:r>
            <a:r>
              <a:rPr lang="en-US" dirty="0" smtClean="0"/>
              <a:t> 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 smtClean="0"/>
              <a:t>Ex: TI MSP430, </a:t>
            </a:r>
            <a:r>
              <a:rPr lang="en-US" dirty="0" err="1" smtClean="0"/>
              <a:t>Renesas</a:t>
            </a:r>
            <a:r>
              <a:rPr lang="en-US" dirty="0" smtClean="0"/>
              <a:t> RX, Freescale, </a:t>
            </a:r>
            <a:r>
              <a:rPr lang="en-US" dirty="0" err="1" smtClean="0"/>
              <a:t>Coldfire</a:t>
            </a:r>
            <a:r>
              <a:rPr lang="en-US" dirty="0" smtClean="0"/>
              <a:t>, Arduino, </a:t>
            </a:r>
            <a:r>
              <a:rPr lang="en-US" dirty="0" err="1" smtClean="0"/>
              <a:t>etc</a:t>
            </a:r>
            <a:endParaRPr lang="en-US" dirty="0" smtClean="0"/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DSP Based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 smtClean="0"/>
              <a:t>Processor optimized for mathematical operations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 smtClean="0"/>
              <a:t>Ex: Texas Instruments C64x, Analog Device </a:t>
            </a:r>
            <a:r>
              <a:rPr lang="en-US" dirty="0" err="1" smtClean="0"/>
              <a:t>Blackfin</a:t>
            </a:r>
            <a:endParaRPr lang="en-US" dirty="0" smtClean="0"/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FPGA Based</a:t>
            </a:r>
          </a:p>
          <a:p>
            <a:pPr eaLnBrk="1" hangingPunct="1"/>
            <a:r>
              <a:rPr lang="en-US" dirty="0" smtClean="0"/>
              <a:t>Technology moving towards </a:t>
            </a:r>
            <a:r>
              <a:rPr lang="en-US" dirty="0" smtClean="0">
                <a:sym typeface="Wingdings" pitchFamily="2" charset="2"/>
              </a:rPr>
              <a:t>higher level integration</a:t>
            </a:r>
            <a:endParaRPr lang="en-US" dirty="0" smtClean="0"/>
          </a:p>
          <a:p>
            <a:pPr lvl="1" eaLnBrk="1" hangingPunct="1"/>
            <a:r>
              <a:rPr lang="en-US" dirty="0" smtClean="0"/>
              <a:t>Discrete components </a:t>
            </a:r>
            <a:r>
              <a:rPr lang="en-US" dirty="0" smtClean="0">
                <a:sym typeface="Wingdings" pitchFamily="2" charset="2"/>
              </a:rPr>
              <a:t> more functionality per each device</a:t>
            </a:r>
          </a:p>
          <a:p>
            <a:pPr lvl="1" eaLnBrk="1" hangingPunct="1"/>
            <a:r>
              <a:rPr lang="en-US" dirty="0" smtClean="0"/>
              <a:t>ASIC / ASSP / SOC / SOPC</a:t>
            </a:r>
          </a:p>
          <a:p>
            <a:pPr lvl="2" eaLnBrk="1" hangingPunct="1"/>
            <a:endParaRPr lang="en-US" dirty="0" smtClean="0">
              <a:sym typeface="Wingdings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2" y="76200"/>
            <a:ext cx="7704667" cy="1981200"/>
          </a:xfrm>
        </p:spPr>
        <p:txBody>
          <a:bodyPr/>
          <a:lstStyle/>
          <a:p>
            <a:r>
              <a:rPr lang="en-US" dirty="0" smtClean="0"/>
              <a:t>Embedded System Technologies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76400"/>
            <a:ext cx="7704667" cy="4876800"/>
          </a:xfrm>
        </p:spPr>
        <p:txBody>
          <a:bodyPr/>
          <a:lstStyle/>
          <a:p>
            <a:r>
              <a:rPr lang="en-US" dirty="0" smtClean="0"/>
              <a:t>Application-Specific Integrated Circuit (ASIC)</a:t>
            </a:r>
          </a:p>
          <a:p>
            <a:pPr lvl="1"/>
            <a:r>
              <a:rPr lang="en-US" dirty="0" smtClean="0"/>
              <a:t>Device created with a specific purpose</a:t>
            </a:r>
          </a:p>
          <a:p>
            <a:pPr lvl="1"/>
            <a:r>
              <a:rPr lang="en-US" dirty="0" smtClean="0"/>
              <a:t>Typically designed and used by single company</a:t>
            </a:r>
          </a:p>
          <a:p>
            <a:pPr lvl="1"/>
            <a:r>
              <a:rPr lang="en-US" dirty="0" smtClean="0"/>
              <a:t>Development expensive, time-consuming, &amp; resource-intensive</a:t>
            </a:r>
          </a:p>
          <a:p>
            <a:pPr lvl="1"/>
            <a:r>
              <a:rPr lang="en-US" dirty="0" smtClean="0"/>
              <a:t>High performance coupled with low power consumption</a:t>
            </a:r>
          </a:p>
          <a:p>
            <a:pPr lvl="1"/>
            <a:r>
              <a:rPr lang="en-US" dirty="0" smtClean="0"/>
              <a:t>Algorithm or design fixed in silicon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2" y="8709"/>
            <a:ext cx="7704667" cy="1981200"/>
          </a:xfrm>
        </p:spPr>
        <p:txBody>
          <a:bodyPr/>
          <a:lstStyle/>
          <a:p>
            <a:r>
              <a:rPr lang="en-US" dirty="0" smtClean="0"/>
              <a:t>Embedded System Technologies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676400"/>
            <a:ext cx="7704667" cy="4323416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Application-Specific Standard Parts (ASSP)</a:t>
            </a:r>
          </a:p>
          <a:p>
            <a:pPr lvl="1"/>
            <a:r>
              <a:rPr lang="en-US" dirty="0" smtClean="0"/>
              <a:t>Designed and implementation same as ASIC</a:t>
            </a:r>
          </a:p>
          <a:p>
            <a:pPr lvl="1"/>
            <a:r>
              <a:rPr lang="en-US" dirty="0" smtClean="0"/>
              <a:t>More general-purpose device for use by multiple systems</a:t>
            </a:r>
          </a:p>
          <a:p>
            <a:pPr lvl="1"/>
            <a:r>
              <a:rPr lang="en-US" dirty="0" smtClean="0"/>
              <a:t>Marketed to multiple customers with specific application</a:t>
            </a:r>
          </a:p>
          <a:p>
            <a:pPr lvl="2"/>
            <a:r>
              <a:rPr lang="en-US" dirty="0" smtClean="0"/>
              <a:t>Ex: USB interface chip</a:t>
            </a:r>
          </a:p>
          <a:p>
            <a:pPr lvl="1"/>
            <a:r>
              <a:rPr lang="en-US" dirty="0" smtClean="0"/>
              <a:t>High performance coupled with low power consumption</a:t>
            </a:r>
          </a:p>
          <a:p>
            <a:pPr lvl="1"/>
            <a:r>
              <a:rPr lang="en-US" dirty="0"/>
              <a:t>Algorithm or design fixed </a:t>
            </a:r>
            <a:r>
              <a:rPr lang="en-US" dirty="0" smtClean="0"/>
              <a:t>in silicon</a:t>
            </a:r>
          </a:p>
          <a:p>
            <a:r>
              <a:rPr lang="en-US" dirty="0" smtClean="0"/>
              <a:t>System-on-Chip (SOC)</a:t>
            </a:r>
          </a:p>
          <a:p>
            <a:pPr lvl="1"/>
            <a:r>
              <a:rPr lang="en-US" dirty="0" smtClean="0"/>
              <a:t>ASIC or ASSP that contains one or more processors</a:t>
            </a:r>
          </a:p>
          <a:p>
            <a:pPr lvl="1"/>
            <a:r>
              <a:rPr lang="en-US" dirty="0" smtClean="0"/>
              <a:t>SOC also contains other stuff</a:t>
            </a:r>
          </a:p>
          <a:p>
            <a:pPr lvl="2"/>
            <a:r>
              <a:rPr lang="en-US" dirty="0" smtClean="0"/>
              <a:t>On-chip memory, hardware accelerator, peripheral, etc</a:t>
            </a:r>
          </a:p>
          <a:p>
            <a:pPr lvl="1"/>
            <a:r>
              <a:rPr lang="en-US" dirty="0"/>
              <a:t>Algorithm or design fixed </a:t>
            </a:r>
            <a:r>
              <a:rPr lang="en-US" dirty="0" smtClean="0"/>
              <a:t>in silicon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76200"/>
            <a:ext cx="7704667" cy="1981200"/>
          </a:xfrm>
        </p:spPr>
        <p:txBody>
          <a:bodyPr/>
          <a:lstStyle/>
          <a:p>
            <a:r>
              <a:rPr lang="en-US" dirty="0" smtClean="0"/>
              <a:t>Embedded System Technologies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648201"/>
          </a:xfrm>
        </p:spPr>
        <p:txBody>
          <a:bodyPr/>
          <a:lstStyle/>
          <a:p>
            <a:r>
              <a:rPr lang="en-US" dirty="0" smtClean="0"/>
              <a:t>Simplified Relationship Diagram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286000"/>
            <a:ext cx="8143546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609600" y="6248400"/>
            <a:ext cx="397416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b="1" dirty="0" smtClean="0">
                <a:solidFill>
                  <a:srgbClr val="FF0000"/>
                </a:solidFill>
              </a:rPr>
              <a:t>www.programmableplant.com: ASICs vs. ASSPs vs. </a:t>
            </a:r>
            <a:r>
              <a:rPr lang="en-US" sz="900" b="1" dirty="0" err="1" smtClean="0">
                <a:solidFill>
                  <a:srgbClr val="FF0000"/>
                </a:solidFill>
              </a:rPr>
              <a:t>SoCs</a:t>
            </a:r>
            <a:r>
              <a:rPr lang="en-US" sz="900" b="1" dirty="0" smtClean="0">
                <a:solidFill>
                  <a:srgbClr val="FF0000"/>
                </a:solidFill>
              </a:rPr>
              <a:t> vs. FPGAs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76200"/>
            <a:ext cx="7704667" cy="1981200"/>
          </a:xfrm>
        </p:spPr>
        <p:txBody>
          <a:bodyPr/>
          <a:lstStyle/>
          <a:p>
            <a:r>
              <a:rPr lang="en-US" dirty="0" smtClean="0"/>
              <a:t>Embedded System Technologies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524000"/>
            <a:ext cx="7704667" cy="4628216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Field Programmable Gate Array (FPGA)</a:t>
            </a:r>
          </a:p>
          <a:p>
            <a:pPr lvl="1"/>
            <a:r>
              <a:rPr lang="en-US" dirty="0" smtClean="0"/>
              <a:t>Programmable logic device that is configured by designer</a:t>
            </a:r>
          </a:p>
          <a:p>
            <a:pPr lvl="2"/>
            <a:r>
              <a:rPr lang="en-US" dirty="0" smtClean="0"/>
              <a:t>“Sea of Gates” </a:t>
            </a:r>
          </a:p>
          <a:p>
            <a:pPr lvl="2"/>
            <a:r>
              <a:rPr lang="en-US" dirty="0" smtClean="0"/>
              <a:t>Require programming before using (SRAM based)</a:t>
            </a:r>
          </a:p>
          <a:p>
            <a:pPr lvl="1"/>
            <a:r>
              <a:rPr lang="en-US" dirty="0" smtClean="0"/>
              <a:t>Development is inexpensive and easier to perform</a:t>
            </a:r>
          </a:p>
          <a:p>
            <a:pPr lvl="2"/>
            <a:r>
              <a:rPr lang="en-US" dirty="0" smtClean="0"/>
              <a:t>Shorter cycles between development &amp; prototyping</a:t>
            </a:r>
          </a:p>
          <a:p>
            <a:pPr lvl="2"/>
            <a:r>
              <a:rPr lang="en-US" dirty="0" smtClean="0"/>
              <a:t>Easy to change, modify or expand design</a:t>
            </a:r>
          </a:p>
          <a:p>
            <a:pPr lvl="1"/>
            <a:r>
              <a:rPr lang="en-US" dirty="0" smtClean="0"/>
              <a:t>High power consumption with lower performance</a:t>
            </a:r>
          </a:p>
          <a:p>
            <a:r>
              <a:rPr lang="en-US" dirty="0" smtClean="0"/>
              <a:t>System-on-Programmable-Chip (SOPC)</a:t>
            </a:r>
          </a:p>
          <a:p>
            <a:pPr lvl="1"/>
            <a:r>
              <a:rPr lang="en-US" dirty="0" smtClean="0"/>
              <a:t>Basically same as an SOC but in programmable device</a:t>
            </a:r>
          </a:p>
          <a:p>
            <a:pPr lvl="2"/>
            <a:r>
              <a:rPr lang="en-US" dirty="0" smtClean="0"/>
              <a:t>A very large FPGA that takes the place of ASIC/ASSP</a:t>
            </a:r>
          </a:p>
          <a:p>
            <a:pPr lvl="1"/>
            <a:r>
              <a:rPr lang="en-US" dirty="0" smtClean="0"/>
              <a:t>Development is inexpensive and easier to perform</a:t>
            </a:r>
          </a:p>
          <a:p>
            <a:pPr lvl="2"/>
            <a:r>
              <a:rPr lang="en-US" dirty="0" smtClean="0"/>
              <a:t>Allows ASIC / ASSP designer a platform to develop 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2" y="8709"/>
            <a:ext cx="7704667" cy="1981200"/>
          </a:xfrm>
        </p:spPr>
        <p:txBody>
          <a:bodyPr/>
          <a:lstStyle/>
          <a:p>
            <a:r>
              <a:rPr lang="en-US" dirty="0" smtClean="0"/>
              <a:t>Embedded System Technologies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600200"/>
            <a:ext cx="7704667" cy="4323416"/>
          </a:xfrm>
        </p:spPr>
        <p:txBody>
          <a:bodyPr>
            <a:normAutofit/>
          </a:bodyPr>
          <a:lstStyle/>
          <a:p>
            <a:r>
              <a:rPr lang="en-US" dirty="0" smtClean="0"/>
              <a:t>SOPC (</a:t>
            </a:r>
            <a:r>
              <a:rPr lang="en-US" dirty="0" err="1" smtClean="0"/>
              <a:t>con’t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FPGA contains one or more processors</a:t>
            </a:r>
          </a:p>
          <a:p>
            <a:pPr lvl="1"/>
            <a:r>
              <a:rPr lang="en-US" dirty="0" smtClean="0"/>
              <a:t>SOPC also contains </a:t>
            </a:r>
            <a:r>
              <a:rPr lang="en-US" dirty="0"/>
              <a:t>o</a:t>
            </a:r>
            <a:r>
              <a:rPr lang="en-US" dirty="0" smtClean="0"/>
              <a:t>n-chip memory, hardware accelerator, peripheral, etc</a:t>
            </a:r>
          </a:p>
          <a:p>
            <a:pPr lvl="1"/>
            <a:r>
              <a:rPr lang="en-US" dirty="0" smtClean="0"/>
              <a:t>Processors</a:t>
            </a:r>
            <a:r>
              <a:rPr lang="en-US" dirty="0"/>
              <a:t>, memories, and other components can be built into the FPGA (hard-core) or created from the programmable fabric (soft-core).</a:t>
            </a:r>
          </a:p>
          <a:p>
            <a:pPr lvl="1"/>
            <a:r>
              <a:rPr lang="en-US" dirty="0" smtClean="0"/>
              <a:t>The focus of CPET-561</a:t>
            </a:r>
          </a:p>
        </p:txBody>
      </p:sp>
    </p:spTree>
    <p:extLst>
      <p:ext uri="{BB962C8B-B14F-4D97-AF65-F5344CB8AC3E}">
        <p14:creationId xmlns:p14="http://schemas.microsoft.com/office/powerpoint/2010/main" val="2287236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6200" y="609600"/>
            <a:ext cx="8229600" cy="762000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Embedded System Technologies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952999"/>
          </a:xfrm>
        </p:spPr>
        <p:txBody>
          <a:bodyPr/>
          <a:lstStyle/>
          <a:p>
            <a:r>
              <a:rPr lang="en-US" dirty="0" smtClean="0"/>
              <a:t>SOPC compared to ASIC or ASSP</a:t>
            </a:r>
          </a:p>
          <a:p>
            <a:pPr lvl="1"/>
            <a:r>
              <a:rPr lang="en-US" dirty="0" smtClean="0"/>
              <a:t>pros</a:t>
            </a:r>
          </a:p>
          <a:p>
            <a:pPr lvl="2"/>
            <a:r>
              <a:rPr lang="en-US" dirty="0" smtClean="0"/>
              <a:t>Short lead times</a:t>
            </a:r>
          </a:p>
          <a:p>
            <a:pPr lvl="2"/>
            <a:r>
              <a:rPr lang="en-US" dirty="0" smtClean="0"/>
              <a:t>Lower NRE (non-reoccurring engineering)</a:t>
            </a:r>
          </a:p>
          <a:p>
            <a:pPr lvl="2"/>
            <a:r>
              <a:rPr lang="en-US" dirty="0" smtClean="0"/>
              <a:t>Design changes are easy (reprogram)</a:t>
            </a:r>
          </a:p>
          <a:p>
            <a:pPr lvl="1"/>
            <a:r>
              <a:rPr lang="en-US" dirty="0" smtClean="0"/>
              <a:t>cons</a:t>
            </a:r>
          </a:p>
          <a:p>
            <a:pPr lvl="2"/>
            <a:r>
              <a:rPr lang="en-US" dirty="0" smtClean="0"/>
              <a:t>Higher power</a:t>
            </a:r>
          </a:p>
          <a:p>
            <a:pPr lvl="2"/>
            <a:r>
              <a:rPr lang="en-US" dirty="0" smtClean="0"/>
              <a:t>Cost is constant despite volume</a:t>
            </a:r>
          </a:p>
          <a:p>
            <a:pPr lvl="2"/>
            <a:r>
              <a:rPr lang="en-US" dirty="0" smtClean="0"/>
              <a:t>Have to choose from off-the shelf parts</a:t>
            </a:r>
          </a:p>
          <a:p>
            <a:pPr lvl="3"/>
            <a:r>
              <a:rPr lang="en-US" dirty="0" smtClean="0"/>
              <a:t>Not optimized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032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910166" y="38317"/>
            <a:ext cx="7704667" cy="1990507"/>
          </a:xfrm>
        </p:spPr>
        <p:txBody>
          <a:bodyPr/>
          <a:lstStyle/>
          <a:p>
            <a:pPr algn="ctr" eaLnBrk="1" hangingPunct="1"/>
            <a:r>
              <a:rPr lang="en-US" dirty="0" smtClean="0"/>
              <a:t>System on Programmable Chip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idx="1"/>
          </p:nvPr>
        </p:nvSpPr>
        <p:spPr>
          <a:xfrm>
            <a:off x="402683" y="1514475"/>
            <a:ext cx="8229600" cy="1143000"/>
          </a:xfrm>
        </p:spPr>
        <p:txBody>
          <a:bodyPr/>
          <a:lstStyle/>
          <a:p>
            <a:r>
              <a:rPr lang="en-US" dirty="0" smtClean="0"/>
              <a:t>Designing an SOPC</a:t>
            </a:r>
          </a:p>
          <a:p>
            <a:endParaRPr lang="en-US" dirty="0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371600" y="2133600"/>
            <a:ext cx="1657350" cy="2943225"/>
            <a:chOff x="864" y="1344"/>
            <a:chExt cx="1044" cy="1854"/>
          </a:xfrm>
        </p:grpSpPr>
        <p:pic>
          <p:nvPicPr>
            <p:cNvPr id="47117" name="Picture 6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864" y="1344"/>
              <a:ext cx="1044" cy="9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7118" name="Text Box 7"/>
            <p:cNvSpPr txBox="1">
              <a:spLocks noChangeArrowheads="1"/>
            </p:cNvSpPr>
            <p:nvPr/>
          </p:nvSpPr>
          <p:spPr bwMode="auto">
            <a:xfrm>
              <a:off x="864" y="2448"/>
              <a:ext cx="1008" cy="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dirty="0"/>
                <a:t>Select a chip with required </a:t>
              </a:r>
              <a:r>
                <a:rPr lang="en-US" b="1" dirty="0" smtClean="0">
                  <a:solidFill>
                    <a:srgbClr val="FF0000"/>
                  </a:solidFill>
                </a:rPr>
                <a:t>hard-cores </a:t>
              </a:r>
              <a:r>
                <a:rPr lang="en-US" b="1" dirty="0">
                  <a:solidFill>
                    <a:srgbClr val="FF0000"/>
                  </a:solidFill>
                </a:rPr>
                <a:t>(IP)</a:t>
              </a: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3124200" y="3124200"/>
            <a:ext cx="2438400" cy="2592388"/>
            <a:chOff x="1968" y="1968"/>
            <a:chExt cx="1536" cy="1633"/>
          </a:xfrm>
        </p:grpSpPr>
        <p:pic>
          <p:nvPicPr>
            <p:cNvPr id="47114" name="Picture 9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448" y="1968"/>
              <a:ext cx="1050" cy="9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7115" name="Text Box 10"/>
            <p:cNvSpPr txBox="1">
              <a:spLocks noChangeArrowheads="1"/>
            </p:cNvSpPr>
            <p:nvPr/>
          </p:nvSpPr>
          <p:spPr bwMode="auto">
            <a:xfrm>
              <a:off x="2496" y="3024"/>
              <a:ext cx="1008" cy="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dirty="0"/>
                <a:t>Add required </a:t>
              </a:r>
              <a:r>
                <a:rPr lang="en-US" b="1" dirty="0" smtClean="0">
                  <a:solidFill>
                    <a:srgbClr val="FF0000"/>
                  </a:solidFill>
                </a:rPr>
                <a:t>soft-cores </a:t>
              </a:r>
              <a:r>
                <a:rPr lang="en-US" b="1" dirty="0">
                  <a:solidFill>
                    <a:srgbClr val="FF0000"/>
                  </a:solidFill>
                </a:rPr>
                <a:t>(IP)</a:t>
              </a:r>
            </a:p>
          </p:txBody>
        </p:sp>
        <p:sp>
          <p:nvSpPr>
            <p:cNvPr id="47116" name="AutoShape 11"/>
            <p:cNvSpPr>
              <a:spLocks noChangeArrowheads="1"/>
            </p:cNvSpPr>
            <p:nvPr/>
          </p:nvSpPr>
          <p:spPr bwMode="auto">
            <a:xfrm>
              <a:off x="1968" y="2064"/>
              <a:ext cx="432" cy="192"/>
            </a:xfrm>
            <a:prstGeom prst="rightArrow">
              <a:avLst>
                <a:gd name="adj1" fmla="val 50000"/>
                <a:gd name="adj2" fmla="val 5625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5715000" y="2971800"/>
            <a:ext cx="2476500" cy="2876550"/>
            <a:chOff x="3600" y="1872"/>
            <a:chExt cx="1560" cy="1812"/>
          </a:xfrm>
        </p:grpSpPr>
        <p:pic>
          <p:nvPicPr>
            <p:cNvPr id="47111" name="Picture 1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128" y="2688"/>
              <a:ext cx="1032" cy="9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7112" name="Text Box 14"/>
            <p:cNvSpPr txBox="1">
              <a:spLocks noChangeArrowheads="1"/>
            </p:cNvSpPr>
            <p:nvPr/>
          </p:nvSpPr>
          <p:spPr bwMode="auto">
            <a:xfrm>
              <a:off x="4128" y="1872"/>
              <a:ext cx="1008" cy="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dirty="0"/>
                <a:t>Add </a:t>
              </a:r>
              <a:r>
                <a:rPr lang="en-US" b="1" dirty="0">
                  <a:solidFill>
                    <a:srgbClr val="FF0000"/>
                  </a:solidFill>
                </a:rPr>
                <a:t>user logic</a:t>
              </a:r>
              <a:r>
                <a:rPr lang="en-US" dirty="0"/>
                <a:t> to tie everything together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47113" name="AutoShape 15"/>
            <p:cNvSpPr>
              <a:spLocks noChangeArrowheads="1"/>
            </p:cNvSpPr>
            <p:nvPr/>
          </p:nvSpPr>
          <p:spPr bwMode="auto">
            <a:xfrm>
              <a:off x="3600" y="2736"/>
              <a:ext cx="432" cy="192"/>
            </a:xfrm>
            <a:prstGeom prst="rightArrow">
              <a:avLst>
                <a:gd name="adj1" fmla="val 50000"/>
                <a:gd name="adj2" fmla="val 5625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19067" cy="1981200"/>
          </a:xfrm>
        </p:spPr>
        <p:txBody>
          <a:bodyPr/>
          <a:lstStyle/>
          <a:p>
            <a:pPr eaLnBrk="1" hangingPunct="1"/>
            <a:r>
              <a:rPr lang="en-US" dirty="0" smtClean="0"/>
              <a:t>Embedded System Design Considerations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371600"/>
            <a:ext cx="8229600" cy="48006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 smtClean="0"/>
              <a:t>System Partitioning</a:t>
            </a:r>
          </a:p>
          <a:p>
            <a:pPr lvl="1" eaLnBrk="1" hangingPunct="1"/>
            <a:r>
              <a:rPr lang="en-US" dirty="0" smtClean="0"/>
              <a:t>Determine where each function should be implemented</a:t>
            </a:r>
          </a:p>
          <a:p>
            <a:pPr lvl="2" eaLnBrk="1" hangingPunct="1"/>
            <a:r>
              <a:rPr lang="en-US" dirty="0" smtClean="0"/>
              <a:t>What task is done in hardware?</a:t>
            </a:r>
          </a:p>
          <a:p>
            <a:pPr lvl="2" eaLnBrk="1" hangingPunct="1"/>
            <a:r>
              <a:rPr lang="en-US" dirty="0" smtClean="0"/>
              <a:t>What task is done in software?</a:t>
            </a:r>
          </a:p>
          <a:p>
            <a:pPr lvl="1" eaLnBrk="1" hangingPunct="1"/>
            <a:r>
              <a:rPr lang="en-US" dirty="0" smtClean="0"/>
              <a:t>Hardest part of embedded design</a:t>
            </a:r>
          </a:p>
          <a:p>
            <a:pPr lvl="2" eaLnBrk="1" hangingPunct="1"/>
            <a:r>
              <a:rPr lang="en-US" dirty="0" smtClean="0"/>
              <a:t>How will system be used?</a:t>
            </a:r>
          </a:p>
          <a:p>
            <a:pPr lvl="2" eaLnBrk="1" hangingPunct="1"/>
            <a:r>
              <a:rPr lang="en-US" dirty="0" smtClean="0"/>
              <a:t>How should system respond?</a:t>
            </a:r>
          </a:p>
          <a:p>
            <a:pPr lvl="2" eaLnBrk="1" hangingPunct="1"/>
            <a:r>
              <a:rPr lang="en-US" dirty="0" smtClean="0"/>
              <a:t>Need to understand who has access to what and when?</a:t>
            </a:r>
          </a:p>
          <a:p>
            <a:pPr lvl="1" eaLnBrk="1" hangingPunct="1"/>
            <a:r>
              <a:rPr lang="en-US" dirty="0" smtClean="0"/>
              <a:t>Utilizes Use Cases to define partitioning</a:t>
            </a:r>
          </a:p>
          <a:p>
            <a:pPr lvl="2" eaLnBrk="1" hangingPunct="1"/>
            <a:r>
              <a:rPr lang="en-US" sz="1800" dirty="0" smtClean="0"/>
              <a:t>Technique for capturing functional requirements of systems </a:t>
            </a:r>
          </a:p>
          <a:p>
            <a:pPr lvl="2" eaLnBrk="1" hangingPunct="1"/>
            <a:r>
              <a:rPr lang="en-US" sz="1800" dirty="0" smtClean="0"/>
              <a:t>Forces you to think how the design partitions interact</a:t>
            </a:r>
          </a:p>
          <a:p>
            <a:pPr lvl="2" eaLnBrk="1" hangingPunct="1"/>
            <a:r>
              <a:rPr lang="en-US" dirty="0" smtClean="0"/>
              <a:t>Unified Development Process (UDP)</a:t>
            </a:r>
          </a:p>
          <a:p>
            <a:pPr lvl="3" eaLnBrk="1" hangingPunct="1"/>
            <a:r>
              <a:rPr lang="en-US" dirty="0" smtClean="0"/>
              <a:t>Grady </a:t>
            </a:r>
            <a:r>
              <a:rPr lang="en-US" dirty="0" err="1" smtClean="0"/>
              <a:t>Booch</a:t>
            </a:r>
            <a:r>
              <a:rPr lang="en-US" dirty="0" smtClean="0"/>
              <a:t> and James </a:t>
            </a:r>
            <a:r>
              <a:rPr lang="en-US" dirty="0" err="1" smtClean="0"/>
              <a:t>Rumbaugh</a:t>
            </a:r>
            <a:r>
              <a:rPr lang="en-US" dirty="0" smtClean="0"/>
              <a:t> </a:t>
            </a:r>
          </a:p>
          <a:p>
            <a:pPr lvl="2" eaLnBrk="1" hangingPunct="1"/>
            <a:endParaRPr lang="en-US" sz="1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685800"/>
            <a:ext cx="8610600" cy="762000"/>
          </a:xfrm>
        </p:spPr>
        <p:txBody>
          <a:bodyPr/>
          <a:lstStyle/>
          <a:p>
            <a:pPr eaLnBrk="1" hangingPunct="1"/>
            <a:r>
              <a:rPr lang="en-US" dirty="0" smtClean="0"/>
              <a:t>Embedded System Design Considerations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982133" y="1524000"/>
            <a:ext cx="7704667" cy="4475816"/>
          </a:xfrm>
          <a:noFill/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dirty="0" smtClean="0"/>
              <a:t>Design Challenges of Embedded System</a:t>
            </a:r>
          </a:p>
          <a:p>
            <a:pPr lvl="1" eaLnBrk="1" hangingPunct="1"/>
            <a:r>
              <a:rPr lang="en-US" dirty="0" smtClean="0"/>
              <a:t>How much hardware do we need?</a:t>
            </a:r>
          </a:p>
          <a:p>
            <a:pPr lvl="2" eaLnBrk="1" hangingPunct="1"/>
            <a:r>
              <a:rPr lang="en-US" dirty="0" smtClean="0"/>
              <a:t>How big of a processor do we need?</a:t>
            </a:r>
          </a:p>
          <a:p>
            <a:pPr lvl="2" eaLnBrk="1" hangingPunct="1"/>
            <a:r>
              <a:rPr lang="en-US" dirty="0" smtClean="0"/>
              <a:t>How much memory do we need?</a:t>
            </a:r>
          </a:p>
          <a:p>
            <a:pPr lvl="1" eaLnBrk="1" hangingPunct="1"/>
            <a:r>
              <a:rPr lang="en-US" dirty="0" smtClean="0"/>
              <a:t>How do we meet our design goal?</a:t>
            </a:r>
          </a:p>
          <a:p>
            <a:pPr lvl="2" eaLnBrk="1" hangingPunct="1"/>
            <a:r>
              <a:rPr lang="en-US" dirty="0" smtClean="0"/>
              <a:t>Do you use faster hardware or better software optimization?</a:t>
            </a:r>
          </a:p>
          <a:p>
            <a:pPr lvl="1" eaLnBrk="1" hangingPunct="1"/>
            <a:r>
              <a:rPr lang="en-US" dirty="0" smtClean="0"/>
              <a:t>How do we minimize power?</a:t>
            </a:r>
          </a:p>
          <a:p>
            <a:pPr lvl="2" eaLnBrk="1" hangingPunct="1"/>
            <a:r>
              <a:rPr lang="en-US" dirty="0" smtClean="0"/>
              <a:t>Do you slow system down?</a:t>
            </a:r>
          </a:p>
          <a:p>
            <a:pPr lvl="2" eaLnBrk="1" hangingPunct="1"/>
            <a:r>
              <a:rPr lang="en-US" dirty="0" smtClean="0"/>
              <a:t>Do you enable low power modes by shutting sections off?</a:t>
            </a:r>
          </a:p>
          <a:p>
            <a:pPr lvl="1" eaLnBrk="1" hangingPunct="1"/>
            <a:r>
              <a:rPr lang="en-US" dirty="0" smtClean="0"/>
              <a:t>How do we test/debug our system?</a:t>
            </a:r>
          </a:p>
          <a:p>
            <a:pPr lvl="2" eaLnBrk="1" hangingPunct="1"/>
            <a:r>
              <a:rPr lang="en-US" dirty="0" smtClean="0"/>
              <a:t>How to test real-time aspect?</a:t>
            </a:r>
          </a:p>
          <a:p>
            <a:pPr lvl="2" eaLnBrk="1" hangingPunct="1"/>
            <a:r>
              <a:rPr lang="en-US" dirty="0" smtClean="0"/>
              <a:t>What is the design environment?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9099"/>
            <a:ext cx="8542867" cy="1981200"/>
          </a:xfrm>
        </p:spPr>
        <p:txBody>
          <a:bodyPr/>
          <a:lstStyle/>
          <a:p>
            <a:pPr eaLnBrk="1" hangingPunct="1"/>
            <a:r>
              <a:rPr lang="en-US" dirty="0" smtClean="0"/>
              <a:t>Embedded System Design Flow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982133" y="1600200"/>
            <a:ext cx="7704667" cy="4399616"/>
          </a:xfrm>
          <a:noFill/>
        </p:spPr>
        <p:txBody>
          <a:bodyPr>
            <a:normAutofit fontScale="85000" lnSpcReduction="10000"/>
          </a:bodyPr>
          <a:lstStyle/>
          <a:p>
            <a:pPr eaLnBrk="1" hangingPunct="1"/>
            <a:r>
              <a:rPr lang="en-US" dirty="0" smtClean="0"/>
              <a:t>How Do You Design (Be honest…)</a:t>
            </a:r>
          </a:p>
          <a:p>
            <a:pPr lvl="1" eaLnBrk="1" hangingPunct="1"/>
            <a:r>
              <a:rPr lang="en-US" dirty="0" smtClean="0"/>
              <a:t>Big Bang Model</a:t>
            </a:r>
          </a:p>
          <a:p>
            <a:pPr lvl="2" eaLnBrk="1" hangingPunct="1"/>
            <a:r>
              <a:rPr lang="en-US" dirty="0" smtClean="0"/>
              <a:t>No clear requirements or understanding of problem</a:t>
            </a:r>
          </a:p>
          <a:p>
            <a:pPr lvl="2" eaLnBrk="1" hangingPunct="1"/>
            <a:r>
              <a:rPr lang="en-US" dirty="0" smtClean="0"/>
              <a:t>No planning or processes in place before or during development</a:t>
            </a:r>
          </a:p>
          <a:p>
            <a:pPr lvl="2" eaLnBrk="1" hangingPunct="1"/>
            <a:r>
              <a:rPr lang="en-US" dirty="0" smtClean="0"/>
              <a:t>The reason many students struggle with CPET561 labs</a:t>
            </a:r>
          </a:p>
          <a:p>
            <a:pPr lvl="1" eaLnBrk="1" hangingPunct="1"/>
            <a:r>
              <a:rPr lang="en-US" dirty="0" smtClean="0"/>
              <a:t>Code &amp; Fix</a:t>
            </a:r>
          </a:p>
          <a:p>
            <a:pPr lvl="2" eaLnBrk="1" hangingPunct="1"/>
            <a:r>
              <a:rPr lang="en-US" dirty="0" smtClean="0"/>
              <a:t>Have some product requirements and understanding in place </a:t>
            </a:r>
          </a:p>
          <a:p>
            <a:pPr lvl="2" eaLnBrk="1" hangingPunct="1"/>
            <a:r>
              <a:rPr lang="en-US" dirty="0" smtClean="0"/>
              <a:t>No formal process in place to guide development</a:t>
            </a:r>
          </a:p>
          <a:p>
            <a:pPr lvl="1" eaLnBrk="1" hangingPunct="1"/>
            <a:r>
              <a:rPr lang="en-US" dirty="0" smtClean="0"/>
              <a:t>Waterfall</a:t>
            </a:r>
          </a:p>
          <a:p>
            <a:pPr lvl="2" eaLnBrk="1" hangingPunct="1"/>
            <a:r>
              <a:rPr lang="en-US" dirty="0" smtClean="0"/>
              <a:t>Have product requirements and understanding in place </a:t>
            </a:r>
          </a:p>
          <a:p>
            <a:pPr lvl="2" eaLnBrk="1" hangingPunct="1"/>
            <a:r>
              <a:rPr lang="en-US" dirty="0" smtClean="0"/>
              <a:t>A formal process is defined and development proceeds in steps</a:t>
            </a:r>
          </a:p>
          <a:p>
            <a:pPr lvl="1" eaLnBrk="1" hangingPunct="1"/>
            <a:r>
              <a:rPr lang="en-US" dirty="0" smtClean="0"/>
              <a:t>Spiral</a:t>
            </a:r>
          </a:p>
          <a:p>
            <a:pPr lvl="2" eaLnBrk="1" hangingPunct="1"/>
            <a:r>
              <a:rPr lang="en-US" dirty="0" smtClean="0"/>
              <a:t>A formal process is defined and development proceeds in steps</a:t>
            </a:r>
          </a:p>
          <a:p>
            <a:pPr lvl="2" eaLnBrk="1" hangingPunct="1"/>
            <a:r>
              <a:rPr lang="en-US" dirty="0" smtClean="0"/>
              <a:t>Feedback is obtained and incorporated back into design steps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228600"/>
            <a:ext cx="7704667" cy="1981200"/>
          </a:xfrm>
        </p:spPr>
        <p:txBody>
          <a:bodyPr/>
          <a:lstStyle/>
          <a:p>
            <a:pPr eaLnBrk="1" hangingPunct="1"/>
            <a:r>
              <a:rPr lang="en-US" dirty="0" smtClean="0"/>
              <a:t>Embedded System Design Flow</a:t>
            </a:r>
          </a:p>
        </p:txBody>
      </p:sp>
      <p:graphicFrame>
        <p:nvGraphicFramePr>
          <p:cNvPr id="2050" name="Object 5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5688945"/>
              </p:ext>
            </p:extLst>
          </p:nvPr>
        </p:nvGraphicFramePr>
        <p:xfrm>
          <a:off x="609600" y="1600200"/>
          <a:ext cx="7694613" cy="429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7" name="Visio" r:id="rId4" imgW="4792505" imgH="2675740" progId="Visio.Drawing.11">
                  <p:embed/>
                </p:oleObj>
              </mc:Choice>
              <mc:Fallback>
                <p:oleObj name="Visio" r:id="rId4" imgW="4792505" imgH="2675740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600200"/>
                        <a:ext cx="7694613" cy="429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>
          <a:xfrm>
            <a:off x="791633" y="-31411"/>
            <a:ext cx="7704667" cy="1981200"/>
          </a:xfrm>
        </p:spPr>
        <p:txBody>
          <a:bodyPr/>
          <a:lstStyle/>
          <a:p>
            <a:pPr eaLnBrk="1" hangingPunct="1"/>
            <a:r>
              <a:rPr lang="en-US" dirty="0" smtClean="0"/>
              <a:t>Embedded System Design Flow</a:t>
            </a:r>
          </a:p>
        </p:txBody>
      </p:sp>
      <p:graphicFrame>
        <p:nvGraphicFramePr>
          <p:cNvPr id="10" name="Object 5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3340516"/>
              </p:ext>
            </p:extLst>
          </p:nvPr>
        </p:nvGraphicFramePr>
        <p:xfrm>
          <a:off x="609600" y="1600200"/>
          <a:ext cx="7694613" cy="429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4115" name="Visio" r:id="rId4" imgW="4792505" imgH="2675740" progId="Visio.Drawing.11">
                  <p:embed/>
                </p:oleObj>
              </mc:Choice>
              <mc:Fallback>
                <p:oleObj name="Visio" r:id="rId4" imgW="4792505" imgH="2675740" progId="Visio.Drawing.11">
                  <p:embed/>
                  <p:pic>
                    <p:nvPicPr>
                      <p:cNvPr id="205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600200"/>
                        <a:ext cx="7694613" cy="429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581400" y="1143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cxnSp>
        <p:nvCxnSpPr>
          <p:cNvPr id="8" name="Straight Arrow Connector 7"/>
          <p:cNvCxnSpPr>
            <a:stCxn id="6" idx="1"/>
          </p:cNvCxnSpPr>
          <p:nvPr/>
        </p:nvCxnSpPr>
        <p:spPr>
          <a:xfrm flipH="1" flipV="1">
            <a:off x="1905000" y="2198133"/>
            <a:ext cx="1295400" cy="437584"/>
          </a:xfrm>
          <a:prstGeom prst="straightConnector1">
            <a:avLst/>
          </a:prstGeom>
          <a:ln w="412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200400" y="1512332"/>
            <a:ext cx="5486400" cy="2246769"/>
          </a:xfrm>
          <a:prstGeom prst="rect">
            <a:avLst/>
          </a:prstGeom>
          <a:solidFill>
            <a:srgbClr val="FFFF00"/>
          </a:solidFill>
          <a:ln cap="rnd">
            <a:solidFill>
              <a:srgbClr val="FF0000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Product Concept</a:t>
            </a:r>
            <a:r>
              <a:rPr lang="en-US" sz="2800" dirty="0" smtClean="0"/>
              <a:t>: </a:t>
            </a:r>
          </a:p>
          <a:p>
            <a:r>
              <a:rPr lang="en-US" sz="2800" dirty="0" smtClean="0"/>
              <a:t>Think of this as the lab handout that outlines the concept of the lab. It outlines the basic problem and requirements.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Embedded System Design Flow</a:t>
            </a:r>
          </a:p>
        </p:txBody>
      </p:sp>
      <p:graphicFrame>
        <p:nvGraphicFramePr>
          <p:cNvPr id="9" name="Object 5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3783578"/>
              </p:ext>
            </p:extLst>
          </p:nvPr>
        </p:nvGraphicFramePr>
        <p:xfrm>
          <a:off x="609600" y="1600200"/>
          <a:ext cx="7694613" cy="429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140" name="Visio" r:id="rId4" imgW="4792505" imgH="2675740" progId="Visio.Drawing.11">
                  <p:embed/>
                </p:oleObj>
              </mc:Choice>
              <mc:Fallback>
                <p:oleObj name="Visio" r:id="rId4" imgW="4792505" imgH="2675740" progId="Visio.Drawing.11">
                  <p:embed/>
                  <p:pic>
                    <p:nvPicPr>
                      <p:cNvPr id="205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600200"/>
                        <a:ext cx="7694613" cy="429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581400" y="1143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cxnSp>
        <p:nvCxnSpPr>
          <p:cNvPr id="8" name="Straight Arrow Connector 7"/>
          <p:cNvCxnSpPr>
            <a:stCxn id="6" idx="1"/>
          </p:cNvCxnSpPr>
          <p:nvPr/>
        </p:nvCxnSpPr>
        <p:spPr>
          <a:xfrm flipH="1">
            <a:off x="1905000" y="2849672"/>
            <a:ext cx="1295400" cy="45928"/>
          </a:xfrm>
          <a:prstGeom prst="straightConnector1">
            <a:avLst/>
          </a:prstGeom>
          <a:ln w="412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200400" y="1295400"/>
            <a:ext cx="5486400" cy="3108543"/>
          </a:xfrm>
          <a:prstGeom prst="rect">
            <a:avLst/>
          </a:prstGeom>
          <a:solidFill>
            <a:srgbClr val="FFFF00"/>
          </a:solidFill>
          <a:ln cap="rnd">
            <a:solidFill>
              <a:srgbClr val="FF0000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Analysis</a:t>
            </a:r>
            <a:r>
              <a:rPr lang="en-US" sz="2800" dirty="0" smtClean="0"/>
              <a:t>: </a:t>
            </a:r>
          </a:p>
          <a:p>
            <a:r>
              <a:rPr lang="en-US" sz="2800" dirty="0" smtClean="0"/>
              <a:t>You as the “designer” must analyze the product concept and identify all requirements. Not all requirements will be obvious or be clearly stated. You must ask questions.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29600" cy="762000"/>
          </a:xfrm>
        </p:spPr>
        <p:txBody>
          <a:bodyPr/>
          <a:lstStyle/>
          <a:p>
            <a:pPr eaLnBrk="1" hangingPunct="1"/>
            <a:r>
              <a:rPr lang="en-US" dirty="0" smtClean="0"/>
              <a:t>Embedded System Design Flow</a:t>
            </a:r>
          </a:p>
        </p:txBody>
      </p:sp>
      <p:graphicFrame>
        <p:nvGraphicFramePr>
          <p:cNvPr id="10" name="Object 5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1174042"/>
              </p:ext>
            </p:extLst>
          </p:nvPr>
        </p:nvGraphicFramePr>
        <p:xfrm>
          <a:off x="609600" y="1512888"/>
          <a:ext cx="7694613" cy="429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164" name="Visio" r:id="rId4" imgW="4792505" imgH="2675740" progId="Visio.Drawing.11">
                  <p:embed/>
                </p:oleObj>
              </mc:Choice>
              <mc:Fallback>
                <p:oleObj name="Visio" r:id="rId4" imgW="4792505" imgH="2675740" progId="Visio.Drawing.11">
                  <p:embed/>
                  <p:pic>
                    <p:nvPicPr>
                      <p:cNvPr id="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512888"/>
                        <a:ext cx="7694613" cy="429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581400" y="1143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352800" y="1531801"/>
            <a:ext cx="5486400" cy="3108543"/>
          </a:xfrm>
          <a:prstGeom prst="rect">
            <a:avLst/>
          </a:prstGeom>
          <a:solidFill>
            <a:srgbClr val="FFFF00"/>
          </a:solidFill>
          <a:ln cap="rnd">
            <a:solidFill>
              <a:srgbClr val="FF0000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Architecture</a:t>
            </a:r>
            <a:r>
              <a:rPr lang="en-US" sz="2800" dirty="0" smtClean="0"/>
              <a:t>: </a:t>
            </a:r>
          </a:p>
          <a:p>
            <a:r>
              <a:rPr lang="en-US" sz="2800" dirty="0" smtClean="0"/>
              <a:t>Sketch out an architecture that implements requirements. Identify all the major components and define interaction between the components. Let sit for a day or so and return with fresh look.</a:t>
            </a:r>
            <a:endParaRPr lang="en-US" sz="2800" dirty="0"/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2977908" y="1981200"/>
            <a:ext cx="381000" cy="533400"/>
          </a:xfrm>
          <a:prstGeom prst="straightConnector1">
            <a:avLst/>
          </a:prstGeom>
          <a:ln w="412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Embedded System Design Flow</a:t>
            </a:r>
          </a:p>
        </p:txBody>
      </p:sp>
      <p:graphicFrame>
        <p:nvGraphicFramePr>
          <p:cNvPr id="10" name="Object 5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4052172"/>
              </p:ext>
            </p:extLst>
          </p:nvPr>
        </p:nvGraphicFramePr>
        <p:xfrm>
          <a:off x="609600" y="1600200"/>
          <a:ext cx="7694613" cy="429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188" name="Visio" r:id="rId4" imgW="4792505" imgH="2675740" progId="Visio.Drawing.11">
                  <p:embed/>
                </p:oleObj>
              </mc:Choice>
              <mc:Fallback>
                <p:oleObj name="Visio" r:id="rId4" imgW="4792505" imgH="2675740" progId="Visio.Drawing.11">
                  <p:embed/>
                  <p:pic>
                    <p:nvPicPr>
                      <p:cNvPr id="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600200"/>
                        <a:ext cx="7694613" cy="429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581400" y="1143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352800" y="3418344"/>
            <a:ext cx="5105400" cy="2677656"/>
          </a:xfrm>
          <a:prstGeom prst="rect">
            <a:avLst/>
          </a:prstGeom>
          <a:solidFill>
            <a:srgbClr val="FFFF00"/>
          </a:solidFill>
          <a:ln cap="rnd">
            <a:solidFill>
              <a:srgbClr val="FF0000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Review:</a:t>
            </a:r>
            <a:r>
              <a:rPr lang="en-US" sz="2800" dirty="0" smtClean="0"/>
              <a:t> </a:t>
            </a:r>
          </a:p>
          <a:p>
            <a:r>
              <a:rPr lang="en-US" sz="2800" dirty="0" smtClean="0"/>
              <a:t>Create and apply various use cases to the architecture to determine how the architecture behaves. Ask others for feedback.</a:t>
            </a:r>
            <a:endParaRPr lang="en-US" sz="2800" dirty="0"/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4038600" y="3276600"/>
            <a:ext cx="0" cy="827544"/>
          </a:xfrm>
          <a:prstGeom prst="straightConnector1">
            <a:avLst/>
          </a:prstGeom>
          <a:ln w="412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Embedded System Design Flow</a:t>
            </a:r>
          </a:p>
        </p:txBody>
      </p:sp>
      <p:graphicFrame>
        <p:nvGraphicFramePr>
          <p:cNvPr id="12" name="Object 5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8331674"/>
              </p:ext>
            </p:extLst>
          </p:nvPr>
        </p:nvGraphicFramePr>
        <p:xfrm>
          <a:off x="609600" y="1600200"/>
          <a:ext cx="7694613" cy="429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212" name="Visio" r:id="rId4" imgW="4792505" imgH="2675740" progId="Visio.Drawing.11">
                  <p:embed/>
                </p:oleObj>
              </mc:Choice>
              <mc:Fallback>
                <p:oleObj name="Visio" r:id="rId4" imgW="4792505" imgH="2675740" progId="Visio.Drawing.11">
                  <p:embed/>
                  <p:pic>
                    <p:nvPicPr>
                      <p:cNvPr id="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600200"/>
                        <a:ext cx="7694613" cy="429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581400" y="1143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548244" y="3598097"/>
            <a:ext cx="5105400" cy="2677656"/>
          </a:xfrm>
          <a:prstGeom prst="rect">
            <a:avLst/>
          </a:prstGeom>
          <a:solidFill>
            <a:srgbClr val="FFFF00"/>
          </a:solidFill>
          <a:ln cap="rnd">
            <a:solidFill>
              <a:srgbClr val="FF0000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Accepted</a:t>
            </a:r>
            <a:r>
              <a:rPr lang="en-US" sz="2800" dirty="0" smtClean="0"/>
              <a:t>?:</a:t>
            </a:r>
          </a:p>
          <a:p>
            <a:r>
              <a:rPr lang="en-US" sz="2800" dirty="0" smtClean="0"/>
              <a:t>If architecture fails to satisfy all the requirements or meet the customer expectations then find out why and modify the design.</a:t>
            </a:r>
            <a:endParaRPr lang="en-US" sz="2800" dirty="0"/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3962400" y="2083986"/>
            <a:ext cx="1333500" cy="1524000"/>
          </a:xfrm>
          <a:prstGeom prst="straightConnector1">
            <a:avLst/>
          </a:prstGeom>
          <a:ln w="412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 flipV="1">
            <a:off x="5313787" y="1995109"/>
            <a:ext cx="495300" cy="1600200"/>
          </a:xfrm>
          <a:prstGeom prst="straightConnector1">
            <a:avLst/>
          </a:prstGeom>
          <a:ln w="412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Embedded System Design Flow</a:t>
            </a:r>
          </a:p>
        </p:txBody>
      </p:sp>
      <p:graphicFrame>
        <p:nvGraphicFramePr>
          <p:cNvPr id="10" name="Object 5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9390010"/>
              </p:ext>
            </p:extLst>
          </p:nvPr>
        </p:nvGraphicFramePr>
        <p:xfrm>
          <a:off x="609600" y="1600200"/>
          <a:ext cx="7694613" cy="429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1284" name="Visio" r:id="rId4" imgW="4792505" imgH="2675740" progId="Visio.Drawing.11">
                  <p:embed/>
                </p:oleObj>
              </mc:Choice>
              <mc:Fallback>
                <p:oleObj name="Visio" r:id="rId4" imgW="4792505" imgH="2675740" progId="Visio.Drawing.11">
                  <p:embed/>
                  <p:pic>
                    <p:nvPicPr>
                      <p:cNvPr id="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600200"/>
                        <a:ext cx="7694613" cy="429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581400" y="1143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590800" y="1155918"/>
            <a:ext cx="6096000" cy="1815882"/>
          </a:xfrm>
          <a:prstGeom prst="rect">
            <a:avLst/>
          </a:prstGeom>
          <a:solidFill>
            <a:srgbClr val="FFFF00"/>
          </a:solidFill>
          <a:ln cap="rnd">
            <a:solidFill>
              <a:srgbClr val="FF0000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Detail Design: </a:t>
            </a:r>
            <a:r>
              <a:rPr lang="en-US" sz="2800" dirty="0" smtClean="0"/>
              <a:t>If the architecture satisfies all the requirements and meets the customer’s expectations then start the detailed design work.</a:t>
            </a:r>
            <a:endParaRPr lang="en-US" sz="2800" dirty="0"/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5410200" y="2971800"/>
            <a:ext cx="76200" cy="838200"/>
          </a:xfrm>
          <a:prstGeom prst="straightConnector1">
            <a:avLst/>
          </a:prstGeom>
          <a:ln w="412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Embedded System Design Flow</a:t>
            </a:r>
          </a:p>
        </p:txBody>
      </p:sp>
      <p:graphicFrame>
        <p:nvGraphicFramePr>
          <p:cNvPr id="10" name="Object 5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3589764"/>
              </p:ext>
            </p:extLst>
          </p:nvPr>
        </p:nvGraphicFramePr>
        <p:xfrm>
          <a:off x="609600" y="1600200"/>
          <a:ext cx="7694613" cy="429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0260" name="Visio" r:id="rId4" imgW="4792505" imgH="2675740" progId="Visio.Drawing.11">
                  <p:embed/>
                </p:oleObj>
              </mc:Choice>
              <mc:Fallback>
                <p:oleObj name="Visio" r:id="rId4" imgW="4792505" imgH="2675740" progId="Visio.Drawing.11">
                  <p:embed/>
                  <p:pic>
                    <p:nvPicPr>
                      <p:cNvPr id="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600200"/>
                        <a:ext cx="7694613" cy="429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581400" y="1143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52400" y="1600200"/>
            <a:ext cx="6096000" cy="2246769"/>
          </a:xfrm>
          <a:prstGeom prst="rect">
            <a:avLst/>
          </a:prstGeom>
          <a:solidFill>
            <a:srgbClr val="FFFF00"/>
          </a:solidFill>
          <a:ln cap="rnd">
            <a:solidFill>
              <a:srgbClr val="FF0000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Test &amp; Verification</a:t>
            </a:r>
            <a:r>
              <a:rPr lang="en-US" sz="2800" dirty="0" smtClean="0"/>
              <a:t>: </a:t>
            </a:r>
          </a:p>
          <a:p>
            <a:r>
              <a:rPr lang="en-US" sz="2800" dirty="0" smtClean="0"/>
              <a:t>Test and verify that the design satisfies </a:t>
            </a:r>
            <a:r>
              <a:rPr lang="en-US" sz="2800" b="1" u="sng" dirty="0" smtClean="0"/>
              <a:t>all</a:t>
            </a:r>
            <a:r>
              <a:rPr lang="en-US" sz="2800" dirty="0" smtClean="0"/>
              <a:t> requirements. Verify design under all conditions and corner cases.</a:t>
            </a:r>
            <a:endParaRPr lang="en-US" sz="2800" dirty="0"/>
          </a:p>
        </p:txBody>
      </p:sp>
      <p:cxnSp>
        <p:nvCxnSpPr>
          <p:cNvPr id="8" name="Straight Arrow Connector 7"/>
          <p:cNvCxnSpPr>
            <a:stCxn id="6" idx="2"/>
          </p:cNvCxnSpPr>
          <p:nvPr/>
        </p:nvCxnSpPr>
        <p:spPr>
          <a:xfrm>
            <a:off x="3200400" y="3846969"/>
            <a:ext cx="2743200" cy="420231"/>
          </a:xfrm>
          <a:prstGeom prst="straightConnector1">
            <a:avLst/>
          </a:prstGeom>
          <a:ln w="412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Embedded System Design Flow</a:t>
            </a:r>
          </a:p>
        </p:txBody>
      </p:sp>
      <p:graphicFrame>
        <p:nvGraphicFramePr>
          <p:cNvPr id="10" name="Object 5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3614132"/>
              </p:ext>
            </p:extLst>
          </p:nvPr>
        </p:nvGraphicFramePr>
        <p:xfrm>
          <a:off x="609600" y="1600200"/>
          <a:ext cx="7694613" cy="429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2308" name="Visio" r:id="rId4" imgW="4792505" imgH="2675740" progId="Visio.Drawing.11">
                  <p:embed/>
                </p:oleObj>
              </mc:Choice>
              <mc:Fallback>
                <p:oleObj name="Visio" r:id="rId4" imgW="4792505" imgH="2675740" progId="Visio.Drawing.11">
                  <p:embed/>
                  <p:pic>
                    <p:nvPicPr>
                      <p:cNvPr id="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600200"/>
                        <a:ext cx="7694613" cy="429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581400" y="1143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286000" y="1282638"/>
            <a:ext cx="6096000" cy="2246769"/>
          </a:xfrm>
          <a:prstGeom prst="rect">
            <a:avLst/>
          </a:prstGeom>
          <a:solidFill>
            <a:srgbClr val="FFFF00"/>
          </a:solidFill>
          <a:ln cap="rnd">
            <a:solidFill>
              <a:srgbClr val="FF0000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Accepted?</a:t>
            </a:r>
            <a:r>
              <a:rPr lang="en-US" sz="2800" dirty="0" smtClean="0"/>
              <a:t>: </a:t>
            </a:r>
          </a:p>
          <a:p>
            <a:r>
              <a:rPr lang="en-US" sz="2800" dirty="0" smtClean="0"/>
              <a:t>If architecture fails to satisfy all the requirements or fails to perform properly then find out why and modify the design.</a:t>
            </a:r>
            <a:endParaRPr lang="en-US" sz="2800" dirty="0"/>
          </a:p>
        </p:txBody>
      </p:sp>
      <p:cxnSp>
        <p:nvCxnSpPr>
          <p:cNvPr id="8" name="Straight Arrow Connector 7"/>
          <p:cNvCxnSpPr>
            <a:stCxn id="6" idx="2"/>
          </p:cNvCxnSpPr>
          <p:nvPr/>
        </p:nvCxnSpPr>
        <p:spPr>
          <a:xfrm>
            <a:off x="5334000" y="3529407"/>
            <a:ext cx="685800" cy="1715631"/>
          </a:xfrm>
          <a:prstGeom prst="straightConnector1">
            <a:avLst/>
          </a:prstGeom>
          <a:ln w="412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Embedded System Design Flow</a:t>
            </a:r>
          </a:p>
        </p:txBody>
      </p:sp>
      <p:graphicFrame>
        <p:nvGraphicFramePr>
          <p:cNvPr id="10" name="Object 5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8865629"/>
              </p:ext>
            </p:extLst>
          </p:nvPr>
        </p:nvGraphicFramePr>
        <p:xfrm>
          <a:off x="609600" y="1600200"/>
          <a:ext cx="7694613" cy="429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3332" name="Visio" r:id="rId4" imgW="4792505" imgH="2675740" progId="Visio.Drawing.11">
                  <p:embed/>
                </p:oleObj>
              </mc:Choice>
              <mc:Fallback>
                <p:oleObj name="Visio" r:id="rId4" imgW="4792505" imgH="2675740" progId="Visio.Drawing.11">
                  <p:embed/>
                  <p:pic>
                    <p:nvPicPr>
                      <p:cNvPr id="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600200"/>
                        <a:ext cx="7694613" cy="429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581400" y="1143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514600" y="1752600"/>
            <a:ext cx="6096000" cy="2246769"/>
          </a:xfrm>
          <a:prstGeom prst="rect">
            <a:avLst/>
          </a:prstGeom>
          <a:solidFill>
            <a:srgbClr val="FFFF00"/>
          </a:solidFill>
          <a:ln cap="rnd">
            <a:solidFill>
              <a:srgbClr val="FF0000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Sign-off for approval:</a:t>
            </a:r>
            <a:endParaRPr lang="en-US" sz="2800" dirty="0" smtClean="0"/>
          </a:p>
          <a:p>
            <a:r>
              <a:rPr lang="en-US" sz="2800" dirty="0" smtClean="0"/>
              <a:t>If design operates properly and satisfies all the requirements then deliver to customer for final review and approval.</a:t>
            </a:r>
            <a:endParaRPr lang="en-US" sz="2800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7620000" y="3999369"/>
            <a:ext cx="190500" cy="1118949"/>
          </a:xfrm>
          <a:prstGeom prst="straightConnector1">
            <a:avLst/>
          </a:prstGeom>
          <a:ln w="412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152400"/>
            <a:ext cx="7704667" cy="1981200"/>
          </a:xfrm>
        </p:spPr>
        <p:txBody>
          <a:bodyPr/>
          <a:lstStyle/>
          <a:p>
            <a:r>
              <a:rPr lang="en-US" dirty="0" smtClean="0"/>
              <a:t>Embedded System Design Flow</a:t>
            </a:r>
            <a:endParaRPr lang="en-US" dirty="0"/>
          </a:p>
        </p:txBody>
      </p:sp>
      <p:sp>
        <p:nvSpPr>
          <p:cNvPr id="297987" name="Rectangle 3"/>
          <p:cNvSpPr>
            <a:spLocks noGrp="1" noChangeArrowheads="1"/>
          </p:cNvSpPr>
          <p:nvPr>
            <p:ph idx="1"/>
          </p:nvPr>
        </p:nvSpPr>
        <p:spPr>
          <a:xfrm>
            <a:off x="358739" y="1187450"/>
            <a:ext cx="8229600" cy="2819400"/>
          </a:xfrm>
          <a:noFill/>
          <a:ln/>
        </p:spPr>
        <p:txBody>
          <a:bodyPr/>
          <a:lstStyle/>
          <a:p>
            <a:r>
              <a:rPr lang="en-US" dirty="0" smtClean="0"/>
              <a:t>Test &amp; Verification</a:t>
            </a:r>
            <a:endParaRPr lang="en-US" dirty="0"/>
          </a:p>
          <a:p>
            <a:pPr lvl="1"/>
            <a:r>
              <a:rPr lang="en-US" dirty="0" smtClean="0"/>
              <a:t>Test &amp; Verification are critical </a:t>
            </a:r>
            <a:r>
              <a:rPr lang="en-US" dirty="0"/>
              <a:t>to successful </a:t>
            </a:r>
            <a:r>
              <a:rPr lang="en-US" dirty="0" smtClean="0"/>
              <a:t>design. We don’t just make you do it for our entertainment </a:t>
            </a:r>
            <a:r>
              <a:rPr lang="en-US" dirty="0" smtClean="0">
                <a:sym typeface="Wingdings" panose="05000000000000000000" pitchFamily="2" charset="2"/>
              </a:rPr>
              <a:t></a:t>
            </a:r>
            <a:endParaRPr lang="en-US" dirty="0"/>
          </a:p>
          <a:p>
            <a:pPr lvl="1"/>
            <a:r>
              <a:rPr lang="en-US" dirty="0" smtClean="0"/>
              <a:t>Sooner </a:t>
            </a:r>
            <a:r>
              <a:rPr lang="en-US" dirty="0"/>
              <a:t>bugs or problems </a:t>
            </a:r>
            <a:r>
              <a:rPr lang="en-US" dirty="0" smtClean="0"/>
              <a:t>are detected</a:t>
            </a:r>
            <a:r>
              <a:rPr lang="en-US" dirty="0"/>
              <a:t>, the easier and less expensive </a:t>
            </a:r>
            <a:r>
              <a:rPr lang="en-US" dirty="0" smtClean="0"/>
              <a:t>they are to fix</a:t>
            </a:r>
          </a:p>
          <a:p>
            <a:pPr lvl="2"/>
            <a:r>
              <a:rPr lang="en-US" dirty="0" smtClean="0"/>
              <a:t>Critical to understand requirements and expectation up front</a:t>
            </a:r>
          </a:p>
          <a:p>
            <a:pPr lvl="2"/>
            <a:r>
              <a:rPr lang="en-US" dirty="0" smtClean="0"/>
              <a:t>Don’t assume you understand the problem or requirements</a:t>
            </a:r>
            <a:endParaRPr lang="en-US" dirty="0"/>
          </a:p>
        </p:txBody>
      </p:sp>
      <p:graphicFrame>
        <p:nvGraphicFramePr>
          <p:cNvPr id="29799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0136348"/>
              </p:ext>
            </p:extLst>
          </p:nvPr>
        </p:nvGraphicFramePr>
        <p:xfrm>
          <a:off x="849842" y="3810000"/>
          <a:ext cx="7540625" cy="273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187" name="Visio" r:id="rId3" imgW="6863687" imgH="2485355" progId="Visio.Drawing.11">
                  <p:embed/>
                </p:oleObj>
              </mc:Choice>
              <mc:Fallback>
                <p:oleObj name="Visio" r:id="rId3" imgW="6863687" imgH="2485355" progId="Visio.Drawing.11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9842" y="3810000"/>
                        <a:ext cx="7540625" cy="273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534400" cy="1981200"/>
          </a:xfrm>
        </p:spPr>
        <p:txBody>
          <a:bodyPr/>
          <a:lstStyle/>
          <a:p>
            <a:pPr eaLnBrk="1" hangingPunct="1"/>
            <a:r>
              <a:rPr lang="en-US" dirty="0" smtClean="0"/>
              <a:t>Embedded System Design Principles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7704667" cy="4399616"/>
          </a:xfrm>
          <a:noFill/>
        </p:spPr>
        <p:txBody>
          <a:bodyPr>
            <a:normAutofit fontScale="85000" lnSpcReduction="10000"/>
          </a:bodyPr>
          <a:lstStyle/>
          <a:p>
            <a:pPr eaLnBrk="1" hangingPunct="1"/>
            <a:r>
              <a:rPr lang="en-US" dirty="0" smtClean="0"/>
              <a:t>General Design Principals</a:t>
            </a:r>
          </a:p>
          <a:p>
            <a:pPr lvl="1" eaLnBrk="1" hangingPunct="1"/>
            <a:r>
              <a:rPr lang="en-US" dirty="0" smtClean="0"/>
              <a:t>Keep things simple</a:t>
            </a:r>
          </a:p>
          <a:p>
            <a:pPr lvl="2" eaLnBrk="1" hangingPunct="1"/>
            <a:r>
              <a:rPr lang="en-US" dirty="0" smtClean="0"/>
              <a:t>Simpler designs are easier to design/code and test</a:t>
            </a:r>
          </a:p>
          <a:p>
            <a:pPr lvl="2" eaLnBrk="1" hangingPunct="1"/>
            <a:r>
              <a:rPr lang="en-US" dirty="0" smtClean="0"/>
              <a:t>Designs that have predictable characteristics tend to be simpler</a:t>
            </a:r>
          </a:p>
          <a:p>
            <a:pPr lvl="3" eaLnBrk="1" hangingPunct="1"/>
            <a:r>
              <a:rPr lang="en-US" sz="1800" dirty="0" smtClean="0"/>
              <a:t>Avoid special cases</a:t>
            </a:r>
          </a:p>
          <a:p>
            <a:pPr lvl="3" eaLnBrk="1" hangingPunct="1"/>
            <a:r>
              <a:rPr lang="en-US" sz="1800" dirty="0" smtClean="0"/>
              <a:t>Ex: Hardware for variable # of operands more complicated than fixed number of operands</a:t>
            </a:r>
          </a:p>
          <a:p>
            <a:pPr lvl="1" eaLnBrk="1" hangingPunct="1"/>
            <a:r>
              <a:rPr lang="en-US" dirty="0" smtClean="0"/>
              <a:t>Smaller designs are usually faster</a:t>
            </a:r>
          </a:p>
          <a:p>
            <a:pPr lvl="2" eaLnBrk="1" hangingPunct="1"/>
            <a:r>
              <a:rPr lang="en-US" dirty="0" smtClean="0"/>
              <a:t>Larger designs increase propagation delay which reduces </a:t>
            </a:r>
            <a:r>
              <a:rPr lang="en-US" dirty="0" err="1" smtClean="0"/>
              <a:t>Fmax</a:t>
            </a:r>
            <a:endParaRPr lang="en-US" dirty="0" smtClean="0"/>
          </a:p>
          <a:p>
            <a:pPr lvl="3" eaLnBrk="1" hangingPunct="1"/>
            <a:r>
              <a:rPr lang="en-US" sz="1800" dirty="0" smtClean="0"/>
              <a:t>Ex: Increasing the number of registers causes the decoder to get larger (increase decode time)</a:t>
            </a:r>
          </a:p>
          <a:p>
            <a:pPr lvl="1" eaLnBrk="1" hangingPunct="1"/>
            <a:r>
              <a:rPr lang="en-US" dirty="0" smtClean="0"/>
              <a:t>Make the common case fast</a:t>
            </a:r>
          </a:p>
          <a:p>
            <a:pPr lvl="2" eaLnBrk="1" hangingPunct="1"/>
            <a:r>
              <a:rPr lang="en-US" dirty="0" smtClean="0"/>
              <a:t>Concentrate optimization effort on sections that are used often</a:t>
            </a:r>
          </a:p>
          <a:p>
            <a:pPr lvl="1" eaLnBrk="1" hangingPunct="1"/>
            <a:r>
              <a:rPr lang="en-US" dirty="0" smtClean="0"/>
              <a:t>Good designs have good compromises</a:t>
            </a:r>
          </a:p>
          <a:p>
            <a:pPr lvl="2" eaLnBrk="1" hangingPunct="1"/>
            <a:r>
              <a:rPr lang="en-US" dirty="0" smtClean="0"/>
              <a:t>You can’t have everything, weigh trade-offs carefully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RIT" id="{97C221C2-C4D1-4045-949D-729FDFABAAE9}" vid="{D6F8B45F-E2E7-43CA-9B29-0AE1C6552E0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13365</TotalTime>
  <Words>2079</Words>
  <Application>Microsoft Office PowerPoint</Application>
  <PresentationFormat>On-screen Show (4:3)</PresentationFormat>
  <Paragraphs>347</Paragraphs>
  <Slides>35</Slides>
  <Notes>16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ＭＳ Ｐゴシック</vt:lpstr>
      <vt:lpstr>Aparajita</vt:lpstr>
      <vt:lpstr>Arial</vt:lpstr>
      <vt:lpstr>Calibri</vt:lpstr>
      <vt:lpstr>Georgia</vt:lpstr>
      <vt:lpstr>Tahoma</vt:lpstr>
      <vt:lpstr>Wingdings</vt:lpstr>
      <vt:lpstr>RIT</vt:lpstr>
      <vt:lpstr>Visio</vt:lpstr>
      <vt:lpstr> Embedded Systems Introduction  </vt:lpstr>
      <vt:lpstr>Reminders</vt:lpstr>
      <vt:lpstr>Schedule This Semester</vt:lpstr>
      <vt:lpstr>What is an Embedded System?</vt:lpstr>
      <vt:lpstr>Problems With Given Definition</vt:lpstr>
      <vt:lpstr>How Do Embedded Systems Differ From PCs?</vt:lpstr>
      <vt:lpstr>Components of an Embedded System</vt:lpstr>
      <vt:lpstr>Components of an Embedded System (iPhone 4)</vt:lpstr>
      <vt:lpstr>Characteristics of Embedded Systems</vt:lpstr>
      <vt:lpstr>Characteristics of Embedded Systems</vt:lpstr>
      <vt:lpstr>Characteristics of Embedded Systems</vt:lpstr>
      <vt:lpstr>Characteristics of Embedded Systems</vt:lpstr>
      <vt:lpstr>Embedded System Technologies</vt:lpstr>
      <vt:lpstr>Embedded System Technologies</vt:lpstr>
      <vt:lpstr>Embedded System Technologies</vt:lpstr>
      <vt:lpstr>Embedded System Technologies</vt:lpstr>
      <vt:lpstr>Embedded System Technologies</vt:lpstr>
      <vt:lpstr>Embedded System Technologies</vt:lpstr>
      <vt:lpstr>Embedded System Technologies</vt:lpstr>
      <vt:lpstr>System on Programmable Chip</vt:lpstr>
      <vt:lpstr>Embedded System Design Considerations</vt:lpstr>
      <vt:lpstr>Embedded System Design Considerations</vt:lpstr>
      <vt:lpstr>Embedded System Design Flow</vt:lpstr>
      <vt:lpstr>Embedded System Design Flow</vt:lpstr>
      <vt:lpstr>Embedded System Design Flow</vt:lpstr>
      <vt:lpstr>Embedded System Design Flow</vt:lpstr>
      <vt:lpstr>Embedded System Design Flow</vt:lpstr>
      <vt:lpstr>Embedded System Design Flow</vt:lpstr>
      <vt:lpstr>Embedded System Design Flow</vt:lpstr>
      <vt:lpstr>Embedded System Design Flow</vt:lpstr>
      <vt:lpstr>Embedded System Design Flow</vt:lpstr>
      <vt:lpstr>Embedded System Design Flow</vt:lpstr>
      <vt:lpstr>Embedded System Design Flow</vt:lpstr>
      <vt:lpstr>Embedded System Design Flow</vt:lpstr>
      <vt:lpstr>Embedded System Design Principles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Embedded System Design (ESD)  0618-561</dc:title>
  <dc:creator>Bruce Link</dc:creator>
  <cp:lastModifiedBy>Holly Dickens</cp:lastModifiedBy>
  <cp:revision>1608</cp:revision>
  <cp:lastPrinted>2018-03-25T18:55:25Z</cp:lastPrinted>
  <dcterms:created xsi:type="dcterms:W3CDTF">2004-11-24T20:26:08Z</dcterms:created>
  <dcterms:modified xsi:type="dcterms:W3CDTF">2024-08-26T00:42:07Z</dcterms:modified>
</cp:coreProperties>
</file>