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8"/>
  </p:notesMasterIdLst>
  <p:sldIdLst>
    <p:sldId id="268" r:id="rId2"/>
    <p:sldId id="286" r:id="rId3"/>
    <p:sldId id="287" r:id="rId4"/>
    <p:sldId id="269" r:id="rId5"/>
    <p:sldId id="271" r:id="rId6"/>
    <p:sldId id="270" r:id="rId7"/>
    <p:sldId id="272" r:id="rId8"/>
    <p:sldId id="273" r:id="rId9"/>
    <p:sldId id="258" r:id="rId10"/>
    <p:sldId id="259" r:id="rId11"/>
    <p:sldId id="260" r:id="rId12"/>
    <p:sldId id="261" r:id="rId13"/>
    <p:sldId id="262" r:id="rId14"/>
    <p:sldId id="275" r:id="rId15"/>
    <p:sldId id="274" r:id="rId16"/>
    <p:sldId id="276" r:id="rId17"/>
    <p:sldId id="277" r:id="rId18"/>
    <p:sldId id="278" r:id="rId19"/>
    <p:sldId id="279" r:id="rId20"/>
    <p:sldId id="264" r:id="rId21"/>
    <p:sldId id="280" r:id="rId22"/>
    <p:sldId id="281" r:id="rId23"/>
    <p:sldId id="282" r:id="rId24"/>
    <p:sldId id="283" r:id="rId25"/>
    <p:sldId id="284" r:id="rId26"/>
    <p:sldId id="285" r:id="rId27"/>
  </p:sldIdLst>
  <p:sldSz cx="9144000" cy="6858000" type="screen4x3"/>
  <p:notesSz cx="6858000" cy="90678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05" autoAdjust="0"/>
    <p:restoredTop sz="99432" autoAdjust="0"/>
  </p:normalViewPr>
  <p:slideViewPr>
    <p:cSldViewPr snapToGrid="0">
      <p:cViewPr varScale="1">
        <p:scale>
          <a:sx n="62" d="100"/>
          <a:sy n="62" d="100"/>
        </p:scale>
        <p:origin x="26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58" y="15543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40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40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F275E-1604-4C00-A71B-9A8610906576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9063" y="1133475"/>
            <a:ext cx="4079875" cy="3060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64038"/>
            <a:ext cx="5486400" cy="35702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3775"/>
            <a:ext cx="2971800" cy="4540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3775"/>
            <a:ext cx="2971800" cy="4540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BCE45-F453-4C91-AA4A-D7D9422F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2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Similar to how a VHDL circuit can be put on a FPGA to allow for high configurability, a soft processor is a processor implemented on a FPGA.  This is different than a hard processor, which is a processor implemented in hardware.  Soft processor is a logical schematic (software) that can be loaded onto any FPGA.  So a soft processor isn’t really a processor, but just a schematic (or code like software).  This gives it all the advantages of software such as giving updates and improving the development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45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Similar to how a VHDL circuit can be put on a FPGA to allow for high configurability, a soft processor is a processor implemented on a FPGA.  This is different than a hard processor, which is a processor implemented in hardware.  Soft processor is a logical schematic (software) that can be loaded onto any FPGA.  So a soft processor isn’t really a processor, but just a schematic (or code like software).  This gives it all the advantages of software such as giving updates and improving the development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41488"/>
            <a:ext cx="8229600" cy="9366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678112"/>
            <a:ext cx="8534400" cy="22748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42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26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0597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2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192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858963"/>
            <a:ext cx="4040188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192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8963"/>
            <a:ext cx="4041775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73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162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2413" cy="685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1"/>
            <a:ext cx="8229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3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19202"/>
            <a:ext cx="8229600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2453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513026"/>
          </a:solidFill>
          <a:latin typeface="Georgia"/>
          <a:ea typeface="ＭＳ Ｐゴシック" pitchFamily="-65" charset="-128"/>
          <a:cs typeface="Georgia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b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800" b="1" i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</a:br>
            <a:r>
              <a:rPr 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SOPC and Cores</a:t>
            </a:r>
            <a:r>
              <a:rPr lang="en-US" b="0" dirty="0" smtClean="0">
                <a:solidFill>
                  <a:schemeClr val="tx1"/>
                </a:solidFill>
              </a:rPr>
              <a:t/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/>
            </a:r>
            <a:br>
              <a:rPr lang="en-US" b="0" dirty="0" smtClean="0">
                <a:solidFill>
                  <a:schemeClr val="tx1"/>
                </a:solidFill>
              </a:rPr>
            </a:br>
            <a:endParaRPr lang="en-US" dirty="0" smtClean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81000" y="3124200"/>
            <a:ext cx="8534400" cy="2274888"/>
          </a:xfrm>
        </p:spPr>
        <p:txBody>
          <a:bodyPr/>
          <a:lstStyle/>
          <a:p>
            <a:r>
              <a:rPr lang="en-US" dirty="0" smtClean="0"/>
              <a:t>Week 1 – Lecture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93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Reminders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Obtain DE1-SoC board from Ken Garland </a:t>
            </a:r>
          </a:p>
          <a:p>
            <a:r>
              <a:rPr lang="en-US" dirty="0" smtClean="0"/>
              <a:t>Download </a:t>
            </a:r>
            <a:r>
              <a:rPr lang="en-US" dirty="0" err="1" smtClean="0"/>
              <a:t>Quartus</a:t>
            </a:r>
            <a:r>
              <a:rPr lang="en-US" dirty="0" smtClean="0"/>
              <a:t> Prime Lite 18.1</a:t>
            </a:r>
          </a:p>
          <a:p>
            <a:r>
              <a:rPr lang="en-US" dirty="0" smtClean="0"/>
              <a:t>Review Syllabus and Schedule</a:t>
            </a:r>
          </a:p>
          <a:p>
            <a:endParaRPr lang="en-US" dirty="0" smtClean="0"/>
          </a:p>
          <a:p>
            <a:r>
              <a:rPr lang="en-US" dirty="0" smtClean="0"/>
              <a:t>Complete first Quiz – Due Sunday</a:t>
            </a:r>
          </a:p>
          <a:p>
            <a:pPr lvl="1"/>
            <a:r>
              <a:rPr lang="en-US" dirty="0" smtClean="0"/>
              <a:t>Quizzes section of </a:t>
            </a:r>
            <a:r>
              <a:rPr lang="en-US" dirty="0" err="1" smtClean="0"/>
              <a:t>myCourses</a:t>
            </a:r>
            <a:endParaRPr lang="en-US" dirty="0" smtClean="0"/>
          </a:p>
          <a:p>
            <a:pPr lvl="1"/>
            <a:r>
              <a:rPr lang="en-US" dirty="0" smtClean="0"/>
              <a:t>On material from this weeks lectures</a:t>
            </a:r>
          </a:p>
          <a:p>
            <a:r>
              <a:rPr lang="en-US" dirty="0" smtClean="0"/>
              <a:t>Complete first Demo assignment – Due Friday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41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Reminders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FRIDAY CLASSES ARE </a:t>
            </a:r>
            <a:r>
              <a:rPr lang="en-US" dirty="0" smtClean="0"/>
              <a:t>ONLINE</a:t>
            </a:r>
            <a:endParaRPr lang="en-US" dirty="0"/>
          </a:p>
          <a:p>
            <a:pPr lvl="1"/>
            <a:r>
              <a:rPr lang="en-US" dirty="0"/>
              <a:t>We will be reviewing the EDE and any questions about the demo due this week. 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/>
              <a:t>No class </a:t>
            </a:r>
            <a:r>
              <a:rPr lang="en-US" dirty="0" smtClean="0">
                <a:solidFill>
                  <a:srgbClr val="FF0000"/>
                </a:solidFill>
              </a:rPr>
              <a:t>Monday </a:t>
            </a:r>
            <a:r>
              <a:rPr lang="en-US" dirty="0" smtClean="0">
                <a:solidFill>
                  <a:srgbClr val="FF0000"/>
                </a:solidFill>
              </a:rPr>
              <a:t>9/2 </a:t>
            </a:r>
            <a:r>
              <a:rPr lang="en-US" dirty="0"/>
              <a:t>for </a:t>
            </a:r>
            <a:r>
              <a:rPr lang="en-US" dirty="0" smtClean="0"/>
              <a:t>holiday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41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070" y="204925"/>
            <a:ext cx="7498080" cy="1143000"/>
          </a:xfrm>
        </p:spPr>
        <p:txBody>
          <a:bodyPr/>
          <a:lstStyle/>
          <a:p>
            <a:r>
              <a:rPr lang="en-US" dirty="0" smtClean="0"/>
              <a:t>Digital Systems- A </a:t>
            </a:r>
            <a:r>
              <a:rPr lang="en-US" dirty="0"/>
              <a:t>B</a:t>
            </a:r>
            <a:r>
              <a:rPr lang="en-US" dirty="0" smtClean="0"/>
              <a:t>rief </a:t>
            </a:r>
            <a:r>
              <a:rPr lang="en-US" dirty="0"/>
              <a:t>H</a:t>
            </a:r>
            <a:r>
              <a:rPr lang="en-US" dirty="0" smtClean="0"/>
              <a:t>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074283"/>
            <a:ext cx="7498080" cy="5562600"/>
          </a:xfrm>
        </p:spPr>
        <p:txBody>
          <a:bodyPr/>
          <a:lstStyle/>
          <a:p>
            <a:r>
              <a:rPr lang="en-US" dirty="0" smtClean="0"/>
              <a:t> ~1960 discrete transistors (and other solid state devices) became reliable and vacuum tubes were replaced</a:t>
            </a:r>
          </a:p>
          <a:p>
            <a:pPr lvl="1"/>
            <a:r>
              <a:rPr lang="en-US" dirty="0" smtClean="0"/>
              <a:t>First systems consisted of solid state devices on a substrate interconnected with discrete wires</a:t>
            </a:r>
          </a:p>
          <a:p>
            <a:pPr marL="402336" lvl="1" indent="0">
              <a:buNone/>
            </a:pPr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032" name="Picture 8" descr="IME84 circuit boar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96" y="3276691"/>
            <a:ext cx="3694734" cy="296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08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434" y="314255"/>
            <a:ext cx="7498080" cy="1143000"/>
          </a:xfrm>
        </p:spPr>
        <p:txBody>
          <a:bodyPr/>
          <a:lstStyle/>
          <a:p>
            <a:r>
              <a:rPr lang="en-US" dirty="0" smtClean="0"/>
              <a:t>Digital Systems- A Brief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25" y="1258472"/>
            <a:ext cx="7498080" cy="5751928"/>
          </a:xfrm>
        </p:spPr>
        <p:txBody>
          <a:bodyPr/>
          <a:lstStyle/>
          <a:p>
            <a:r>
              <a:rPr lang="en-US" dirty="0" smtClean="0"/>
              <a:t>~1965 introduction of the integrated circuit</a:t>
            </a:r>
          </a:p>
          <a:p>
            <a:pPr lvl="1"/>
            <a:r>
              <a:rPr lang="en-US" dirty="0" smtClean="0"/>
              <a:t>Systems still consisted of interconnected discrete components</a:t>
            </a:r>
          </a:p>
          <a:p>
            <a:pPr lvl="2"/>
            <a:r>
              <a:rPr lang="en-US" dirty="0"/>
              <a:t>Not much functionality for the size</a:t>
            </a:r>
          </a:p>
          <a:p>
            <a:pPr lvl="2"/>
            <a:r>
              <a:rPr lang="en-US" dirty="0"/>
              <a:t>High potential for error in building</a:t>
            </a:r>
          </a:p>
          <a:p>
            <a:pPr lvl="2"/>
            <a:r>
              <a:rPr lang="en-US" dirty="0"/>
              <a:t>Could not be tested until built</a:t>
            </a:r>
          </a:p>
          <a:p>
            <a:pPr marL="402336" lvl="1" indent="0">
              <a:buNone/>
            </a:pPr>
            <a:endParaRPr lang="en-US" dirty="0"/>
          </a:p>
          <a:p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2050" name="Picture 2" descr="Canon Canola1 200 bo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244" y="2428219"/>
            <a:ext cx="35814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670" y="315467"/>
            <a:ext cx="7498080" cy="1143000"/>
          </a:xfrm>
        </p:spPr>
        <p:txBody>
          <a:bodyPr/>
          <a:lstStyle/>
          <a:p>
            <a:r>
              <a:rPr lang="en-US" dirty="0"/>
              <a:t>Digital Systems- </a:t>
            </a:r>
            <a:r>
              <a:rPr lang="en-US" dirty="0" smtClean="0"/>
              <a:t>A Brief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086" y="1212574"/>
            <a:ext cx="7498080" cy="5562600"/>
          </a:xfrm>
        </p:spPr>
        <p:txBody>
          <a:bodyPr>
            <a:normAutofit/>
          </a:bodyPr>
          <a:lstStyle/>
          <a:p>
            <a:r>
              <a:rPr lang="en-US" dirty="0" smtClean="0"/>
              <a:t>1971 – First microprocessor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Complete system still needed ROM, RAM, timers,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1"/>
            <a:r>
              <a:rPr lang="en-US" dirty="0" smtClean="0"/>
              <a:t>Built from discrete components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183" y="1212574"/>
            <a:ext cx="2958480" cy="10093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70" y="3001617"/>
            <a:ext cx="5269992" cy="356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0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670" y="315467"/>
            <a:ext cx="7498080" cy="1143000"/>
          </a:xfrm>
        </p:spPr>
        <p:txBody>
          <a:bodyPr/>
          <a:lstStyle/>
          <a:p>
            <a:r>
              <a:rPr lang="en-US" dirty="0"/>
              <a:t>Digital Systems- </a:t>
            </a:r>
            <a:r>
              <a:rPr lang="en-US" dirty="0" smtClean="0"/>
              <a:t>A Brief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025" y="1600200"/>
            <a:ext cx="7498080" cy="5562600"/>
          </a:xfrm>
        </p:spPr>
        <p:txBody>
          <a:bodyPr>
            <a:normAutofit/>
          </a:bodyPr>
          <a:lstStyle/>
          <a:p>
            <a:r>
              <a:rPr lang="en-US" dirty="0" smtClean="0"/>
              <a:t>1974 – First Microcontroller</a:t>
            </a:r>
          </a:p>
          <a:p>
            <a:pPr lvl="1"/>
            <a:r>
              <a:rPr lang="en-US" dirty="0" smtClean="0"/>
              <a:t>Also known as </a:t>
            </a:r>
            <a:r>
              <a:rPr lang="en-US" u="sng" dirty="0" smtClean="0"/>
              <a:t>system-on-a-chip</a:t>
            </a:r>
          </a:p>
          <a:p>
            <a:pPr lvl="1"/>
            <a:r>
              <a:rPr lang="en-US" dirty="0" smtClean="0"/>
              <a:t>Has CPU, ROM, RAM, etc. all on same chip</a:t>
            </a:r>
          </a:p>
          <a:p>
            <a:pPr marL="1145286" lvl="2" indent="-342900"/>
            <a:r>
              <a:rPr lang="en-US" dirty="0" smtClean="0"/>
              <a:t>5,000 transistors</a:t>
            </a:r>
          </a:p>
          <a:p>
            <a:pPr marL="1145286" lvl="2" indent="-342900"/>
            <a:r>
              <a:rPr lang="en-US" dirty="0" smtClean="0"/>
              <a:t>3000 </a:t>
            </a:r>
            <a:r>
              <a:rPr lang="en-US" b="1" i="1" dirty="0" smtClean="0"/>
              <a:t>bits</a:t>
            </a:r>
            <a:r>
              <a:rPr lang="en-US" dirty="0" smtClean="0"/>
              <a:t> of program memory</a:t>
            </a:r>
          </a:p>
          <a:p>
            <a:pPr marL="1145286" lvl="2" indent="-342900"/>
            <a:r>
              <a:rPr lang="en-US" dirty="0" smtClean="0"/>
              <a:t>128 </a:t>
            </a:r>
            <a:r>
              <a:rPr lang="en-US" b="1" i="1" dirty="0" smtClean="0"/>
              <a:t>bits</a:t>
            </a:r>
            <a:r>
              <a:rPr lang="en-US" dirty="0" smtClean="0"/>
              <a:t> of access memory</a:t>
            </a:r>
            <a:endParaRPr lang="en-US" dirty="0"/>
          </a:p>
        </p:txBody>
      </p:sp>
      <p:pic>
        <p:nvPicPr>
          <p:cNvPr id="3074" name="Picture 2" descr="http://www.circuitstoday.com/wp-content/uploads/2013/10/TMS-1802-NC-Microcontroller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6" t="24171" r="13127" b="10435"/>
          <a:stretch/>
        </p:blipFill>
        <p:spPr bwMode="auto">
          <a:xfrm>
            <a:off x="5009322" y="3935896"/>
            <a:ext cx="3632225" cy="224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13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670" y="315467"/>
            <a:ext cx="7498080" cy="1143000"/>
          </a:xfrm>
        </p:spPr>
        <p:txBody>
          <a:bodyPr/>
          <a:lstStyle/>
          <a:p>
            <a:r>
              <a:rPr lang="en-US" dirty="0"/>
              <a:t>Digital Systems- </a:t>
            </a:r>
            <a:r>
              <a:rPr lang="en-US" dirty="0" smtClean="0"/>
              <a:t>A Brief History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6835" y="1324288"/>
            <a:ext cx="7732936" cy="4952999"/>
          </a:xfrm>
        </p:spPr>
        <p:txBody>
          <a:bodyPr/>
          <a:lstStyle/>
          <a:p>
            <a:r>
              <a:rPr lang="en-US" dirty="0" smtClean="0"/>
              <a:t>1974 – 2018</a:t>
            </a:r>
          </a:p>
          <a:p>
            <a:pPr lvl="1"/>
            <a:r>
              <a:rPr lang="en-US" dirty="0" smtClean="0"/>
              <a:t>Integrated Circuit technology advanced at a breathtaking pace</a:t>
            </a:r>
          </a:p>
          <a:p>
            <a:pPr lvl="1"/>
            <a:r>
              <a:rPr lang="en-US" dirty="0" smtClean="0"/>
              <a:t>System on a Chip (SOC)</a:t>
            </a:r>
            <a:r>
              <a:rPr lang="en-US" dirty="0"/>
              <a:t> </a:t>
            </a:r>
            <a:r>
              <a:rPr lang="en-US" dirty="0" smtClean="0"/>
              <a:t>increase in complexity</a:t>
            </a:r>
          </a:p>
          <a:p>
            <a:pPr lvl="2"/>
            <a:r>
              <a:rPr lang="en-US" dirty="0" smtClean="0"/>
              <a:t>Advanced technology allows for large systems to be placed on a single full-custom integrated circuit</a:t>
            </a:r>
          </a:p>
          <a:p>
            <a:pPr lvl="2"/>
            <a:r>
              <a:rPr lang="en-US" sz="2400" dirty="0" smtClean="0"/>
              <a:t>Negatives</a:t>
            </a:r>
            <a:endParaRPr lang="en-US" sz="2400" dirty="0"/>
          </a:p>
          <a:p>
            <a:pPr lvl="3"/>
            <a:r>
              <a:rPr lang="en-US" dirty="0"/>
              <a:t>High </a:t>
            </a:r>
            <a:r>
              <a:rPr lang="en-US" dirty="0" smtClean="0"/>
              <a:t>NRE (up front costs)</a:t>
            </a:r>
            <a:endParaRPr lang="en-US" dirty="0"/>
          </a:p>
          <a:p>
            <a:pPr lvl="3"/>
            <a:r>
              <a:rPr lang="en-US" dirty="0"/>
              <a:t>Long lead times</a:t>
            </a:r>
          </a:p>
          <a:p>
            <a:pPr lvl="3"/>
            <a:r>
              <a:rPr lang="en-US" dirty="0" smtClean="0"/>
              <a:t>Design cannot be modified</a:t>
            </a:r>
            <a:endParaRPr lang="en-US" dirty="0"/>
          </a:p>
          <a:p>
            <a:pPr lvl="2"/>
            <a:r>
              <a:rPr lang="en-US" sz="2400" dirty="0"/>
              <a:t>Positives</a:t>
            </a:r>
          </a:p>
          <a:p>
            <a:pPr lvl="3"/>
            <a:r>
              <a:rPr lang="en-US" dirty="0"/>
              <a:t>Optimized for size</a:t>
            </a:r>
          </a:p>
          <a:p>
            <a:pPr lvl="3"/>
            <a:r>
              <a:rPr lang="en-US" dirty="0"/>
              <a:t>Low power</a:t>
            </a:r>
          </a:p>
          <a:p>
            <a:pPr lvl="3"/>
            <a:r>
              <a:rPr lang="en-US" dirty="0"/>
              <a:t>Reduced cost for high volume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6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947" y="357809"/>
            <a:ext cx="7498080" cy="1143000"/>
          </a:xfrm>
        </p:spPr>
        <p:txBody>
          <a:bodyPr/>
          <a:lstStyle/>
          <a:p>
            <a:r>
              <a:rPr lang="en-US" dirty="0" smtClean="0"/>
              <a:t>Moore’s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686" y="1347504"/>
            <a:ext cx="7498080" cy="527858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Since the invention of the integrated circuit in 1958, the number of transistors that can be placed inexpensively on an integrated circuit has increased exponentially, doubling approximately every two years.</a:t>
            </a:r>
          </a:p>
          <a:p>
            <a:endParaRPr lang="en-US" sz="2400" dirty="0" smtClean="0">
              <a:solidFill>
                <a:schemeClr val="tx2"/>
              </a:solidFill>
            </a:endParaRPr>
          </a:p>
          <a:p>
            <a:pPr lvl="1"/>
            <a:r>
              <a:rPr lang="en-US" sz="1600" dirty="0" smtClean="0">
                <a:solidFill>
                  <a:schemeClr val="tx2"/>
                </a:solidFill>
              </a:rPr>
              <a:t>Think about it……</a:t>
            </a:r>
          </a:p>
          <a:p>
            <a:pPr lvl="1"/>
            <a:endParaRPr lang="en-US" sz="1600" dirty="0">
              <a:solidFill>
                <a:schemeClr val="tx2"/>
              </a:solidFill>
            </a:endParaRPr>
          </a:p>
          <a:p>
            <a:pPr lvl="1"/>
            <a:endParaRPr lang="en-US" sz="1600" dirty="0" smtClean="0">
              <a:solidFill>
                <a:schemeClr val="tx2"/>
              </a:solidFill>
            </a:endParaRPr>
          </a:p>
          <a:p>
            <a:pPr lvl="1"/>
            <a:endParaRPr lang="en-US" sz="1600" dirty="0">
              <a:solidFill>
                <a:schemeClr val="tx2"/>
              </a:solidFill>
            </a:endParaRPr>
          </a:p>
          <a:p>
            <a:pPr lvl="1"/>
            <a:endParaRPr lang="en-US" sz="1600" dirty="0" smtClean="0">
              <a:solidFill>
                <a:schemeClr val="tx2"/>
              </a:solidFill>
            </a:endParaRPr>
          </a:p>
          <a:p>
            <a:pPr lvl="1"/>
            <a:endParaRPr lang="en-US" sz="1600" dirty="0">
              <a:solidFill>
                <a:schemeClr val="tx2"/>
              </a:solidFill>
            </a:endParaRPr>
          </a:p>
          <a:p>
            <a:pPr lvl="1"/>
            <a:endParaRPr lang="en-US" sz="1600" dirty="0" smtClean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smtClean="0">
                <a:solidFill>
                  <a:schemeClr val="tx2"/>
                </a:solidFill>
              </a:rPr>
              <a:t>                         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smtClean="0">
                <a:solidFill>
                  <a:schemeClr val="tx2"/>
                </a:solidFill>
              </a:rPr>
              <a:t>                                                                                                   ….mind blown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4098" name="Picture 2" descr="Image result for mind blown Bill ny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130" y="3850042"/>
            <a:ext cx="3809061" cy="190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1143000"/>
          </a:xfrm>
        </p:spPr>
        <p:txBody>
          <a:bodyPr/>
          <a:lstStyle/>
          <a:p>
            <a:r>
              <a:rPr lang="en-US" dirty="0" smtClean="0"/>
              <a:t>Moore’s Law</a:t>
            </a:r>
            <a:endParaRPr lang="en-US" dirty="0"/>
          </a:p>
        </p:txBody>
      </p:sp>
      <p:pic>
        <p:nvPicPr>
          <p:cNvPr id="6146" name="Picture 2" descr="https://upload.wikimedia.org/wikipedia/commons/thumb/9/9d/Moore%27s_Law_Transistor_Count_1971-2016.png/1920px-Moore%27s_Law_Transistor_Count_1971-2016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08"/>
          <a:stretch/>
        </p:blipFill>
        <p:spPr bwMode="auto">
          <a:xfrm>
            <a:off x="493188" y="934278"/>
            <a:ext cx="8352637" cy="534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296" y="457202"/>
            <a:ext cx="8229600" cy="762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Where are we now?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139" y="1219201"/>
            <a:ext cx="8229600" cy="4952999"/>
          </a:xfrm>
        </p:spPr>
        <p:txBody>
          <a:bodyPr/>
          <a:lstStyle/>
          <a:p>
            <a:r>
              <a:rPr lang="en-US" dirty="0" smtClean="0"/>
              <a:t>1985 first Field Programmable Gate Array (FPGA) was developed</a:t>
            </a:r>
          </a:p>
          <a:p>
            <a:r>
              <a:rPr lang="en-US" dirty="0" smtClean="0"/>
              <a:t>System on Programmable Chip (SOPC) was born</a:t>
            </a:r>
          </a:p>
          <a:p>
            <a:r>
              <a:rPr lang="en-US" dirty="0" smtClean="0"/>
              <a:t>SOPC Compared to custom IC</a:t>
            </a:r>
          </a:p>
          <a:p>
            <a:pPr lvl="2"/>
            <a:r>
              <a:rPr lang="en-US" dirty="0" smtClean="0"/>
              <a:t>Short lead times (    )</a:t>
            </a:r>
          </a:p>
          <a:p>
            <a:pPr lvl="2"/>
            <a:r>
              <a:rPr lang="en-US" dirty="0" smtClean="0"/>
              <a:t>Lower </a:t>
            </a:r>
            <a:r>
              <a:rPr lang="en-US" dirty="0"/>
              <a:t>NRE (    )</a:t>
            </a:r>
            <a:endParaRPr lang="en-US" dirty="0" smtClean="0"/>
          </a:p>
          <a:p>
            <a:pPr lvl="2"/>
            <a:r>
              <a:rPr lang="en-US" dirty="0" smtClean="0"/>
              <a:t>Design changes are easy (reprogram</a:t>
            </a:r>
            <a:r>
              <a:rPr lang="en-US" dirty="0"/>
              <a:t>) (    )</a:t>
            </a:r>
            <a:endParaRPr lang="en-US" dirty="0" smtClean="0"/>
          </a:p>
          <a:p>
            <a:pPr lvl="2"/>
            <a:r>
              <a:rPr lang="en-US" dirty="0" smtClean="0"/>
              <a:t>Higher power (   ) </a:t>
            </a:r>
          </a:p>
          <a:p>
            <a:pPr lvl="2"/>
            <a:r>
              <a:rPr lang="en-US" dirty="0" smtClean="0"/>
              <a:t>Cost is constant despite volume (   </a:t>
            </a:r>
            <a:r>
              <a:rPr lang="en-US" sz="1200" dirty="0" smtClean="0"/>
              <a:t>for small volumes,     for large volumes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Have to choose from off-the shelf parts (   )</a:t>
            </a:r>
          </a:p>
          <a:p>
            <a:pPr lvl="3"/>
            <a:r>
              <a:rPr lang="en-US" dirty="0" smtClean="0"/>
              <a:t>Not optimized</a:t>
            </a:r>
            <a:endParaRPr lang="en-US" dirty="0"/>
          </a:p>
        </p:txBody>
      </p:sp>
      <p:sp>
        <p:nvSpPr>
          <p:cNvPr id="4" name="Plus 3"/>
          <p:cNvSpPr/>
          <p:nvPr/>
        </p:nvSpPr>
        <p:spPr>
          <a:xfrm>
            <a:off x="3727174" y="3695701"/>
            <a:ext cx="178905" cy="168965"/>
          </a:xfrm>
          <a:prstGeom prst="mathPlus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lus 4"/>
          <p:cNvSpPr/>
          <p:nvPr/>
        </p:nvSpPr>
        <p:spPr>
          <a:xfrm>
            <a:off x="3193774" y="4066762"/>
            <a:ext cx="178905" cy="168965"/>
          </a:xfrm>
          <a:prstGeom prst="mathPlus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lus 5"/>
          <p:cNvSpPr/>
          <p:nvPr/>
        </p:nvSpPr>
        <p:spPr>
          <a:xfrm>
            <a:off x="6165574" y="4434509"/>
            <a:ext cx="178905" cy="168965"/>
          </a:xfrm>
          <a:prstGeom prst="mathPlus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lus 6"/>
          <p:cNvSpPr/>
          <p:nvPr/>
        </p:nvSpPr>
        <p:spPr>
          <a:xfrm>
            <a:off x="5430079" y="5189883"/>
            <a:ext cx="178905" cy="168965"/>
          </a:xfrm>
          <a:prstGeom prst="mathPlus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inus 7"/>
          <p:cNvSpPr/>
          <p:nvPr/>
        </p:nvSpPr>
        <p:spPr>
          <a:xfrm>
            <a:off x="3372679" y="4810538"/>
            <a:ext cx="165651" cy="157371"/>
          </a:xfrm>
          <a:prstGeom prst="mathMinus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inus 8"/>
          <p:cNvSpPr/>
          <p:nvPr/>
        </p:nvSpPr>
        <p:spPr>
          <a:xfrm>
            <a:off x="6255026" y="5559286"/>
            <a:ext cx="165651" cy="157371"/>
          </a:xfrm>
          <a:prstGeom prst="mathMinus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inus 9"/>
          <p:cNvSpPr/>
          <p:nvPr/>
        </p:nvSpPr>
        <p:spPr>
          <a:xfrm>
            <a:off x="6904385" y="5201477"/>
            <a:ext cx="165651" cy="157371"/>
          </a:xfrm>
          <a:prstGeom prst="mathMinus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6721" y="108646"/>
            <a:ext cx="4138135" cy="1143000"/>
          </a:xfrm>
        </p:spPr>
        <p:txBody>
          <a:bodyPr/>
          <a:lstStyle/>
          <a:p>
            <a:r>
              <a:rPr lang="en-US" dirty="0" smtClean="0"/>
              <a:t>Tradeoffs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397" y="956373"/>
            <a:ext cx="7498080" cy="597130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Speed,</a:t>
            </a:r>
          </a:p>
          <a:p>
            <a:pPr>
              <a:buNone/>
            </a:pPr>
            <a:r>
              <a:rPr lang="en-US" sz="2000" dirty="0" smtClean="0"/>
              <a:t>Density,</a:t>
            </a:r>
          </a:p>
          <a:p>
            <a:pPr>
              <a:buNone/>
            </a:pPr>
            <a:r>
              <a:rPr lang="en-US" sz="2000" dirty="0" smtClean="0"/>
              <a:t>Complexity,</a:t>
            </a:r>
          </a:p>
          <a:p>
            <a:pPr>
              <a:buNone/>
            </a:pPr>
            <a:r>
              <a:rPr lang="en-US" sz="2000" dirty="0" smtClean="0"/>
              <a:t>Market</a:t>
            </a:r>
          </a:p>
          <a:p>
            <a:pPr>
              <a:buNone/>
            </a:pPr>
            <a:r>
              <a:rPr lang="en-US" sz="2000" dirty="0" smtClean="0"/>
              <a:t>Volume </a:t>
            </a:r>
          </a:p>
          <a:p>
            <a:pPr>
              <a:buNone/>
            </a:pPr>
            <a:r>
              <a:rPr lang="en-US" sz="2000" dirty="0" smtClean="0"/>
              <a:t>Needed </a:t>
            </a:r>
          </a:p>
          <a:p>
            <a:pPr>
              <a:buNone/>
            </a:pPr>
            <a:r>
              <a:rPr lang="en-US" sz="2000" dirty="0" smtClean="0"/>
              <a:t>For</a:t>
            </a:r>
          </a:p>
          <a:p>
            <a:pPr>
              <a:buNone/>
            </a:pPr>
            <a:r>
              <a:rPr lang="en-US" sz="2000" dirty="0" smtClean="0"/>
              <a:t>Product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 lvl="4">
              <a:buNone/>
            </a:pPr>
            <a:r>
              <a:rPr lang="en-US" dirty="0" smtClean="0"/>
              <a:t>Engineering Cost, Time to Develop Product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690857" y="956373"/>
            <a:ext cx="5902034" cy="4559733"/>
            <a:chOff x="2466110" y="1191491"/>
            <a:chExt cx="5902034" cy="4559733"/>
          </a:xfrm>
        </p:grpSpPr>
        <p:cxnSp>
          <p:nvCxnSpPr>
            <p:cNvPr id="7" name="Straight Arrow Connector 6"/>
            <p:cNvCxnSpPr/>
            <p:nvPr/>
          </p:nvCxnSpPr>
          <p:spPr>
            <a:xfrm rot="16200000" flipV="1">
              <a:off x="207819" y="3449782"/>
              <a:ext cx="4544291" cy="277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2493818" y="5749636"/>
              <a:ext cx="530629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798618" y="4419601"/>
              <a:ext cx="2189018" cy="117763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837709" y="3685311"/>
              <a:ext cx="2189018" cy="1177636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4918364" y="3006438"/>
              <a:ext cx="2189018" cy="117763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6179126" y="2299856"/>
              <a:ext cx="2189018" cy="117763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97782" y="2521527"/>
              <a:ext cx="12618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Full custom</a:t>
              </a:r>
            </a:p>
            <a:p>
              <a:r>
                <a:rPr lang="en-US" dirty="0" smtClean="0"/>
                <a:t>VLSI design</a:t>
              </a:r>
              <a:endParaRPr 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30982" y="3255818"/>
              <a:ext cx="753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ASICs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516582" y="4059382"/>
              <a:ext cx="8242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FPGAs</a:t>
              </a:r>
              <a:endParaRPr 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463637" y="4835237"/>
              <a:ext cx="67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PLDs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on Programmable Chip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443" y="1219201"/>
            <a:ext cx="8229600" cy="4952999"/>
          </a:xfrm>
        </p:spPr>
        <p:txBody>
          <a:bodyPr>
            <a:normAutofit/>
          </a:bodyPr>
          <a:lstStyle/>
          <a:p>
            <a:r>
              <a:rPr lang="en-US" dirty="0" smtClean="0"/>
              <a:t>Typically includes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IP (intellectual property) processor core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Custom hardware</a:t>
            </a:r>
          </a:p>
          <a:p>
            <a:pPr lvl="2">
              <a:lnSpc>
                <a:spcPct val="90000"/>
              </a:lnSpc>
            </a:pPr>
            <a:r>
              <a:rPr lang="en-US" sz="1600" dirty="0" smtClean="0"/>
              <a:t>Timers</a:t>
            </a:r>
          </a:p>
          <a:p>
            <a:pPr lvl="2">
              <a:lnSpc>
                <a:spcPct val="90000"/>
              </a:lnSpc>
            </a:pPr>
            <a:r>
              <a:rPr lang="en-US" sz="1600" dirty="0" smtClean="0"/>
              <a:t> Serial communication interfaces: UART, SPI</a:t>
            </a:r>
          </a:p>
          <a:p>
            <a:pPr lvl="2">
              <a:lnSpc>
                <a:spcPct val="90000"/>
              </a:lnSpc>
            </a:pPr>
            <a:r>
              <a:rPr lang="en-US" sz="1600" dirty="0" smtClean="0"/>
              <a:t> General purpose I/O</a:t>
            </a:r>
          </a:p>
          <a:p>
            <a:pPr lvl="2">
              <a:lnSpc>
                <a:spcPct val="90000"/>
              </a:lnSpc>
            </a:pPr>
            <a:r>
              <a:rPr lang="en-US" sz="1600" dirty="0" smtClean="0"/>
              <a:t> Digital signal processing (DSP) functions</a:t>
            </a:r>
          </a:p>
          <a:p>
            <a:pPr lvl="2">
              <a:lnSpc>
                <a:spcPct val="90000"/>
              </a:lnSpc>
            </a:pPr>
            <a:r>
              <a:rPr lang="en-US" sz="1600" dirty="0" smtClean="0"/>
              <a:t> Communications peripherals</a:t>
            </a:r>
          </a:p>
          <a:p>
            <a:pPr lvl="2">
              <a:lnSpc>
                <a:spcPct val="90000"/>
              </a:lnSpc>
            </a:pPr>
            <a:r>
              <a:rPr lang="en-US" sz="1600" dirty="0" smtClean="0"/>
              <a:t> Interfaces to off-chip devices</a:t>
            </a:r>
          </a:p>
          <a:p>
            <a:pPr lvl="3">
              <a:lnSpc>
                <a:spcPct val="90000"/>
              </a:lnSpc>
            </a:pPr>
            <a:r>
              <a:rPr lang="en-US" sz="1600" dirty="0" smtClean="0"/>
              <a:t> Memory controllers</a:t>
            </a:r>
          </a:p>
          <a:p>
            <a:pPr lvl="3">
              <a:lnSpc>
                <a:spcPct val="90000"/>
              </a:lnSpc>
            </a:pPr>
            <a:r>
              <a:rPr lang="en-US" sz="1600" dirty="0" smtClean="0"/>
              <a:t> Buses and bridges</a:t>
            </a:r>
          </a:p>
          <a:p>
            <a:pPr lvl="1"/>
            <a:r>
              <a:rPr lang="en-US" dirty="0" smtClean="0"/>
              <a:t>Application-specific hardware components</a:t>
            </a:r>
          </a:p>
          <a:p>
            <a:pPr lvl="2"/>
            <a:r>
              <a:rPr lang="en-US" dirty="0" smtClean="0"/>
              <a:t>Developed by the user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 Cores in SOPC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4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IP Cores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What is Intellectual property (IP)</a:t>
            </a:r>
          </a:p>
          <a:p>
            <a:pPr lvl="1" eaLnBrk="1" hangingPunct="1"/>
            <a:r>
              <a:rPr lang="en-US" dirty="0" smtClean="0"/>
              <a:t>Intellectual property refers to creations of the mind</a:t>
            </a:r>
          </a:p>
          <a:p>
            <a:pPr lvl="2" eaLnBrk="1" hangingPunct="1"/>
            <a:r>
              <a:rPr lang="en-US" dirty="0" smtClean="0"/>
              <a:t>Inventions, literary and artistic works, and symbols, names, images, and designs</a:t>
            </a:r>
          </a:p>
          <a:p>
            <a:pPr eaLnBrk="1" hangingPunct="1"/>
            <a:r>
              <a:rPr lang="en-US" dirty="0" smtClean="0"/>
              <a:t>What are IP Cores?</a:t>
            </a:r>
          </a:p>
          <a:p>
            <a:pPr lvl="1" eaLnBrk="1" hangingPunct="1"/>
            <a:r>
              <a:rPr lang="en-US" dirty="0" smtClean="0"/>
              <a:t>Ready made function that you can instantiate into your design</a:t>
            </a:r>
          </a:p>
          <a:p>
            <a:pPr lvl="1" eaLnBrk="1" hangingPunct="1"/>
            <a:r>
              <a:rPr lang="en-US" dirty="0" smtClean="0"/>
              <a:t>Cores classified as either hard or soft</a:t>
            </a:r>
          </a:p>
          <a:p>
            <a:pPr lvl="2" eaLnBrk="1" hangingPunct="1"/>
            <a:r>
              <a:rPr lang="en-US" dirty="0" smtClean="0"/>
              <a:t>Hard Cores</a:t>
            </a:r>
          </a:p>
          <a:p>
            <a:pPr lvl="3" eaLnBrk="1" hangingPunct="1"/>
            <a:r>
              <a:rPr lang="en-US" dirty="0" smtClean="0">
                <a:sym typeface="Wingdings" pitchFamily="2" charset="2"/>
              </a:rPr>
              <a:t>Design is dedicate circuitry designed in silicon</a:t>
            </a:r>
          </a:p>
          <a:p>
            <a:pPr lvl="2" eaLnBrk="1" hangingPunct="1"/>
            <a:r>
              <a:rPr lang="en-US" dirty="0" smtClean="0">
                <a:sym typeface="Wingdings" pitchFamily="2" charset="2"/>
              </a:rPr>
              <a:t>Soft Cores</a:t>
            </a:r>
          </a:p>
          <a:p>
            <a:pPr lvl="3" eaLnBrk="1" hangingPunct="1"/>
            <a:r>
              <a:rPr lang="en-US" dirty="0" smtClean="0">
                <a:sym typeface="Wingdings" pitchFamily="2" charset="2"/>
              </a:rPr>
              <a:t>Designed using LE and general FPGA logic</a:t>
            </a:r>
          </a:p>
          <a:p>
            <a:pPr lvl="3" eaLnBrk="1" hangingPunct="1"/>
            <a:r>
              <a:rPr lang="en-US" dirty="0" smtClean="0">
                <a:sym typeface="Wingdings" pitchFamily="2" charset="2"/>
              </a:rPr>
              <a:t>Does not physically exist in silicon</a:t>
            </a:r>
          </a:p>
        </p:txBody>
      </p:sp>
    </p:spTree>
    <p:extLst>
      <p:ext uri="{BB962C8B-B14F-4D97-AF65-F5344CB8AC3E}">
        <p14:creationId xmlns:p14="http://schemas.microsoft.com/office/powerpoint/2010/main" val="17304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IP Core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What are IP Cores?</a:t>
            </a:r>
          </a:p>
          <a:p>
            <a:pPr lvl="1" eaLnBrk="1" hangingPunct="1"/>
            <a:r>
              <a:rPr lang="en-US" dirty="0" smtClean="0"/>
              <a:t>Cores can range in complexity</a:t>
            </a:r>
          </a:p>
          <a:p>
            <a:pPr lvl="2" eaLnBrk="1" hangingPunct="1"/>
            <a:r>
              <a:rPr lang="en-US" dirty="0" smtClean="0"/>
              <a:t>Simple arithmetic operators </a:t>
            </a:r>
          </a:p>
          <a:p>
            <a:pPr lvl="3" eaLnBrk="1" hangingPunct="1"/>
            <a:r>
              <a:rPr lang="en-US" dirty="0" smtClean="0"/>
              <a:t>Ex: adders, accumulators, and multipliers</a:t>
            </a:r>
          </a:p>
          <a:p>
            <a:pPr lvl="2" eaLnBrk="1" hangingPunct="1"/>
            <a:r>
              <a:rPr lang="en-US" dirty="0" smtClean="0"/>
              <a:t>System-level building blocks </a:t>
            </a:r>
          </a:p>
          <a:p>
            <a:pPr lvl="3" eaLnBrk="1" hangingPunct="1"/>
            <a:r>
              <a:rPr lang="en-US" dirty="0" smtClean="0"/>
              <a:t>Ex: filters, transforms, and memories</a:t>
            </a:r>
          </a:p>
          <a:p>
            <a:pPr lvl="2" eaLnBrk="1" hangingPunct="1"/>
            <a:r>
              <a:rPr lang="en-US" dirty="0" smtClean="0"/>
              <a:t>Specialized functions </a:t>
            </a:r>
          </a:p>
          <a:p>
            <a:pPr lvl="3" eaLnBrk="1" hangingPunct="1"/>
            <a:r>
              <a:rPr lang="en-US" dirty="0" smtClean="0"/>
              <a:t>Ex: bus interfaces, controllers, and microprocessors</a:t>
            </a:r>
          </a:p>
          <a:p>
            <a:pPr lvl="3" eaLnBrk="1" hangingPunct="1"/>
            <a:endParaRPr lang="en-US" dirty="0"/>
          </a:p>
          <a:p>
            <a:pPr lvl="3" eaLnBrk="1" hangingPunct="1"/>
            <a:endParaRPr lang="en-US" dirty="0" smtClean="0"/>
          </a:p>
          <a:p>
            <a:pPr lvl="3" eaLnBrk="1" hangingPunct="1"/>
            <a:endParaRPr lang="en-US" dirty="0"/>
          </a:p>
          <a:p>
            <a:r>
              <a:rPr lang="en-US" dirty="0" smtClean="0"/>
              <a:t>What are some advantages and disadvantages to using </a:t>
            </a:r>
            <a:r>
              <a:rPr lang="en-US" smtClean="0"/>
              <a:t>IP cores?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9967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IP Cores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Benefits of using a Core</a:t>
            </a:r>
          </a:p>
          <a:p>
            <a:pPr lvl="1" eaLnBrk="1" hangingPunct="1"/>
            <a:r>
              <a:rPr lang="en-US" dirty="0" smtClean="0"/>
              <a:t>Increase design performance </a:t>
            </a:r>
          </a:p>
          <a:p>
            <a:pPr lvl="2" eaLnBrk="1" hangingPunct="1"/>
            <a:r>
              <a:rPr lang="en-US" dirty="0" smtClean="0"/>
              <a:t>Highly optimized for given architecture </a:t>
            </a:r>
          </a:p>
          <a:p>
            <a:pPr lvl="1" eaLnBrk="1" hangingPunct="1"/>
            <a:r>
              <a:rPr lang="en-US" dirty="0" smtClean="0"/>
              <a:t>Saves time designing and debugging</a:t>
            </a:r>
          </a:p>
          <a:p>
            <a:pPr lvl="2" eaLnBrk="1" hangingPunct="1"/>
            <a:r>
              <a:rPr lang="en-US" dirty="0" smtClean="0"/>
              <a:t>Cores are created by expert designers</a:t>
            </a:r>
          </a:p>
          <a:p>
            <a:pPr lvl="2" eaLnBrk="1" hangingPunct="1"/>
            <a:r>
              <a:rPr lang="en-US" dirty="0" smtClean="0"/>
              <a:t>Improves time to market</a:t>
            </a:r>
          </a:p>
          <a:p>
            <a:pPr lvl="2" eaLnBrk="1" hangingPunct="1"/>
            <a:r>
              <a:rPr lang="en-US" dirty="0" smtClean="0"/>
              <a:t>Guaranteed functionality</a:t>
            </a:r>
          </a:p>
          <a:p>
            <a:pPr lvl="1" eaLnBrk="1" hangingPunct="1"/>
            <a:r>
              <a:rPr lang="en-US" dirty="0" smtClean="0"/>
              <a:t>Spend time on your design where you add value</a:t>
            </a:r>
          </a:p>
          <a:p>
            <a:pPr lvl="2" eaLnBrk="1" hangingPunct="1"/>
            <a:r>
              <a:rPr lang="en-US" dirty="0" smtClean="0"/>
              <a:t>Less time spent on commodity design sections</a:t>
            </a:r>
          </a:p>
          <a:p>
            <a:pPr eaLnBrk="1" hangingPunct="1"/>
            <a:r>
              <a:rPr lang="en-US" dirty="0" smtClean="0"/>
              <a:t>Disadvantages of using an IP Core</a:t>
            </a:r>
          </a:p>
          <a:p>
            <a:pPr lvl="1" eaLnBrk="1" hangingPunct="1"/>
            <a:r>
              <a:rPr lang="en-US" dirty="0" smtClean="0"/>
              <a:t>Locks design into an FPGA architecture</a:t>
            </a:r>
          </a:p>
          <a:p>
            <a:pPr lvl="2" eaLnBrk="1" hangingPunct="1"/>
            <a:r>
              <a:rPr lang="en-US" dirty="0" smtClean="0"/>
              <a:t>Limits your migration potential to other devices</a:t>
            </a:r>
          </a:p>
          <a:p>
            <a:pPr lvl="3" eaLnBrk="1" hangingPunct="1"/>
            <a:r>
              <a:rPr lang="en-US" dirty="0" smtClean="0"/>
              <a:t>Ex: Altera </a:t>
            </a:r>
            <a:r>
              <a:rPr lang="en-US" dirty="0" smtClean="0">
                <a:sym typeface="Wingdings" pitchFamily="2" charset="2"/>
              </a:rPr>
              <a:t> Xilinx ….. Intel OR AMD?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16407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Processor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321904"/>
            <a:ext cx="8229600" cy="467791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What is a Soft Processor?</a:t>
            </a:r>
          </a:p>
          <a:p>
            <a:pPr lvl="1"/>
            <a:r>
              <a:rPr lang="en-US" dirty="0" smtClean="0"/>
              <a:t>A microprocessor fully described in software, usually in an HDL, which can be synthesized in programmable hardware, such as FPGAs</a:t>
            </a:r>
          </a:p>
          <a:p>
            <a:pPr lvl="1"/>
            <a:r>
              <a:rPr lang="en-US" dirty="0" smtClean="0"/>
              <a:t>Can implement many parallel processors on one FPGA</a:t>
            </a:r>
          </a:p>
          <a:p>
            <a:pPr lvl="1"/>
            <a:r>
              <a:rPr lang="en-US" dirty="0" smtClean="0"/>
              <a:t>Allow designer to define memory, ALU and peripheral functionality</a:t>
            </a:r>
          </a:p>
          <a:p>
            <a:pPr lvl="2"/>
            <a:r>
              <a:rPr lang="en-US" dirty="0" smtClean="0"/>
              <a:t>Resources not used to implement processor can be used for other functionality</a:t>
            </a:r>
          </a:p>
          <a:p>
            <a:r>
              <a:rPr lang="en-US" dirty="0" smtClean="0"/>
              <a:t>What is a Hard Processor</a:t>
            </a:r>
          </a:p>
          <a:p>
            <a:pPr lvl="1"/>
            <a:r>
              <a:rPr lang="en-US" dirty="0" smtClean="0"/>
              <a:t>Processor implemented in silicon</a:t>
            </a:r>
          </a:p>
          <a:p>
            <a:pPr lvl="2"/>
            <a:r>
              <a:rPr lang="en-US" dirty="0" smtClean="0"/>
              <a:t>Processor is actually designed into the FPGA</a:t>
            </a:r>
          </a:p>
          <a:p>
            <a:pPr lvl="3"/>
            <a:r>
              <a:rPr lang="en-US" dirty="0" smtClean="0"/>
              <a:t>Hybrid approach between ASIC and FPGA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Hard Processor cores are less flexible but have higher performance</a:t>
            </a:r>
          </a:p>
        </p:txBody>
      </p:sp>
    </p:spTree>
    <p:extLst>
      <p:ext uri="{BB962C8B-B14F-4D97-AF65-F5344CB8AC3E}">
        <p14:creationId xmlns:p14="http://schemas.microsoft.com/office/powerpoint/2010/main" val="417945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Processor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321904"/>
            <a:ext cx="8229600" cy="4677912"/>
          </a:xfrm>
        </p:spPr>
        <p:txBody>
          <a:bodyPr>
            <a:normAutofit/>
          </a:bodyPr>
          <a:lstStyle/>
          <a:p>
            <a:r>
              <a:rPr lang="en-US" dirty="0" smtClean="0"/>
              <a:t>What is a Soft Processor?</a:t>
            </a:r>
          </a:p>
          <a:p>
            <a:pPr lvl="1"/>
            <a:r>
              <a:rPr lang="en-US" dirty="0" smtClean="0"/>
              <a:t>A microprocessor fully described in software, usually in an HDL, which can be synthesized in programmable hardware, such as FPGAs</a:t>
            </a:r>
          </a:p>
          <a:p>
            <a:pPr lvl="1"/>
            <a:r>
              <a:rPr lang="en-US" dirty="0" smtClean="0"/>
              <a:t>Highly configurable and customizable to the application</a:t>
            </a:r>
          </a:p>
          <a:p>
            <a:pPr lvl="1"/>
            <a:r>
              <a:rPr lang="en-US" dirty="0" smtClean="0"/>
              <a:t>Can implement many parallel processors on one FPGA</a:t>
            </a:r>
          </a:p>
          <a:p>
            <a:pPr lvl="1"/>
            <a:r>
              <a:rPr lang="en-US" dirty="0" smtClean="0"/>
              <a:t>Allow designer to define memory, ALU and peripheral functionality</a:t>
            </a:r>
          </a:p>
          <a:p>
            <a:pPr lvl="1"/>
            <a:r>
              <a:rPr lang="en-US" dirty="0" smtClean="0"/>
              <a:t>Implemented in the FPGA’s “sea of gates”</a:t>
            </a:r>
          </a:p>
          <a:p>
            <a:pPr lvl="2"/>
            <a:r>
              <a:rPr lang="en-US" dirty="0" smtClean="0"/>
              <a:t>Resources not used to implement processor can be used for other functionality</a:t>
            </a:r>
          </a:p>
          <a:p>
            <a:pPr lvl="1"/>
            <a:r>
              <a:rPr lang="en-US" dirty="0"/>
              <a:t>Slower clock rates and more power consumption </a:t>
            </a:r>
            <a:endParaRPr lang="en-US" dirty="0" smtClean="0"/>
          </a:p>
          <a:p>
            <a:pPr lvl="1"/>
            <a:r>
              <a:rPr lang="en-US" dirty="0" smtClean="0"/>
              <a:t>Examples: </a:t>
            </a:r>
            <a:r>
              <a:rPr lang="en-US" dirty="0" smtClean="0">
                <a:solidFill>
                  <a:srgbClr val="FFC000"/>
                </a:solidFill>
              </a:rPr>
              <a:t>Altera NIOS II</a:t>
            </a:r>
            <a:r>
              <a:rPr lang="en-US" dirty="0" smtClean="0"/>
              <a:t>, Xilinx </a:t>
            </a:r>
            <a:r>
              <a:rPr lang="en-US" dirty="0" err="1" smtClean="0"/>
              <a:t>Microblaze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9038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Processor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 Hard Processor?</a:t>
            </a:r>
          </a:p>
          <a:p>
            <a:pPr lvl="1"/>
            <a:r>
              <a:rPr lang="en-US" dirty="0" smtClean="0"/>
              <a:t>The processor is embedded in the silicon</a:t>
            </a:r>
            <a:r>
              <a:rPr lang="en-US" dirty="0"/>
              <a:t> </a:t>
            </a:r>
            <a:r>
              <a:rPr lang="en-US" dirty="0" smtClean="0"/>
              <a:t>of the FPGA</a:t>
            </a:r>
          </a:p>
          <a:p>
            <a:pPr lvl="1"/>
            <a:r>
              <a:rPr lang="en-US" dirty="0" smtClean="0"/>
              <a:t>Does not use the FPGA’s normal logic elements (sea of gates)</a:t>
            </a:r>
          </a:p>
          <a:p>
            <a:pPr lvl="2"/>
            <a:r>
              <a:rPr lang="en-US" dirty="0" smtClean="0"/>
              <a:t>If the hard processor is not implemented in the particular system, its gates are </a:t>
            </a:r>
            <a:r>
              <a:rPr lang="en-US" i="1" dirty="0" smtClean="0"/>
              <a:t>not</a:t>
            </a:r>
            <a:r>
              <a:rPr lang="en-US" dirty="0" smtClean="0"/>
              <a:t> available for any other use</a:t>
            </a:r>
          </a:p>
          <a:p>
            <a:pPr lvl="1"/>
            <a:r>
              <a:rPr lang="en-US" dirty="0" smtClean="0"/>
              <a:t>Not very configurable</a:t>
            </a:r>
          </a:p>
          <a:p>
            <a:pPr lvl="1"/>
            <a:r>
              <a:rPr lang="en-US" dirty="0" smtClean="0"/>
              <a:t>Higher performance</a:t>
            </a:r>
          </a:p>
          <a:p>
            <a:pPr lvl="2"/>
            <a:r>
              <a:rPr lang="en-US" dirty="0" smtClean="0"/>
              <a:t>Can run at higher clock speeds than Soft-core processor because it is optimize</a:t>
            </a:r>
          </a:p>
          <a:p>
            <a:pPr lvl="1"/>
            <a:r>
              <a:rPr lang="en-US" dirty="0" smtClean="0"/>
              <a:t>Examples: Altera ARM, XILINX PowerPC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Processor Cores</a:t>
            </a:r>
            <a:endParaRPr lang="en-US" dirty="0"/>
          </a:p>
        </p:txBody>
      </p:sp>
      <p:pic>
        <p:nvPicPr>
          <p:cNvPr id="7170" name="Picture 2" descr="http://www.colorsorter-cn.com/photo/pl14289962-altera_s_cyclone_v_fpgas_features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87464"/>
            <a:ext cx="8229600" cy="4416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01009" y="1302798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Altera Cyclone V FPGA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49278" y="937834"/>
            <a:ext cx="1813317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Dedicated hard </a:t>
            </a:r>
          </a:p>
          <a:p>
            <a:r>
              <a:rPr lang="en-US" dirty="0" smtClean="0"/>
              <a:t>core processor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888360" y="1584165"/>
            <a:ext cx="1073426" cy="6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2582" y="3694239"/>
            <a:ext cx="1990610" cy="92333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Soft core processor</a:t>
            </a:r>
          </a:p>
          <a:p>
            <a:r>
              <a:rPr lang="en-US" dirty="0" smtClean="0"/>
              <a:t>Built from general </a:t>
            </a:r>
          </a:p>
          <a:p>
            <a:r>
              <a:rPr lang="en-US" dirty="0" smtClean="0"/>
              <a:t>logic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113192" y="3217160"/>
            <a:ext cx="1182757" cy="954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77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0"/>
            <a:ext cx="7704667" cy="1981200"/>
          </a:xfrm>
        </p:spPr>
        <p:txBody>
          <a:bodyPr/>
          <a:lstStyle/>
          <a:p>
            <a:r>
              <a:rPr lang="en-US" dirty="0" smtClean="0"/>
              <a:t>Processor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1" y="1514061"/>
            <a:ext cx="7704667" cy="3886200"/>
          </a:xfrm>
        </p:spPr>
        <p:txBody>
          <a:bodyPr/>
          <a:lstStyle/>
          <a:p>
            <a:r>
              <a:rPr lang="en-US" dirty="0" smtClean="0"/>
              <a:t>Soft Processor vs. Hard Processor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595966" y="2133600"/>
          <a:ext cx="6477000" cy="4114802"/>
        </p:xfrm>
        <a:graphic>
          <a:graphicData uri="http://schemas.openxmlformats.org/drawingml/2006/table">
            <a:tbl>
              <a:tblPr/>
              <a:tblGrid>
                <a:gridCol w="241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6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6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Soft</a:t>
                      </a:r>
                      <a:br>
                        <a:rPr lang="en-US" sz="2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Processor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Hard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Configurability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Predictability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Software Tools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Fewer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5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92" y="-208616"/>
            <a:ext cx="7704667" cy="1981200"/>
          </a:xfrm>
        </p:spPr>
        <p:txBody>
          <a:bodyPr/>
          <a:lstStyle/>
          <a:p>
            <a:r>
              <a:rPr lang="en-US" dirty="0" smtClean="0"/>
              <a:t>Processor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27" y="1564154"/>
            <a:ext cx="7704667" cy="4247216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Why use a Soft Processor? (because we will!)</a:t>
            </a:r>
          </a:p>
          <a:p>
            <a:pPr lvl="1" eaLnBrk="1" hangingPunct="1"/>
            <a:r>
              <a:rPr lang="en-US" dirty="0" smtClean="0"/>
              <a:t>Higher level of design reuse</a:t>
            </a:r>
          </a:p>
          <a:p>
            <a:pPr lvl="1" eaLnBrk="1" hangingPunct="1"/>
            <a:r>
              <a:rPr lang="en-US" dirty="0" smtClean="0"/>
              <a:t>Reduced obsolescence risk</a:t>
            </a:r>
          </a:p>
          <a:p>
            <a:pPr lvl="2" eaLnBrk="1" hangingPunct="1"/>
            <a:r>
              <a:rPr lang="en-US" dirty="0" smtClean="0"/>
              <a:t>Design can be modified to accommodate changing requirements</a:t>
            </a:r>
          </a:p>
          <a:p>
            <a:pPr lvl="2" eaLnBrk="1" hangingPunct="1"/>
            <a:r>
              <a:rPr lang="en-US" dirty="0" smtClean="0"/>
              <a:t>Easy to add new features and functionality to design</a:t>
            </a:r>
          </a:p>
          <a:p>
            <a:pPr lvl="1" eaLnBrk="1" hangingPunct="1"/>
            <a:r>
              <a:rPr lang="en-US" dirty="0" smtClean="0"/>
              <a:t>Increased design implementation options</a:t>
            </a:r>
          </a:p>
          <a:p>
            <a:pPr lvl="2" eaLnBrk="1" hangingPunct="1"/>
            <a:r>
              <a:rPr lang="en-US" dirty="0" smtClean="0"/>
              <a:t>Add only processor features that are required by design</a:t>
            </a:r>
          </a:p>
          <a:p>
            <a:pPr lvl="2" eaLnBrk="1" hangingPunct="1"/>
            <a:r>
              <a:rPr lang="en-US" dirty="0" smtClean="0"/>
              <a:t>Able to start design w/o all requirements finalized</a:t>
            </a:r>
          </a:p>
          <a:p>
            <a:pPr lvl="1" eaLnBrk="1" hangingPunct="1"/>
            <a:r>
              <a:rPr lang="en-US" dirty="0" smtClean="0"/>
              <a:t>Lower latency between processor and FPGA components</a:t>
            </a:r>
          </a:p>
          <a:p>
            <a:pPr lvl="2" eaLnBrk="1" hangingPunct="1"/>
            <a:r>
              <a:rPr lang="en-US" dirty="0" smtClean="0"/>
              <a:t>No routing delays to route external processor signal into FPGA</a:t>
            </a:r>
          </a:p>
          <a:p>
            <a:pPr lvl="1" eaLnBrk="1" hangingPunct="1"/>
            <a:r>
              <a:rPr lang="en-US" dirty="0" smtClean="0"/>
              <a:t>Can use FPGA logic for accelerating software functions</a:t>
            </a:r>
          </a:p>
          <a:p>
            <a:pPr lvl="2" eaLnBrk="1" hangingPunct="1"/>
            <a:r>
              <a:rPr lang="en-US" dirty="0" smtClean="0"/>
              <a:t>Software functions migrated to hardware</a:t>
            </a:r>
          </a:p>
          <a:p>
            <a:pPr lvl="2" eaLnBrk="1" hangingPunct="1"/>
            <a:r>
              <a:rPr lang="en-US" dirty="0" smtClean="0"/>
              <a:t>Create custom instructions to access custom hardware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33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31662"/>
          <a:stretch/>
        </p:blipFill>
        <p:spPr>
          <a:xfrm>
            <a:off x="457200" y="1693544"/>
            <a:ext cx="7856811" cy="40043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IP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Altera Platform Designer System Builder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20661" y="3695701"/>
            <a:ext cx="4070345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Library of Cores from which to choose</a:t>
            </a:r>
            <a:endParaRPr lang="en-US" dirty="0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 flipV="1">
            <a:off x="2154621" y="2816772"/>
            <a:ext cx="1566040" cy="10635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06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IP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3161" b="24937"/>
          <a:stretch/>
        </p:blipFill>
        <p:spPr>
          <a:xfrm>
            <a:off x="149773" y="1104901"/>
            <a:ext cx="8844454" cy="5181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14580" y="2827281"/>
            <a:ext cx="122341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Processor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76345" y="3511034"/>
            <a:ext cx="988925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41858" y="4315075"/>
            <a:ext cx="48442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I/O</a:t>
            </a:r>
            <a:endParaRPr lang="en-US" dirty="0"/>
          </a:p>
        </p:txBody>
      </p: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4414345" y="3002518"/>
            <a:ext cx="400235" cy="9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1"/>
          </p:cNvCxnSpPr>
          <p:nvPr/>
        </p:nvCxnSpPr>
        <p:spPr>
          <a:xfrm flipH="1">
            <a:off x="4445876" y="3695700"/>
            <a:ext cx="7304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4445876" y="4065032"/>
            <a:ext cx="493986" cy="278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414345" y="4684407"/>
            <a:ext cx="525517" cy="91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65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IP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system in Platform Designer</a:t>
            </a:r>
          </a:p>
          <a:p>
            <a:pPr lvl="1"/>
            <a:r>
              <a:rPr lang="en-US" dirty="0" smtClean="0"/>
              <a:t>Use library of cores</a:t>
            </a:r>
          </a:p>
          <a:p>
            <a:pPr lvl="1"/>
            <a:r>
              <a:rPr lang="en-US" dirty="0" smtClean="0"/>
              <a:t>Interconnect cores with each other, clocks, resets, interrupts, etc.</a:t>
            </a:r>
          </a:p>
          <a:p>
            <a:r>
              <a:rPr lang="en-US" dirty="0" smtClean="0"/>
              <a:t>The tool generates the hardware description language for the system (includes processor design, if using soft core)</a:t>
            </a:r>
          </a:p>
          <a:p>
            <a:r>
              <a:rPr lang="en-US" dirty="0" smtClean="0"/>
              <a:t>The designer instantiates the generated system as a component in the top-level HDL</a:t>
            </a:r>
          </a:p>
          <a:p>
            <a:r>
              <a:rPr lang="en-US" dirty="0" smtClean="0"/>
              <a:t>In the top-level HDL the system component can be integrated with other components developed by the designer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48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IT" id="{97C221C2-C4D1-4045-949D-729FDFABAAE9}" vid="{D6F8B45F-E2E7-43CA-9B29-0AE1C6552E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RIT</Template>
  <TotalTime>4081</TotalTime>
  <Words>1405</Words>
  <Application>Microsoft Office PowerPoint</Application>
  <PresentationFormat>On-screen Show (4:3)</PresentationFormat>
  <Paragraphs>240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ＭＳ Ｐゴシック</vt:lpstr>
      <vt:lpstr>Arial</vt:lpstr>
      <vt:lpstr>Calibri</vt:lpstr>
      <vt:lpstr>Georgia</vt:lpstr>
      <vt:lpstr>Wingdings</vt:lpstr>
      <vt:lpstr>RIT</vt:lpstr>
      <vt:lpstr> SOPC and Cores  </vt:lpstr>
      <vt:lpstr>Reminders</vt:lpstr>
      <vt:lpstr>Reminders</vt:lpstr>
      <vt:lpstr>Digital Systems- A Brief History</vt:lpstr>
      <vt:lpstr>Digital Systems- A Brief History</vt:lpstr>
      <vt:lpstr>Digital Systems- A Brief History</vt:lpstr>
      <vt:lpstr>Digital Systems- A Brief History</vt:lpstr>
      <vt:lpstr>Digital Systems- A Brief History</vt:lpstr>
      <vt:lpstr>Moore’s Law</vt:lpstr>
      <vt:lpstr>Moore’s Law</vt:lpstr>
      <vt:lpstr>Where are we now?</vt:lpstr>
      <vt:lpstr>Tradeoffs</vt:lpstr>
      <vt:lpstr>System on Programmable Chip</vt:lpstr>
      <vt:lpstr>IP Cores in SOPC</vt:lpstr>
      <vt:lpstr>IP Cores</vt:lpstr>
      <vt:lpstr>IP Core</vt:lpstr>
      <vt:lpstr>IP Cores</vt:lpstr>
      <vt:lpstr>Processor Cores</vt:lpstr>
      <vt:lpstr>Processor Cores</vt:lpstr>
      <vt:lpstr>Processor Cores</vt:lpstr>
      <vt:lpstr>Processor Cores</vt:lpstr>
      <vt:lpstr>Processor Cores</vt:lpstr>
      <vt:lpstr>Processor Cores</vt:lpstr>
      <vt:lpstr>Using IP Cores</vt:lpstr>
      <vt:lpstr>Using IP Cores</vt:lpstr>
      <vt:lpstr>Using IP 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Architecture </dc:title>
  <dc:creator/>
  <cp:lastModifiedBy>Holly Dickens</cp:lastModifiedBy>
  <cp:revision>194</cp:revision>
  <dcterms:created xsi:type="dcterms:W3CDTF">2006-08-16T00:00:00Z</dcterms:created>
  <dcterms:modified xsi:type="dcterms:W3CDTF">2024-08-26T00:43:37Z</dcterms:modified>
</cp:coreProperties>
</file>