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78" autoAdjust="0"/>
  </p:normalViewPr>
  <p:slideViewPr>
    <p:cSldViewPr snapToGrid="0">
      <p:cViewPr varScale="1">
        <p:scale>
          <a:sx n="122" d="100"/>
          <a:sy n="122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96BED-EDC5-41E8-AE3C-A5F3AB0711E2}" type="datetimeFigureOut">
              <a:rPr lang="en-US" smtClean="0"/>
              <a:t>1/12/2022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5E51B-5FB9-4645-A7A9-6C294421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4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28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741489"/>
            <a:ext cx="10972800" cy="9366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400" y="2678112"/>
            <a:ext cx="11379200" cy="22748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2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08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689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2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2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3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219200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1858964"/>
            <a:ext cx="5386917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19200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858964"/>
            <a:ext cx="5389033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65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30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18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"/>
            <a:ext cx="12189884" cy="685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57201"/>
            <a:ext cx="10972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219202"/>
            <a:ext cx="109728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891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513026"/>
          </a:solidFill>
          <a:latin typeface="Georgia"/>
          <a:ea typeface="ＭＳ Ｐゴシック" pitchFamily="-65" charset="-128"/>
          <a:cs typeface="Georgi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b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800" b="1" i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Altera (Intel) Embedded Design Environment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1 Lecture 3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4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HW and SW design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  <a:p>
            <a:pPr lvl="1" eaLnBrk="1" hangingPunct="1"/>
            <a:r>
              <a:rPr lang="en-US" dirty="0" smtClean="0"/>
              <a:t>Hardware design flow</a:t>
            </a:r>
          </a:p>
          <a:p>
            <a:pPr lvl="2" eaLnBrk="1" hangingPunct="1"/>
            <a:r>
              <a:rPr lang="en-US" dirty="0" smtClean="0"/>
              <a:t>Ex: VHDL, Verilog, etc</a:t>
            </a:r>
          </a:p>
          <a:p>
            <a:pPr lvl="1" eaLnBrk="1" hangingPunct="1"/>
            <a:r>
              <a:rPr lang="en-US" dirty="0" smtClean="0"/>
              <a:t>Software design flow</a:t>
            </a:r>
          </a:p>
          <a:p>
            <a:pPr lvl="2" eaLnBrk="1" hangingPunct="1"/>
            <a:r>
              <a:rPr lang="en-US" dirty="0" smtClean="0"/>
              <a:t>Ex: C, Assembly</a:t>
            </a:r>
          </a:p>
          <a:p>
            <a:pPr eaLnBrk="1" hangingPunct="1"/>
            <a:r>
              <a:rPr lang="en-US" dirty="0" smtClean="0"/>
              <a:t>Altera Design Environment </a:t>
            </a:r>
          </a:p>
          <a:p>
            <a:pPr lvl="1" eaLnBrk="1" hangingPunct="1"/>
            <a:r>
              <a:rPr lang="en-US" dirty="0" smtClean="0"/>
              <a:t>Supports both hardware and software flow</a:t>
            </a:r>
          </a:p>
          <a:p>
            <a:pPr lvl="1" eaLnBrk="1" hangingPunct="1"/>
            <a:r>
              <a:rPr lang="en-US" dirty="0" smtClean="0"/>
              <a:t>Hardware implementation done by Quartus II</a:t>
            </a:r>
          </a:p>
          <a:p>
            <a:pPr lvl="1" eaLnBrk="1" hangingPunct="1"/>
            <a:r>
              <a:rPr lang="en-US" dirty="0" smtClean="0"/>
              <a:t>Software implementation done by Nios II Embedded Design Suite (EDS)</a:t>
            </a:r>
          </a:p>
        </p:txBody>
      </p:sp>
    </p:spTree>
    <p:extLst>
      <p:ext uri="{BB962C8B-B14F-4D97-AF65-F5344CB8AC3E}">
        <p14:creationId xmlns:p14="http://schemas.microsoft.com/office/powerpoint/2010/main" val="172447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270" y="652463"/>
            <a:ext cx="109728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HW and SW Design</a:t>
            </a:r>
          </a:p>
        </p:txBody>
      </p:sp>
      <p:sp>
        <p:nvSpPr>
          <p:cNvPr id="102403" name="Rectangle 1029"/>
          <p:cNvSpPr>
            <a:spLocks noChangeArrowheads="1"/>
          </p:cNvSpPr>
          <p:nvPr/>
        </p:nvSpPr>
        <p:spPr bwMode="auto">
          <a:xfrm>
            <a:off x="3357563" y="141446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92868" y="838200"/>
          <a:ext cx="8322733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Visio" r:id="rId3" imgW="9362384" imgH="6083733" progId="Visio.Drawing.11">
                  <p:embed/>
                </p:oleObj>
              </mc:Choice>
              <mc:Fallback>
                <p:oleObj name="Visio" r:id="rId3" imgW="9362384" imgH="6083733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868" y="838200"/>
                        <a:ext cx="8322733" cy="541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90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09800" y="762000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defTabSz="914400">
              <a:spcBef>
                <a:spcPct val="20000"/>
              </a:spcBef>
              <a:defRPr/>
            </a:pPr>
            <a:endParaRPr lang="en-US" sz="2800" b="1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273" y="1327412"/>
            <a:ext cx="7071699" cy="5146012"/>
          </a:xfrm>
          <a:prstGeom prst="rect">
            <a:avLst/>
          </a:prstGeom>
        </p:spPr>
      </p:pic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64693" y="510387"/>
            <a:ext cx="109728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QSYS/Platform Designer(PD) System Builder</a:t>
            </a:r>
          </a:p>
        </p:txBody>
      </p:sp>
      <p:sp>
        <p:nvSpPr>
          <p:cNvPr id="102403" name="Rectangle 1029"/>
          <p:cNvSpPr>
            <a:spLocks noChangeArrowheads="1"/>
          </p:cNvSpPr>
          <p:nvPr/>
        </p:nvSpPr>
        <p:spPr bwMode="auto">
          <a:xfrm>
            <a:off x="3357563" y="141446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461741" y="3866180"/>
            <a:ext cx="1631950" cy="715089"/>
          </a:xfrm>
          <a:prstGeom prst="roundRect">
            <a:avLst/>
          </a:prstGeom>
          <a:solidFill>
            <a:srgbClr val="00319E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System Contents</a:t>
            </a: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3651474" y="1529627"/>
            <a:ext cx="6101136" cy="357282"/>
          </a:xfrm>
          <a:prstGeom prst="ellipse">
            <a:avLst/>
          </a:prstGeom>
          <a:noFill/>
          <a:ln w="38100" algn="ctr">
            <a:solidFill>
              <a:srgbClr val="4F8A1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 flipH="1" flipV="1">
            <a:off x="7876310" y="1909949"/>
            <a:ext cx="436603" cy="330631"/>
          </a:xfrm>
          <a:prstGeom prst="straightConnector1">
            <a:avLst/>
          </a:prstGeom>
          <a:noFill/>
          <a:ln w="38100" algn="ctr">
            <a:solidFill>
              <a:srgbClr val="4F8A10"/>
            </a:solidFill>
            <a:round/>
            <a:headEnd/>
            <a:tailEnd type="arrow" w="med" len="med"/>
          </a:ln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314785" y="2047276"/>
            <a:ext cx="1877211" cy="408623"/>
          </a:xfrm>
          <a:prstGeom prst="roundRect">
            <a:avLst/>
          </a:prstGeom>
          <a:solidFill>
            <a:srgbClr val="00319E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Main PD Tabs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553273" y="3185329"/>
            <a:ext cx="1487305" cy="715089"/>
          </a:xfrm>
          <a:prstGeom prst="roundRect">
            <a:avLst/>
          </a:prstGeom>
          <a:solidFill>
            <a:srgbClr val="00319E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Component Library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235118" y="5712793"/>
            <a:ext cx="1631950" cy="408623"/>
          </a:xfrm>
          <a:prstGeom prst="roundRect">
            <a:avLst/>
          </a:prstGeom>
          <a:solidFill>
            <a:srgbClr val="00319E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Messages</a:t>
            </a:r>
          </a:p>
        </p:txBody>
      </p:sp>
    </p:spTree>
    <p:extLst>
      <p:ext uri="{BB962C8B-B14F-4D97-AF65-F5344CB8AC3E}">
        <p14:creationId xmlns:p14="http://schemas.microsoft.com/office/powerpoint/2010/main" val="105428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Platform Designer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13929"/>
            <a:ext cx="10972800" cy="4952999"/>
          </a:xfrm>
        </p:spPr>
        <p:txBody>
          <a:bodyPr/>
          <a:lstStyle/>
          <a:p>
            <a:r>
              <a:rPr lang="en-US" dirty="0" smtClean="0"/>
              <a:t>Platform Designer System Builder</a:t>
            </a:r>
          </a:p>
          <a:p>
            <a:pPr lvl="1"/>
            <a:r>
              <a:rPr lang="en-US" dirty="0" smtClean="0"/>
              <a:t>System ID Peripheral</a:t>
            </a:r>
          </a:p>
          <a:p>
            <a:pPr lvl="2"/>
            <a:r>
              <a:rPr lang="en-US" dirty="0" smtClean="0"/>
              <a:t>Used to ensure hardware/software version are synchronized</a:t>
            </a:r>
          </a:p>
          <a:p>
            <a:pPr lvl="2"/>
            <a:r>
              <a:rPr lang="en-US" dirty="0" smtClean="0"/>
              <a:t>Simple 2 registers</a:t>
            </a:r>
          </a:p>
          <a:p>
            <a:pPr lvl="3"/>
            <a:r>
              <a:rPr lang="en-US" dirty="0" smtClean="0"/>
              <a:t>Timestamp</a:t>
            </a:r>
          </a:p>
          <a:p>
            <a:pPr lvl="3"/>
            <a:r>
              <a:rPr lang="en-US" dirty="0" smtClean="0"/>
              <a:t>Random number</a:t>
            </a:r>
          </a:p>
          <a:p>
            <a:pPr lvl="2"/>
            <a:r>
              <a:rPr lang="en-US" dirty="0" smtClean="0"/>
              <a:t>Debugger checks when downloading software to hardware</a:t>
            </a:r>
          </a:p>
          <a:p>
            <a:pPr lvl="3"/>
            <a:r>
              <a:rPr lang="en-US" dirty="0" smtClean="0"/>
              <a:t>Most common connection problem</a:t>
            </a:r>
          </a:p>
          <a:p>
            <a:pPr lvl="3"/>
            <a:r>
              <a:rPr lang="en-US" dirty="0" smtClean="0"/>
              <a:t>Hardware needs to be recompiled and downloaded</a:t>
            </a:r>
          </a:p>
          <a:p>
            <a:pPr lvl="2"/>
            <a:r>
              <a:rPr lang="en-US" dirty="0" smtClean="0"/>
              <a:t>Can be read at runtime to make sure correct hardware is present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4752976"/>
            <a:ext cx="741045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3174024" y="5240113"/>
            <a:ext cx="6350976" cy="274862"/>
          </a:xfrm>
          <a:prstGeom prst="ellipse">
            <a:avLst/>
          </a:prstGeom>
          <a:noFill/>
          <a:ln w="38100" algn="ctr">
            <a:solidFill>
              <a:srgbClr val="4F8A1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8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Platform Designer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PD</a:t>
            </a:r>
            <a:r>
              <a:rPr lang="en-US" b="1" i="0" dirty="0" smtClean="0"/>
              <a:t> System Builder</a:t>
            </a:r>
          </a:p>
          <a:p>
            <a:pPr lvl="1"/>
            <a:r>
              <a:rPr lang="en-US" dirty="0" smtClean="0"/>
              <a:t>Generates synthesizable output files of the hardware system </a:t>
            </a:r>
          </a:p>
          <a:p>
            <a:pPr lvl="2"/>
            <a:r>
              <a:rPr lang="en-US" dirty="0"/>
              <a:t>Includes the NIOS II processor </a:t>
            </a:r>
            <a:r>
              <a:rPr lang="en-US" dirty="0" smtClean="0"/>
              <a:t>and IP cores</a:t>
            </a:r>
          </a:p>
          <a:p>
            <a:pPr lvl="2"/>
            <a:r>
              <a:rPr lang="en-US" dirty="0" smtClean="0"/>
              <a:t>Compiled with the Quartus II software</a:t>
            </a:r>
          </a:p>
          <a:p>
            <a:pPr lvl="1"/>
            <a:r>
              <a:rPr lang="en-US" dirty="0" smtClean="0"/>
              <a:t>Generates “PD Interconnect” to connect components together</a:t>
            </a:r>
          </a:p>
          <a:p>
            <a:pPr lvl="2"/>
            <a:r>
              <a:rPr lang="en-US" dirty="0" smtClean="0"/>
              <a:t>Avalon-MM (Memory Mapped) interfaces</a:t>
            </a:r>
          </a:p>
          <a:p>
            <a:pPr lvl="3"/>
            <a:r>
              <a:rPr lang="en-US" dirty="0" smtClean="0"/>
              <a:t>E.g. Nios II instruction and data masters</a:t>
            </a:r>
          </a:p>
          <a:p>
            <a:pPr lvl="2"/>
            <a:r>
              <a:rPr lang="en-US" dirty="0" smtClean="0"/>
              <a:t>Avalon-ST (Streaming) interface</a:t>
            </a:r>
          </a:p>
          <a:p>
            <a:pPr lvl="1"/>
            <a:r>
              <a:rPr lang="en-US" dirty="0" smtClean="0"/>
              <a:t>XML file used by software tools</a:t>
            </a:r>
          </a:p>
          <a:p>
            <a:pPr lvl="2"/>
            <a:r>
              <a:rPr lang="en-US" dirty="0" smtClean="0"/>
              <a:t>Describes hardware for software build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02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261" y="382556"/>
            <a:ext cx="109728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SW Environment</a:t>
            </a:r>
          </a:p>
        </p:txBody>
      </p:sp>
      <p:sp>
        <p:nvSpPr>
          <p:cNvPr id="103427" name="Rectangle 5"/>
          <p:cNvSpPr>
            <a:spLocks noChangeArrowheads="1"/>
          </p:cNvSpPr>
          <p:nvPr/>
        </p:nvSpPr>
        <p:spPr bwMode="auto">
          <a:xfrm>
            <a:off x="3352800" y="145256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364" y="990600"/>
            <a:ext cx="8291275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9475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Software Build Tools</a:t>
            </a:r>
          </a:p>
        </p:txBody>
      </p:sp>
      <p:sp>
        <p:nvSpPr>
          <p:cNvPr id="103427" name="Rectangle 5"/>
          <p:cNvSpPr>
            <a:spLocks noChangeArrowheads="1"/>
          </p:cNvSpPr>
          <p:nvPr/>
        </p:nvSpPr>
        <p:spPr bwMode="auto">
          <a:xfrm>
            <a:off x="3352800" y="145256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18244" y="706252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defTabSz="914400">
              <a:spcBef>
                <a:spcPct val="20000"/>
              </a:spcBef>
              <a:defRPr/>
            </a:pPr>
            <a:r>
              <a:rPr lang="en-US" sz="2800" b="1" kern="0" dirty="0" smtClean="0">
                <a:latin typeface="+mn-lt"/>
                <a:ea typeface="+mn-ea"/>
                <a:cs typeface="+mn-cs"/>
              </a:rPr>
              <a:t> </a:t>
            </a:r>
            <a:endParaRPr lang="en-US" sz="2800" b="1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8230" y="1425038"/>
            <a:ext cx="8209628" cy="497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8541164" y="1763154"/>
            <a:ext cx="1806575" cy="287338"/>
          </a:xfrm>
          <a:prstGeom prst="rect">
            <a:avLst/>
          </a:prstGeom>
          <a:noFill/>
          <a:ln w="38100">
            <a:solidFill>
              <a:srgbClr val="4F8A1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cxnSp>
        <p:nvCxnSpPr>
          <p:cNvPr id="9" name="Straight Arrow Connector 8"/>
          <p:cNvCxnSpPr>
            <a:endCxn id="8" idx="1"/>
          </p:cNvCxnSpPr>
          <p:nvPr/>
        </p:nvCxnSpPr>
        <p:spPr bwMode="auto">
          <a:xfrm>
            <a:off x="8156865" y="1618837"/>
            <a:ext cx="384299" cy="2879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4F8A1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2480459" y="5024581"/>
            <a:ext cx="1126946" cy="408623"/>
          </a:xfrm>
          <a:prstGeom prst="roundRect">
            <a:avLst/>
          </a:prstGeom>
          <a:solidFill>
            <a:srgbClr val="00319E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Projects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48963" y="5523180"/>
            <a:ext cx="2096354" cy="408623"/>
          </a:xfrm>
          <a:prstGeom prst="roundRect">
            <a:avLst/>
          </a:prstGeom>
          <a:solidFill>
            <a:srgbClr val="00319E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Terminal Window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4113" y="3525652"/>
            <a:ext cx="1412765" cy="408623"/>
          </a:xfrm>
          <a:prstGeom prst="roundRect">
            <a:avLst/>
          </a:prstGeom>
          <a:solidFill>
            <a:srgbClr val="00319E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File Viewer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4600" y="3400629"/>
            <a:ext cx="1727200" cy="1123712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Outline View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(View functions, </a:t>
            </a:r>
            <a:r>
              <a:rPr lang="en-US" sz="1400" b="1" dirty="0" err="1">
                <a:solidFill>
                  <a:schemeClr val="bg1"/>
                </a:solidFill>
              </a:rPr>
              <a:t>enums</a:t>
            </a:r>
            <a:r>
              <a:rPr lang="en-US" sz="1400" b="1" dirty="0">
                <a:solidFill>
                  <a:schemeClr val="bg1"/>
                </a:solidFill>
              </a:rPr>
              <a:t>, classes, </a:t>
            </a:r>
            <a:r>
              <a:rPr lang="en-US" sz="1400" b="1" dirty="0" err="1">
                <a:solidFill>
                  <a:schemeClr val="bg1"/>
                </a:solidFill>
              </a:rPr>
              <a:t>structs</a:t>
            </a:r>
            <a:r>
              <a:rPr lang="en-US" sz="1400" b="1" dirty="0">
                <a:solidFill>
                  <a:schemeClr val="bg1"/>
                </a:solidFill>
              </a:rPr>
              <a:t> etc.)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7165" y="1263237"/>
            <a:ext cx="2245191" cy="408623"/>
          </a:xfrm>
          <a:prstGeom prst="roundRect">
            <a:avLst/>
          </a:prstGeom>
          <a:solidFill>
            <a:srgbClr val="00319E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Select Perspective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91800" y="2356229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NIOS II</a:t>
            </a:r>
            <a:endParaRPr lang="en-US" dirty="0"/>
          </a:p>
        </p:txBody>
      </p:sp>
      <p:cxnSp>
        <p:nvCxnSpPr>
          <p:cNvPr id="4" name="Straight Arrow Connector 3"/>
          <p:cNvCxnSpPr>
            <a:stCxn id="2" idx="0"/>
          </p:cNvCxnSpPr>
          <p:nvPr/>
        </p:nvCxnSpPr>
        <p:spPr>
          <a:xfrm flipH="1" flipV="1">
            <a:off x="10347739" y="1972764"/>
            <a:ext cx="1022479" cy="383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5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Software Build Tools</a:t>
            </a:r>
          </a:p>
        </p:txBody>
      </p:sp>
      <p:sp>
        <p:nvSpPr>
          <p:cNvPr id="103427" name="Rectangle 5"/>
          <p:cNvSpPr>
            <a:spLocks noChangeArrowheads="1"/>
          </p:cNvSpPr>
          <p:nvPr/>
        </p:nvSpPr>
        <p:spPr bwMode="auto">
          <a:xfrm>
            <a:off x="3352800" y="145256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09800" y="762000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defTabSz="914400">
              <a:spcBef>
                <a:spcPct val="20000"/>
              </a:spcBef>
              <a:defRPr/>
            </a:pPr>
            <a:endParaRPr lang="en-US" sz="2800" b="1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1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3436" y="1428192"/>
            <a:ext cx="8438365" cy="49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272519" y="2881521"/>
            <a:ext cx="2103120" cy="369974"/>
          </a:xfrm>
          <a:prstGeom prst="rect">
            <a:avLst/>
          </a:prstGeom>
          <a:noFill/>
          <a:ln w="38100" algn="ctr">
            <a:solidFill>
              <a:srgbClr val="4F8A10"/>
            </a:solidFill>
            <a:miter lim="800000"/>
            <a:headEnd/>
            <a:tailEnd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2272519" y="4619148"/>
            <a:ext cx="2103120" cy="369974"/>
          </a:xfrm>
          <a:prstGeom prst="rect">
            <a:avLst/>
          </a:prstGeom>
          <a:noFill/>
          <a:ln w="38100" algn="ctr">
            <a:solidFill>
              <a:srgbClr val="4F8A10"/>
            </a:solidFill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cxnSp>
        <p:nvCxnSpPr>
          <p:cNvPr id="18" name="Straight Arrow Connector 17"/>
          <p:cNvCxnSpPr>
            <a:stCxn id="19" idx="1"/>
            <a:endCxn id="16" idx="3"/>
          </p:cNvCxnSpPr>
          <p:nvPr/>
        </p:nvCxnSpPr>
        <p:spPr bwMode="auto">
          <a:xfrm flipH="1">
            <a:off x="4375639" y="2803436"/>
            <a:ext cx="624742" cy="2630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4F8A1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5000381" y="2292657"/>
            <a:ext cx="3175000" cy="1021556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Application project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(Contains application source code) 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/>
          <p:cNvCxnSpPr>
            <a:stCxn id="21" idx="1"/>
            <a:endCxn id="17" idx="3"/>
          </p:cNvCxnSpPr>
          <p:nvPr/>
        </p:nvCxnSpPr>
        <p:spPr bwMode="auto">
          <a:xfrm flipH="1">
            <a:off x="4375639" y="4386829"/>
            <a:ext cx="624742" cy="41730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4F8A1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000381" y="3722817"/>
            <a:ext cx="3175000" cy="1328023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BSP project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(Contains system header file and links to device driver source code)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91800" y="2356229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NIOS II</a:t>
            </a:r>
            <a:endParaRPr lang="en-US" dirty="0"/>
          </a:p>
        </p:txBody>
      </p:sp>
      <p:cxnSp>
        <p:nvCxnSpPr>
          <p:cNvPr id="3" name="Straight Arrow Connector 2"/>
          <p:cNvCxnSpPr>
            <a:stCxn id="12" idx="0"/>
          </p:cNvCxnSpPr>
          <p:nvPr/>
        </p:nvCxnSpPr>
        <p:spPr>
          <a:xfrm flipH="1" flipV="1">
            <a:off x="9946433" y="2024743"/>
            <a:ext cx="1423785" cy="331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04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Software Build Tools</a:t>
            </a:r>
          </a:p>
        </p:txBody>
      </p:sp>
      <p:sp>
        <p:nvSpPr>
          <p:cNvPr id="103427" name="Rectangle 5"/>
          <p:cNvSpPr>
            <a:spLocks noChangeArrowheads="1"/>
          </p:cNvSpPr>
          <p:nvPr/>
        </p:nvSpPr>
        <p:spPr bwMode="auto">
          <a:xfrm>
            <a:off x="3352800" y="145256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09800" y="762000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defTabSz="914400">
              <a:spcBef>
                <a:spcPct val="20000"/>
              </a:spcBef>
              <a:defRPr/>
            </a:pPr>
            <a:endParaRPr lang="en-US" sz="2800" b="1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8062" y="1230572"/>
            <a:ext cx="7998467" cy="5200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374063" y="1594587"/>
            <a:ext cx="1724025" cy="369974"/>
          </a:xfrm>
          <a:prstGeom prst="rect">
            <a:avLst/>
          </a:prstGeom>
          <a:noFill/>
          <a:ln w="25400" algn="ctr">
            <a:solidFill>
              <a:srgbClr val="4F8A10"/>
            </a:solidFill>
            <a:miter lim="800000"/>
            <a:headEnd/>
            <a:tailEnd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3722687" y="1582408"/>
            <a:ext cx="274320" cy="369974"/>
          </a:xfrm>
          <a:prstGeom prst="rect">
            <a:avLst/>
          </a:prstGeom>
          <a:noFill/>
          <a:ln w="25400" algn="ctr">
            <a:solidFill>
              <a:srgbClr val="4F8A10"/>
            </a:solidFill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052887" y="1582408"/>
            <a:ext cx="274320" cy="369974"/>
          </a:xfrm>
          <a:prstGeom prst="rect">
            <a:avLst/>
          </a:prstGeom>
          <a:noFill/>
          <a:ln w="25400" algn="ctr">
            <a:solidFill>
              <a:srgbClr val="4F8A10"/>
            </a:solidFill>
            <a:miter lim="800000"/>
            <a:headEnd/>
            <a:tailEnd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269163" y="1143001"/>
            <a:ext cx="3019425" cy="374571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Perspective Selector</a:t>
            </a:r>
          </a:p>
        </p:txBody>
      </p:sp>
      <p:cxnSp>
        <p:nvCxnSpPr>
          <p:cNvPr id="13" name="Straight Arrow Connector 12"/>
          <p:cNvCxnSpPr>
            <a:stCxn id="12" idx="2"/>
            <a:endCxn id="9" idx="0"/>
          </p:cNvCxnSpPr>
          <p:nvPr/>
        </p:nvCxnSpPr>
        <p:spPr bwMode="auto">
          <a:xfrm>
            <a:off x="8778875" y="1517571"/>
            <a:ext cx="457200" cy="7701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4F8A1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543802" y="2267347"/>
            <a:ext cx="2895599" cy="919401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View/modify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(Variables, registers, memory…)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667" y="4556064"/>
            <a:ext cx="2126796" cy="646986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Double-click to add breakpoints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 bwMode="auto">
          <a:xfrm flipH="1" flipV="1">
            <a:off x="2449513" y="4078547"/>
            <a:ext cx="2045155" cy="80101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4F8A1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912406" y="1219201"/>
            <a:ext cx="1658711" cy="374571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Run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5612" y="1219201"/>
            <a:ext cx="1865538" cy="374571"/>
          </a:xfrm>
          <a:prstGeom prst="roundRect">
            <a:avLst/>
          </a:prstGeom>
          <a:solidFill>
            <a:srgbClr val="00319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Debug project</a:t>
            </a:r>
          </a:p>
        </p:txBody>
      </p:sp>
      <p:cxnSp>
        <p:nvCxnSpPr>
          <p:cNvPr id="19" name="Straight Arrow Connector 18"/>
          <p:cNvCxnSpPr>
            <a:stCxn id="17" idx="2"/>
            <a:endCxn id="11" idx="0"/>
          </p:cNvCxnSpPr>
          <p:nvPr/>
        </p:nvCxnSpPr>
        <p:spPr bwMode="auto">
          <a:xfrm flipH="1">
            <a:off x="4190047" y="1593772"/>
            <a:ext cx="1551714" cy="617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4F8A1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>
            <a:stCxn id="18" idx="2"/>
            <a:endCxn id="10" idx="0"/>
          </p:cNvCxnSpPr>
          <p:nvPr/>
        </p:nvCxnSpPr>
        <p:spPr bwMode="auto">
          <a:xfrm>
            <a:off x="3718381" y="1593772"/>
            <a:ext cx="141466" cy="617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4F8A1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0507662" y="2162861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Debug</a:t>
            </a:r>
            <a:endParaRPr lang="en-US" dirty="0"/>
          </a:p>
        </p:txBody>
      </p:sp>
      <p:cxnSp>
        <p:nvCxnSpPr>
          <p:cNvPr id="3" name="Straight Arrow Connector 2"/>
          <p:cNvCxnSpPr>
            <a:stCxn id="21" idx="0"/>
          </p:cNvCxnSpPr>
          <p:nvPr/>
        </p:nvCxnSpPr>
        <p:spPr>
          <a:xfrm flipH="1" flipV="1">
            <a:off x="10002416" y="1859955"/>
            <a:ext cx="1245192" cy="302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4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Debug Perspective</a:t>
            </a:r>
          </a:p>
        </p:txBody>
      </p:sp>
      <p:sp>
        <p:nvSpPr>
          <p:cNvPr id="103427" name="Rectangle 5"/>
          <p:cNvSpPr>
            <a:spLocks noChangeArrowheads="1"/>
          </p:cNvSpPr>
          <p:nvPr/>
        </p:nvSpPr>
        <p:spPr bwMode="auto">
          <a:xfrm>
            <a:off x="3352800" y="145256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09800" y="762000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defTabSz="914400">
              <a:spcBef>
                <a:spcPct val="20000"/>
              </a:spcBef>
              <a:defRPr/>
            </a:pPr>
            <a:endParaRPr lang="en-US" sz="2800" b="1" kern="0" dirty="0">
              <a:latin typeface="+mn-lt"/>
              <a:ea typeface="+mn-ea"/>
              <a:cs typeface="+mn-cs"/>
            </a:endParaRP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2334859" y="3770056"/>
            <a:ext cx="1638654" cy="255454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endParaRPr lang="en-US" sz="2000" b="1" dirty="0"/>
          </a:p>
          <a:p>
            <a:pPr algn="r"/>
            <a:r>
              <a:rPr lang="en-US" sz="2000" b="1" dirty="0"/>
              <a:t>Resume</a:t>
            </a:r>
          </a:p>
          <a:p>
            <a:pPr algn="r"/>
            <a:r>
              <a:rPr lang="en-US" sz="2000" b="1" dirty="0"/>
              <a:t>Suspend</a:t>
            </a:r>
          </a:p>
          <a:p>
            <a:pPr algn="r"/>
            <a:r>
              <a:rPr lang="en-US" sz="2000" b="1" dirty="0"/>
              <a:t>Terminate</a:t>
            </a:r>
          </a:p>
          <a:p>
            <a:pPr algn="r"/>
            <a:endParaRPr lang="en-US" sz="2000" b="1" dirty="0"/>
          </a:p>
          <a:p>
            <a:pPr algn="r"/>
            <a:r>
              <a:rPr lang="en-US" sz="2000" b="1" dirty="0"/>
              <a:t>Step Into</a:t>
            </a:r>
          </a:p>
          <a:p>
            <a:pPr algn="r"/>
            <a:r>
              <a:rPr lang="en-US" sz="2000" b="1" dirty="0"/>
              <a:t>Step Over</a:t>
            </a:r>
          </a:p>
          <a:p>
            <a:pPr algn="r"/>
            <a:r>
              <a:rPr lang="en-US" sz="2000" b="1" dirty="0"/>
              <a:t>Step Return</a:t>
            </a:r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 flipV="1">
            <a:off x="4521201" y="3073143"/>
            <a:ext cx="1235075" cy="1235075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8"/>
          <p:cNvSpPr>
            <a:spLocks noChangeShapeType="1"/>
          </p:cNvSpPr>
          <p:nvPr/>
        </p:nvSpPr>
        <p:spPr bwMode="auto">
          <a:xfrm>
            <a:off x="3962401" y="4305042"/>
            <a:ext cx="57467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>
            <a:off x="3971925" y="4581267"/>
            <a:ext cx="576072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>
            <a:off x="3971925" y="4895592"/>
            <a:ext cx="54864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2"/>
          <p:cNvSpPr>
            <a:spLocks noChangeShapeType="1"/>
          </p:cNvSpPr>
          <p:nvPr/>
        </p:nvSpPr>
        <p:spPr bwMode="auto">
          <a:xfrm flipV="1">
            <a:off x="4537076" y="3057268"/>
            <a:ext cx="1520825" cy="1520825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13"/>
          <p:cNvSpPr>
            <a:spLocks noChangeShapeType="1"/>
          </p:cNvSpPr>
          <p:nvPr/>
        </p:nvSpPr>
        <p:spPr bwMode="auto">
          <a:xfrm flipV="1">
            <a:off x="4521200" y="3057267"/>
            <a:ext cx="1847850" cy="18478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15"/>
          <p:cNvSpPr>
            <a:spLocks noChangeShapeType="1"/>
          </p:cNvSpPr>
          <p:nvPr/>
        </p:nvSpPr>
        <p:spPr bwMode="auto">
          <a:xfrm>
            <a:off x="3962400" y="5508367"/>
            <a:ext cx="749808" cy="0"/>
          </a:xfrm>
          <a:prstGeom prst="line">
            <a:avLst/>
          </a:prstGeom>
          <a:noFill/>
          <a:ln w="50800">
            <a:solidFill>
              <a:srgbClr val="4F8A1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16"/>
          <p:cNvSpPr>
            <a:spLocks noChangeShapeType="1"/>
          </p:cNvSpPr>
          <p:nvPr/>
        </p:nvSpPr>
        <p:spPr bwMode="auto">
          <a:xfrm>
            <a:off x="3962400" y="5813167"/>
            <a:ext cx="822960" cy="0"/>
          </a:xfrm>
          <a:prstGeom prst="line">
            <a:avLst/>
          </a:prstGeom>
          <a:noFill/>
          <a:ln w="50800">
            <a:solidFill>
              <a:srgbClr val="4F8A1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17"/>
          <p:cNvSpPr>
            <a:spLocks noChangeShapeType="1"/>
          </p:cNvSpPr>
          <p:nvPr/>
        </p:nvSpPr>
        <p:spPr bwMode="auto">
          <a:xfrm>
            <a:off x="3962400" y="6111617"/>
            <a:ext cx="841248" cy="0"/>
          </a:xfrm>
          <a:prstGeom prst="line">
            <a:avLst/>
          </a:prstGeom>
          <a:noFill/>
          <a:ln w="50800">
            <a:solidFill>
              <a:srgbClr val="4F8A1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18"/>
          <p:cNvSpPr>
            <a:spLocks noChangeShapeType="1"/>
          </p:cNvSpPr>
          <p:nvPr/>
        </p:nvSpPr>
        <p:spPr bwMode="auto">
          <a:xfrm flipV="1">
            <a:off x="4714875" y="3063617"/>
            <a:ext cx="2441575" cy="2457450"/>
          </a:xfrm>
          <a:prstGeom prst="line">
            <a:avLst/>
          </a:prstGeom>
          <a:noFill/>
          <a:ln w="50800">
            <a:solidFill>
              <a:srgbClr val="4F8A1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19"/>
          <p:cNvSpPr>
            <a:spLocks noChangeShapeType="1"/>
          </p:cNvSpPr>
          <p:nvPr/>
        </p:nvSpPr>
        <p:spPr bwMode="auto">
          <a:xfrm flipV="1">
            <a:off x="4772026" y="3060442"/>
            <a:ext cx="2727325" cy="2746375"/>
          </a:xfrm>
          <a:prstGeom prst="line">
            <a:avLst/>
          </a:prstGeom>
          <a:noFill/>
          <a:ln w="50800">
            <a:solidFill>
              <a:srgbClr val="4F8A1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V="1">
            <a:off x="4800600" y="3063617"/>
            <a:ext cx="3067050" cy="3048000"/>
          </a:xfrm>
          <a:prstGeom prst="line">
            <a:avLst/>
          </a:prstGeom>
          <a:noFill/>
          <a:ln w="50800">
            <a:solidFill>
              <a:srgbClr val="4F8A1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67024" y="1434842"/>
            <a:ext cx="7191376" cy="165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4763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Generated Files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Important Files</a:t>
            </a:r>
          </a:p>
          <a:p>
            <a:pPr lvl="1" eaLnBrk="1" hangingPunct="1"/>
            <a:r>
              <a:rPr lang="en-US" dirty="0" smtClean="0"/>
              <a:t>Quartus Project File (*.QPF)</a:t>
            </a:r>
          </a:p>
          <a:p>
            <a:pPr lvl="2" eaLnBrk="1" hangingPunct="1"/>
            <a:r>
              <a:rPr lang="en-US" dirty="0" smtClean="0"/>
              <a:t>Text file that contains basic information about the current version of the Quartus II software and the date</a:t>
            </a:r>
          </a:p>
          <a:p>
            <a:pPr lvl="2" eaLnBrk="1" hangingPunct="1"/>
            <a:r>
              <a:rPr lang="en-US" dirty="0" smtClean="0"/>
              <a:t>It also lists all of the revisions created for the project</a:t>
            </a:r>
          </a:p>
          <a:p>
            <a:pPr lvl="1" eaLnBrk="1" hangingPunct="1"/>
            <a:r>
              <a:rPr lang="en-US" sz="2200" dirty="0"/>
              <a:t>Quartus Settings File (*.QSF)</a:t>
            </a:r>
          </a:p>
          <a:p>
            <a:pPr lvl="2" eaLnBrk="1" hangingPunct="1"/>
            <a:r>
              <a:rPr lang="en-US" sz="1800" dirty="0"/>
              <a:t>Text File that contains all of the project-wide and entity-level assignments and settings for the current revision of the project.</a:t>
            </a:r>
          </a:p>
          <a:p>
            <a:pPr lvl="1" eaLnBrk="1" hangingPunct="1"/>
            <a:r>
              <a:rPr lang="en-US" dirty="0" smtClean="0"/>
              <a:t>Quartus System File (*.QSYS)</a:t>
            </a:r>
          </a:p>
          <a:p>
            <a:pPr lvl="2" eaLnBrk="1" hangingPunct="1"/>
            <a:r>
              <a:rPr lang="en-US" dirty="0" smtClean="0"/>
              <a:t>Text file that records system designed in Platform Designer application</a:t>
            </a:r>
          </a:p>
          <a:p>
            <a:pPr lvl="2" eaLnBrk="1" hangingPunct="1"/>
            <a:r>
              <a:rPr lang="en-US" dirty="0" smtClean="0"/>
              <a:t>Contains project name, module names, interface connection, parameters for system</a:t>
            </a:r>
          </a:p>
        </p:txBody>
      </p:sp>
    </p:spTree>
    <p:extLst>
      <p:ext uri="{BB962C8B-B14F-4D97-AF65-F5344CB8AC3E}">
        <p14:creationId xmlns:p14="http://schemas.microsoft.com/office/powerpoint/2010/main" val="70091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Generated Files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Important Files</a:t>
            </a:r>
          </a:p>
          <a:p>
            <a:pPr lvl="1" eaLnBrk="1" hangingPunct="1"/>
            <a:r>
              <a:rPr lang="en-US" dirty="0" smtClean="0"/>
              <a:t>Quartus IP File (*.QIP)</a:t>
            </a:r>
          </a:p>
          <a:p>
            <a:pPr lvl="2" eaLnBrk="1" hangingPunct="1"/>
            <a:r>
              <a:rPr lang="en-US" dirty="0" smtClean="0"/>
              <a:t>Text File that contains path to all the files for IP cores</a:t>
            </a:r>
          </a:p>
          <a:p>
            <a:pPr lvl="2" eaLnBrk="1" hangingPunct="1"/>
            <a:r>
              <a:rPr lang="en-US" dirty="0" smtClean="0"/>
              <a:t>Allows you to add required files to Quartus project by adding this  file to Quartus instead of adding them individually to Quartus</a:t>
            </a:r>
          </a:p>
          <a:p>
            <a:pPr lvl="2" eaLnBrk="1" hangingPunct="1"/>
            <a:r>
              <a:rPr lang="en-US" dirty="0" smtClean="0"/>
              <a:t>Regenerated when PD design is generated</a:t>
            </a:r>
          </a:p>
          <a:p>
            <a:pPr lvl="2" eaLnBrk="1" hangingPunct="1"/>
            <a:r>
              <a:rPr lang="en-US" dirty="0" smtClean="0"/>
              <a:t>Added automatically to project when PD opened within new project</a:t>
            </a:r>
          </a:p>
          <a:p>
            <a:pPr lvl="1" eaLnBrk="1" hangingPunct="1"/>
            <a:r>
              <a:rPr lang="en-US" dirty="0" smtClean="0"/>
              <a:t>Executable and Linkable Format 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elf </a:t>
            </a:r>
            <a:r>
              <a:rPr lang="en-US" dirty="0" smtClean="0"/>
              <a:t>file )</a:t>
            </a:r>
          </a:p>
          <a:p>
            <a:pPr lvl="2" eaLnBrk="1" hangingPunct="1"/>
            <a:r>
              <a:rPr lang="en-US" i="1" dirty="0" smtClean="0">
                <a:solidFill>
                  <a:schemeClr val="tx2"/>
                </a:solidFill>
              </a:rPr>
              <a:t>Located in Application Project Folder</a:t>
            </a:r>
          </a:p>
          <a:p>
            <a:pPr lvl="2"/>
            <a:r>
              <a:rPr lang="en-US" dirty="0" smtClean="0"/>
              <a:t>Executable and linkable format, compiled output code for download</a:t>
            </a:r>
          </a:p>
          <a:p>
            <a:pPr lvl="1" eaLnBrk="1" hangingPunct="1"/>
            <a:r>
              <a:rPr lang="en-US" dirty="0" smtClean="0"/>
              <a:t>System description header file: </a:t>
            </a:r>
            <a:r>
              <a:rPr lang="en-US" dirty="0" err="1" smtClean="0"/>
              <a:t>System.h</a:t>
            </a:r>
            <a:endParaRPr lang="en-US" dirty="0" smtClean="0"/>
          </a:p>
          <a:p>
            <a:pPr lvl="2" eaLnBrk="1" hangingPunct="1"/>
            <a:r>
              <a:rPr lang="en-US" dirty="0" smtClean="0"/>
              <a:t>Generated with BSP (located in BSP folder)</a:t>
            </a:r>
          </a:p>
          <a:p>
            <a:pPr lvl="2" eaLnBrk="1" hangingPunct="1"/>
            <a:r>
              <a:rPr lang="en-US" dirty="0" smtClean="0"/>
              <a:t>Contains memory map of peripherals and symbolic names</a:t>
            </a:r>
          </a:p>
          <a:p>
            <a:pPr lvl="1"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9613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Software Projects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Nios II Software Project Types</a:t>
            </a:r>
          </a:p>
          <a:p>
            <a:pPr lvl="1" eaLnBrk="1" hangingPunct="1"/>
            <a:r>
              <a:rPr lang="en-US" dirty="0" smtClean="0"/>
              <a:t>BSP</a:t>
            </a:r>
          </a:p>
          <a:p>
            <a:pPr lvl="2" eaLnBrk="1" hangingPunct="1"/>
            <a:r>
              <a:rPr lang="en-US" dirty="0" smtClean="0"/>
              <a:t>Specialized library containing system-specific support code</a:t>
            </a:r>
          </a:p>
          <a:p>
            <a:pPr lvl="2" eaLnBrk="1" hangingPunct="1"/>
            <a:r>
              <a:rPr lang="en-US" dirty="0" smtClean="0"/>
              <a:t>Provides software runtime environment customized for processor in Nios II hardware system</a:t>
            </a:r>
          </a:p>
          <a:p>
            <a:pPr lvl="2" eaLnBrk="1" hangingPunct="1"/>
            <a:r>
              <a:rPr lang="en-US" dirty="0" smtClean="0"/>
              <a:t>Contains HAL and device drivers</a:t>
            </a:r>
          </a:p>
          <a:p>
            <a:pPr lvl="3" eaLnBrk="1" hangingPunct="1"/>
            <a:r>
              <a:rPr lang="en-US" dirty="0" smtClean="0"/>
              <a:t>HAL provide abstraction away from hardware to make software coding easier</a:t>
            </a:r>
          </a:p>
          <a:p>
            <a:pPr lvl="1" eaLnBrk="1" hangingPunct="1"/>
            <a:r>
              <a:rPr lang="en-US" dirty="0" smtClean="0"/>
              <a:t>Application Project</a:t>
            </a:r>
          </a:p>
          <a:p>
            <a:pPr lvl="2" eaLnBrk="1" hangingPunct="1"/>
            <a:r>
              <a:rPr lang="en-US" dirty="0" smtClean="0"/>
              <a:t>Contains user code</a:t>
            </a:r>
          </a:p>
          <a:p>
            <a:pPr lvl="2" eaLnBrk="1" hangingPunct="1"/>
            <a:r>
              <a:rPr lang="en-US" dirty="0" smtClean="0"/>
              <a:t>Also consists of a collection of source code and </a:t>
            </a:r>
            <a:r>
              <a:rPr lang="en-US" dirty="0" err="1" smtClean="0"/>
              <a:t>makefile</a:t>
            </a:r>
            <a:endParaRPr lang="en-US" dirty="0" smtClean="0"/>
          </a:p>
          <a:p>
            <a:pPr lvl="2" eaLnBrk="1" hangingPunct="1"/>
            <a:r>
              <a:rPr lang="en-US" dirty="0" smtClean="0"/>
              <a:t>Used to create executable to run on Nios II processor</a:t>
            </a:r>
          </a:p>
        </p:txBody>
      </p:sp>
    </p:spTree>
    <p:extLst>
      <p:ext uri="{BB962C8B-B14F-4D97-AF65-F5344CB8AC3E}">
        <p14:creationId xmlns:p14="http://schemas.microsoft.com/office/powerpoint/2010/main" val="275082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SignalTap</a:t>
            </a:r>
            <a:r>
              <a:rPr lang="en-US" dirty="0" smtClean="0"/>
              <a:t> II Logic Analyzer</a:t>
            </a:r>
          </a:p>
          <a:p>
            <a:pPr lvl="1"/>
            <a:r>
              <a:rPr lang="en-US" dirty="0" smtClean="0"/>
              <a:t>Embedded Logic Analyzer internal to FPGA</a:t>
            </a:r>
          </a:p>
          <a:p>
            <a:pPr lvl="1"/>
            <a:r>
              <a:rPr lang="en-US" dirty="0" smtClean="0"/>
              <a:t>Allows you to capture signal in your design</a:t>
            </a:r>
          </a:p>
          <a:p>
            <a:pPr lvl="2"/>
            <a:r>
              <a:rPr lang="en-US" dirty="0" smtClean="0"/>
              <a:t>Capture at full system speed</a:t>
            </a:r>
          </a:p>
          <a:p>
            <a:pPr lvl="1"/>
            <a:r>
              <a:rPr lang="en-US" dirty="0" smtClean="0"/>
              <a:t>Uses memory resources to store samples</a:t>
            </a:r>
          </a:p>
          <a:p>
            <a:pPr lvl="1"/>
            <a:r>
              <a:rPr lang="en-US" dirty="0" smtClean="0"/>
              <a:t>Can be used with </a:t>
            </a:r>
            <a:r>
              <a:rPr lang="en-US" dirty="0"/>
              <a:t>Nios II </a:t>
            </a:r>
            <a:r>
              <a:rPr lang="en-US" dirty="0" smtClean="0"/>
              <a:t>Eclipse</a:t>
            </a:r>
          </a:p>
          <a:p>
            <a:r>
              <a:rPr lang="en-US" dirty="0" err="1" smtClean="0"/>
              <a:t>SignalProbe</a:t>
            </a:r>
            <a:endParaRPr lang="en-US" dirty="0" smtClean="0"/>
          </a:p>
          <a:p>
            <a:pPr lvl="1"/>
            <a:r>
              <a:rPr lang="en-US" dirty="0" smtClean="0"/>
              <a:t>Routes signals under debug out to spare/reserved pins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3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IT" id="{97C221C2-C4D1-4045-949D-729FDFABAAE9}" vid="{D6F8B45F-E2E7-43CA-9B29-0AE1C6552E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RIT</Template>
  <TotalTime>34</TotalTime>
  <Words>613</Words>
  <Application>Microsoft Office PowerPoint</Application>
  <PresentationFormat>Widescreen</PresentationFormat>
  <Paragraphs>118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Courier New</vt:lpstr>
      <vt:lpstr>Georgia</vt:lpstr>
      <vt:lpstr>RIT</vt:lpstr>
      <vt:lpstr>Visio</vt:lpstr>
      <vt:lpstr>Altera (Intel) Embedded Design Environment</vt:lpstr>
      <vt:lpstr>HW and SW design</vt:lpstr>
      <vt:lpstr>HW and SW Design</vt:lpstr>
      <vt:lpstr>QSYS/Platform Designer(PD) System Builder</vt:lpstr>
      <vt:lpstr>Platform Designer</vt:lpstr>
      <vt:lpstr>Platform Designer</vt:lpstr>
      <vt:lpstr>SW Environment</vt:lpstr>
      <vt:lpstr>Software Build Tools</vt:lpstr>
      <vt:lpstr>Software Build Tools</vt:lpstr>
      <vt:lpstr>Software Build Tools</vt:lpstr>
      <vt:lpstr>Debug Perspective</vt:lpstr>
      <vt:lpstr>Generated Files</vt:lpstr>
      <vt:lpstr>Generated Files</vt:lpstr>
      <vt:lpstr>Software Projects</vt:lpstr>
      <vt:lpstr>Other Tools</vt:lpstr>
    </vt:vector>
  </TitlesOfParts>
  <Company>Rochester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Altera (Intel) Embedded Design Environment</dc:title>
  <dc:creator>jeanne christman</dc:creator>
  <cp:lastModifiedBy>Holly Dickens</cp:lastModifiedBy>
  <cp:revision>6</cp:revision>
  <dcterms:created xsi:type="dcterms:W3CDTF">2018-08-21T15:27:26Z</dcterms:created>
  <dcterms:modified xsi:type="dcterms:W3CDTF">2022-01-12T13:44:48Z</dcterms:modified>
</cp:coreProperties>
</file>